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8a0f20d2_1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f8a0f20d2_1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4f8a0f20d2_1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f8a0f20d2_2_1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4f8a0f20d2_2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4f8a0f20d2_2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f8a0f20d2_2_1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4f8a0f20d2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4f8a0f20d2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f8a0f20d2_1_1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4f8a0f20d2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4f8a0f20d2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f8a0f20d2_1_3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4f8a0f20d2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4f8a0f20d2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f8a0f20d2_1_4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4f8a0f20d2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4f8a0f20d2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f8a0f20d2_1_59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4f8a0f20d2_1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4f8a0f20d2_1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e8bc5ef1c_5_5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6" name="Google Shape;266;g34e8bc5ef1c_5_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e8bc5ef1c_5_15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7" name="Google Shape;277;g34e8bc5ef1c_5_1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e8bc5ef1c_5_26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g34e8bc5ef1c_5_2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f8a0f20d2_3_0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9" name="Google Shape;299;g34f8a0f20d2_3_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e8bc5ef1c_5_37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4e8bc5ef1c_5_37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1" name="Google Shape;311;g34e8bc5ef1c_5_37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e8bc5ef1c_5_51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4e8bc5ef1c_5_51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5" name="Google Shape;325;g34e8bc5ef1c_5_51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4e8bc5ef1c_5_6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4e8bc5ef1c_5_66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9" name="Google Shape;339;g34e8bc5ef1c_5_66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e8bc5ef1c_5_81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4e8bc5ef1c_5_81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3" name="Google Shape;353;g34e8bc5ef1c_5_81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4e8bc5ef1c_5_9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4e8bc5ef1c_5_96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7" name="Google Shape;367;g34e8bc5ef1c_5_96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4e8bc5ef1c_5_114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4e8bc5ef1c_5_114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3" name="Google Shape;383;g34e8bc5ef1c_5_114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4e8bc5ef1c_5_129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4e8bc5ef1c_5_129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9" name="Google Shape;399;g34e8bc5ef1c_5_129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4e8bc5ef1c_5_14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4e8bc5ef1c_5_146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3" name="Google Shape;413;g34e8bc5ef1c_5_146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:notes"/>
          <p:cNvSpPr txBox="1"/>
          <p:nvPr>
            <p:ph idx="1" type="body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6" name="Google Shape;426;p8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9:notes"/>
          <p:cNvSpPr txBox="1"/>
          <p:nvPr>
            <p:ph idx="1" type="body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8" name="Google Shape;438;p9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e8bc5ef1c_4_0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1" name="Google Shape;451;g34e8bc5ef1c_4_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4e8bc5ef1c_4_10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3" name="Google Shape;463;g34e8bc5ef1c_4_1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:notes"/>
          <p:cNvSpPr txBox="1"/>
          <p:nvPr>
            <p:ph idx="1" type="body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5" name="Google Shape;475;p10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4e8bc5ef1c_3_39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1" name="Google Shape;491;g34e8bc5ef1c_3_39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1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2" name="Google Shape;502;p11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4e8bc5ef1c_0_3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8" name="Google Shape;518;g34e8bc5ef1c_0_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4e8bc5ef1c_0_16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9" name="Google Shape;529;g34e8bc5ef1c_0_1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4e8bc5ef1c_3_0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42" name="Google Shape;542;g34e8bc5ef1c_3_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4e8bc5ef1c_3_14:notes"/>
          <p:cNvSpPr txBox="1"/>
          <p:nvPr>
            <p:ph idx="1" type="body"/>
          </p:nvPr>
        </p:nvSpPr>
        <p:spPr>
          <a:xfrm>
            <a:off x="701848" y="4416426"/>
            <a:ext cx="56082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55" name="Google Shape;555;g34e8bc5ef1c_3_14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4e8bc5ef1c_4_2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4e8bc5ef1c_4_25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70" name="Google Shape;570;g34e8bc5ef1c_4_25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4f8a0f20d2_1_77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g34f8a0f20d2_1_77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83" name="Google Shape;583;g34f8a0f20d2_1_77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4f8ca434f3_1_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4f8ca434f3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g34f8ca434f3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9.jpg"/><Relationship Id="rId6" Type="http://schemas.openxmlformats.org/officeDocument/2006/relationships/image" Target="../media/image23.jpg"/><Relationship Id="rId7" Type="http://schemas.openxmlformats.org/officeDocument/2006/relationships/image" Target="../media/image1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arxiv.org/abs/2310.06825" TargetMode="External"/><Relationship Id="rId4" Type="http://schemas.openxmlformats.org/officeDocument/2006/relationships/hyperlink" Target="https://arxiv.org/abs/2310.06825" TargetMode="External"/><Relationship Id="rId11" Type="http://schemas.openxmlformats.org/officeDocument/2006/relationships/image" Target="../media/image5.png"/><Relationship Id="rId10" Type="http://schemas.openxmlformats.org/officeDocument/2006/relationships/hyperlink" Target="https://arxiv.org/html/2504.14738v1?utm_source=chatgpt.com" TargetMode="External"/><Relationship Id="rId9" Type="http://schemas.openxmlformats.org/officeDocument/2006/relationships/hyperlink" Target="https://arxiv.org/abs/2402.07927" TargetMode="External"/><Relationship Id="rId5" Type="http://schemas.openxmlformats.org/officeDocument/2006/relationships/hyperlink" Target="https://arxiv.org/abs/2112.10752" TargetMode="External"/><Relationship Id="rId6" Type="http://schemas.openxmlformats.org/officeDocument/2006/relationships/hyperlink" Target="https://arxiv.org/abs/2112.10752" TargetMode="External"/><Relationship Id="rId7" Type="http://schemas.openxmlformats.org/officeDocument/2006/relationships/hyperlink" Target="https://scholar.google.com/citations?hl=en&amp;user=vud0t5YAAAAJ&amp;utm_source=chatgpt.com" TargetMode="External"/><Relationship Id="rId8" Type="http://schemas.openxmlformats.org/officeDocument/2006/relationships/hyperlink" Target="https://arxiv.org/abs/2402.07927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arxiv.org/abs/1506.02640" TargetMode="External"/><Relationship Id="rId4" Type="http://schemas.openxmlformats.org/officeDocument/2006/relationships/hyperlink" Target="https://arxiv.org/abs/1506.02640" TargetMode="External"/><Relationship Id="rId11" Type="http://schemas.openxmlformats.org/officeDocument/2006/relationships/image" Target="../media/image5.png"/><Relationship Id="rId10" Type="http://schemas.openxmlformats.org/officeDocument/2006/relationships/hyperlink" Target="https://arxiv.org/abs/2402.03501" TargetMode="External"/><Relationship Id="rId9" Type="http://schemas.openxmlformats.org/officeDocument/2006/relationships/hyperlink" Target="https://arxiv.org/abs/2402.03501" TargetMode="External"/><Relationship Id="rId5" Type="http://schemas.openxmlformats.org/officeDocument/2006/relationships/hyperlink" Target="https://arxiv.org/abs/2211.15462" TargetMode="External"/><Relationship Id="rId6" Type="http://schemas.openxmlformats.org/officeDocument/2006/relationships/hyperlink" Target="https://arxiv.org/abs/2211.15462" TargetMode="External"/><Relationship Id="rId7" Type="http://schemas.openxmlformats.org/officeDocument/2006/relationships/hyperlink" Target="https://arxiv.org/abs/2305.01257" TargetMode="External"/><Relationship Id="rId8" Type="http://schemas.openxmlformats.org/officeDocument/2006/relationships/hyperlink" Target="https://arxiv.org/abs/2305.01257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2388000" y="990600"/>
            <a:ext cx="7924800" cy="23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UE22CS320B</a:t>
            </a: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Capstone Project Phase – 2</a:t>
            </a:r>
            <a:endParaRPr b="0" i="0" sz="2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SEMESTER - VI </a:t>
            </a:r>
            <a:endParaRPr b="0" i="0" sz="28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t/>
            </a:r>
            <a:endParaRPr b="0" i="0" sz="28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END SEMESTER ASSESSMENT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28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768300" y="3845788"/>
            <a:ext cx="114237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Generative AI in marketing </a:t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PW25_SSS_06</a:t>
            </a: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Dr. Shylaja S.S</a:t>
            </a: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</a:t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Sris</a:t>
            </a: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hti Mathur,Hrishita Patra,Dhruva R Prasad,Suhani Verma</a:t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t/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Srishti Mathur_Hrishita Patra_Dhruva R Prasad_Suhani Verma</a:t>
            </a:r>
            <a:endParaRPr/>
          </a:p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2800" y="87200"/>
            <a:ext cx="1615413" cy="74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 flipH="1" rot="10800000">
            <a:off x="2397760" y="1682981"/>
            <a:ext cx="827024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880025" y="1728700"/>
            <a:ext cx="93057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scope.</a:t>
            </a:r>
            <a:endParaRPr b="0" i="0" sz="15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phase-2 review 2</a:t>
            </a:r>
            <a:endParaRPr b="0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Enhanced Literature Survey(if any)</a:t>
            </a:r>
            <a:endParaRPr b="0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Approach.</a:t>
            </a:r>
            <a:endParaRPr b="0" i="0" sz="15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and Dependencies</a:t>
            </a:r>
            <a:endParaRPr b="0" i="0" sz="15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methodology/Approach</a:t>
            </a:r>
            <a:endParaRPr b="0" i="0" sz="15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Datasets exploration and Preprocessing</a:t>
            </a:r>
            <a:endParaRPr b="0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Trebuchet M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Base Model Implementation</a:t>
            </a:r>
            <a:endParaRPr b="0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Plan for Phase 3 and Phase 4</a:t>
            </a:r>
            <a:endParaRPr b="0" i="0" sz="21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b="0" i="0" sz="15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Any other Inform</a:t>
            </a:r>
            <a:r>
              <a:rPr b="0" i="0" lang="en-US" sz="23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ation</a:t>
            </a:r>
            <a:endParaRPr b="0" i="0" sz="17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038601" y="785888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>
            <p:ph idx="11" type="ftr"/>
          </p:nvPr>
        </p:nvSpPr>
        <p:spPr>
          <a:xfrm>
            <a:off x="3506085" y="5480070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25" name="Google Shape;125;p15"/>
          <p:cNvSpPr txBox="1"/>
          <p:nvPr>
            <p:ph idx="12" type="sldNum"/>
          </p:nvPr>
        </p:nvSpPr>
        <p:spPr>
          <a:xfrm>
            <a:off x="9900458" y="654687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1" y="15019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8650" y="47245"/>
            <a:ext cx="1883360" cy="862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3048000" y="1143002"/>
            <a:ext cx="762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025" y="1763575"/>
            <a:ext cx="6482876" cy="45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760675" y="2050925"/>
            <a:ext cx="4185300" cy="3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Highlights the </a:t>
            </a: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rapid expansion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of the global generative AI market, a </a:t>
            </a: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14x increase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 just a decade.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Generative AI is </a:t>
            </a: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 just a trend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—it’s becoming a </a:t>
            </a: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technology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with trillion-dollar potential.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Companies investing early will gain a </a:t>
            </a: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competitive edge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 efficiency, creativity, and automation.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2068275" y="1709050"/>
            <a:ext cx="8077200" cy="45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our project aims to do:-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3048000" y="1143002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2608375" y="2262675"/>
            <a:ext cx="7051500" cy="83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inputs product metadata and metadata through the </a:t>
            </a:r>
            <a:r>
              <a:rPr b="1"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</a:t>
            </a: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2608375" y="3267125"/>
            <a:ext cx="7051500" cy="127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r>
              <a:rPr lang="en-US" sz="200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involves masking the product image via thresholding and background removal, then resizing it.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573375" y="4753700"/>
            <a:ext cx="7051500" cy="150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Prompt generation</a:t>
            </a:r>
            <a:r>
              <a:rPr lang="en-US" sz="200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uses product metadata (e.g., color, category) to create a text description for Stable Diffusion, ensuring the background is abstract and product-appropriate. 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2068325" y="1933150"/>
            <a:ext cx="8196900" cy="369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our project aims to do:-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3048000" y="1143002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2474075" y="2639050"/>
            <a:ext cx="738540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785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40404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200">
                <a:solidFill>
                  <a:srgbClr val="40404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final output </a:t>
            </a:r>
            <a:r>
              <a:rPr lang="en-US" sz="2200">
                <a:solidFill>
                  <a:srgbClr val="40404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composites the product onto the AI-generated background using object detection and placement optimization to avoid overlaps and enhance visual appeal.</a:t>
            </a:r>
            <a:endParaRPr sz="2200">
              <a:solidFill>
                <a:srgbClr val="40404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2068275" y="1709051"/>
            <a:ext cx="7909500" cy="4323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Gen-AI Marketing Project aims to integrate artificial intelligence (AI) and machine learning (ML) into key marketing operations such as:-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3048000" y="1143002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6974" y="3282125"/>
            <a:ext cx="31421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5275" y="3201537"/>
            <a:ext cx="3675174" cy="25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068276" y="1709051"/>
            <a:ext cx="7620000" cy="4099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048000" y="1143002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4625" y="2839138"/>
            <a:ext cx="4133850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6600" y="2586626"/>
            <a:ext cx="2936625" cy="29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068275" y="1709050"/>
            <a:ext cx="8077200" cy="44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Scope :- 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048000" y="1143002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2168825" y="2389550"/>
            <a:ext cx="7420800" cy="158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Cost Savings: The project can lead to significant cost savings by automating content creation, SEO, and marketing segmentation tasks, which can otherwise consume a large portion of the marketing budget.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168825" y="4138250"/>
            <a:ext cx="7420800" cy="18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Return on Investment (ROI): According to Deloitte reports, 82% of early AI adopters have gained financial returns from AI investments, highlighting its financial viability.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203825" y="1709050"/>
            <a:ext cx="7941600" cy="44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3048000" y="1143002"/>
            <a:ext cx="76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226" y="119750"/>
            <a:ext cx="1829537" cy="83820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2449000" y="2019450"/>
            <a:ext cx="7555800" cy="10491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Metadata-Driven Customization: Adapts backgrounds based on product details (color, gender, season, etc.).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2449000" y="3289723"/>
            <a:ext cx="7555800" cy="137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Avoidance of Clutter: Uses YOLO v5 to detect and avoid overlapping objects (e.g., people, animals) in the background.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2448975" y="4982300"/>
            <a:ext cx="7555800" cy="116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Shadow &amp; Lighting Effects: Adds realistic shadows to the product for seamless blending.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1211250" y="2319450"/>
            <a:ext cx="868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9144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rebuchet MS"/>
              <a:buChar char="●"/>
            </a:pPr>
            <a:r>
              <a:rPr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Work on prompt engineering to automate prompt generation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8300" lvl="0" marL="9144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rebuchet MS"/>
              <a:buChar char="●"/>
            </a:pPr>
            <a:r>
              <a:rPr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Explore on dynamic placement </a:t>
            </a:r>
            <a:r>
              <a:rPr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strategies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Phase 2- review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9475" y="115443"/>
            <a:ext cx="1891900" cy="86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/>
          <p:nvPr/>
        </p:nvSpPr>
        <p:spPr>
          <a:xfrm>
            <a:off x="2438400" y="1572031"/>
            <a:ext cx="82296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3686184" y="1143000"/>
            <a:ext cx="6981815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2041000" y="1757100"/>
            <a:ext cx="8779500" cy="42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6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0801" y="152400"/>
            <a:ext cx="1829533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>
            <a:off x="2464750" y="2392200"/>
            <a:ext cx="7932000" cy="100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Separation of Concerns: The system is divided into clearly defined components—frontend, backend/API gateway, image preprocessor, LLM prompt generator, image generation engine, and output renderer. Each handles a specific task.</a:t>
            </a:r>
            <a:br>
              <a:rPr lang="en-US" sz="1300">
                <a:solidFill>
                  <a:schemeClr val="dk1"/>
                </a:solidFill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2464750" y="3628450"/>
            <a:ext cx="7932000" cy="65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>
                <a:solidFill>
                  <a:schemeClr val="dk1"/>
                </a:solidFill>
              </a:rPr>
              <a:t>Multi-Modal AI Integration: Combines LLM (Mistral-7B-Instruct) for text generation and a diffusion model (Stable Diffusion) for image generation.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2464750" y="4515200"/>
            <a:ext cx="7932000" cy="5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Cloud &amp; GPU Utilization: Leverages cloud-hosted GPU ( P100) for efficient image generation.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2464750" y="5292450"/>
            <a:ext cx="7932000" cy="65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Collaborative Loop: Allows marketer input (upload, tweak) while maintaining automation in the core pipeline.</a:t>
            </a:r>
            <a:br>
              <a:rPr lang="en-US" sz="1300">
                <a:solidFill>
                  <a:schemeClr val="dk1"/>
                </a:solidFill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/>
          <p:nvPr/>
        </p:nvSpPr>
        <p:spPr>
          <a:xfrm>
            <a:off x="1872343" y="1581149"/>
            <a:ext cx="8795657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3418114" y="1143000"/>
            <a:ext cx="7249886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1008850" y="1863850"/>
            <a:ext cx="10738800" cy="44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17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b="1" lang="en-US" sz="1700">
                <a:solidFill>
                  <a:schemeClr val="dk1"/>
                </a:solidFill>
              </a:rPr>
              <a:t>Constraints :</a:t>
            </a:r>
            <a:endParaRPr b="1"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Computational Resources (GPU Constraints)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Generative models need GPU acceleration. Requires deployment on GPU-enabled environments; cost may limit scale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Image Size and Resolution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Input images are low-res (60x80 px). Limits output quality; may need upscaling post-processing.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Model Size and Memory Requirements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 Mistral-7B is memory-heavy. Backend must manage memory efficiently; may require smaller models.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17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17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17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17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2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15241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/>
          <p:nvPr/>
        </p:nvSpPr>
        <p:spPr>
          <a:xfrm>
            <a:off x="1872343" y="1581149"/>
            <a:ext cx="87957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3418114" y="1143000"/>
            <a:ext cx="7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1008850" y="1863850"/>
            <a:ext cx="9543600" cy="44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	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Response Expectation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expect quick generation. Needs async processing or task queues to reduce delays.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	Data Privacy and Security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comply with data laws (e.g., GDPR). Requires sanitization, encryption, and ethical data handling.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2" name="Google Shape;272;p2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15241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/>
          <p:nvPr/>
        </p:nvSpPr>
        <p:spPr>
          <a:xfrm>
            <a:off x="1872343" y="1581149"/>
            <a:ext cx="87957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3418114" y="1143000"/>
            <a:ext cx="7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1104750" y="937488"/>
            <a:ext cx="8795700" cy="50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Assumptions 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Will Provide Basic Descriptions or Metadata   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of Pretrained Models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Assumes access to pre-trained, publicly available Mistral and Stable Diffusion models for fast prototyping and cost-effective deployment.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Guidelines are Provided in Text Format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Assumes branding info (tone, colors, voice) is available and structured enough to be parsed by the system.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3" name="Google Shape;283;p2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15241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/>
          <p:nvPr/>
        </p:nvSpPr>
        <p:spPr>
          <a:xfrm>
            <a:off x="1872343" y="1581149"/>
            <a:ext cx="87957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418114" y="1143000"/>
            <a:ext cx="7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1008850" y="1863850"/>
            <a:ext cx="9543600" cy="44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dependencies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impact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Mistral-7B LLM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for prompt generation; high compute needs may require fallback models.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Diffusion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ad images; needs GPU and high-quality inputs for best results.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Handles image segmentation; accuracy impacts visual output quality.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2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15241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/>
          <p:nvPr/>
        </p:nvSpPr>
        <p:spPr>
          <a:xfrm>
            <a:off x="1872343" y="1581149"/>
            <a:ext cx="87957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3418114" y="1143000"/>
            <a:ext cx="7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1008850" y="1863850"/>
            <a:ext cx="9543600" cy="44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dependencies and impact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Frameworks (React/Vue)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Builds the UI; updates or deprecated libs can affect stability.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Engagement Analytics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Optimizes via feedback; must handle data volume and comply with privacy laws.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5" name="Google Shape;305;p2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15241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3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050" y="1768800"/>
            <a:ext cx="3829050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 txBox="1"/>
          <p:nvPr/>
        </p:nvSpPr>
        <p:spPr>
          <a:xfrm>
            <a:off x="1339575" y="1768800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Master Class 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0" name="Google Shape;330;p3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1" name="Google Shape;331;p3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 txBox="1"/>
          <p:nvPr/>
        </p:nvSpPr>
        <p:spPr>
          <a:xfrm>
            <a:off x="1339575" y="1768800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ER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575" y="2089525"/>
            <a:ext cx="3041850" cy="36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4" name="Google Shape;344;p3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5" name="Google Shape;345;p3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 txBox="1"/>
          <p:nvPr/>
        </p:nvSpPr>
        <p:spPr>
          <a:xfrm>
            <a:off x="1339575" y="1768800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Swimlane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425" y="2654625"/>
            <a:ext cx="623887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8" name="Google Shape;358;p3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9" name="Google Shape;359;p3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3"/>
          <p:cNvSpPr txBox="1"/>
          <p:nvPr/>
        </p:nvSpPr>
        <p:spPr>
          <a:xfrm>
            <a:off x="1339575" y="1768800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875" y="1754950"/>
            <a:ext cx="1771850" cy="45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" name="Google Shape;372;p3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3" name="Google Shape;373;p3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1339575" y="1768800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User Interface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163" y="1768800"/>
            <a:ext cx="50387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175" y="3624125"/>
            <a:ext cx="5895975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1405375" y="3999375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Report layout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p3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9" name="Google Shape;389;p3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5"/>
          <p:cNvSpPr txBox="1"/>
          <p:nvPr/>
        </p:nvSpPr>
        <p:spPr>
          <a:xfrm>
            <a:off x="1339575" y="1768800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User Interface 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163" y="1768800"/>
            <a:ext cx="50387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175" y="3624125"/>
            <a:ext cx="5895975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5"/>
          <p:cNvSpPr txBox="1"/>
          <p:nvPr/>
        </p:nvSpPr>
        <p:spPr>
          <a:xfrm>
            <a:off x="1405375" y="3999375"/>
            <a:ext cx="2628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Report layout 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3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6"/>
          <p:cNvSpPr txBox="1"/>
          <p:nvPr/>
        </p:nvSpPr>
        <p:spPr>
          <a:xfrm>
            <a:off x="1339575" y="1768800"/>
            <a:ext cx="3413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External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 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6500" y="1766950"/>
            <a:ext cx="297180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"/>
          <p:cNvSpPr/>
          <p:nvPr/>
        </p:nvSpPr>
        <p:spPr>
          <a:xfrm>
            <a:off x="2503714" y="1571945"/>
            <a:ext cx="8164200" cy="4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3799114" y="1143001"/>
            <a:ext cx="686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7"/>
          <p:cNvSpPr txBox="1"/>
          <p:nvPr/>
        </p:nvSpPr>
        <p:spPr>
          <a:xfrm>
            <a:off x="2029650" y="1617675"/>
            <a:ext cx="6868500" cy="4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" name="Google Shape;418;p3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9" name="Google Shape;419;p3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3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44" y="152389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7"/>
          <p:cNvSpPr txBox="1"/>
          <p:nvPr/>
        </p:nvSpPr>
        <p:spPr>
          <a:xfrm>
            <a:off x="935500" y="1711075"/>
            <a:ext cx="39618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Packaging and Deployment </a:t>
            </a: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975" y="1941950"/>
            <a:ext cx="32766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8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8"/>
          <p:cNvSpPr txBox="1"/>
          <p:nvPr/>
        </p:nvSpPr>
        <p:spPr>
          <a:xfrm>
            <a:off x="4604656" y="1143000"/>
            <a:ext cx="6063343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 txBox="1"/>
          <p:nvPr/>
        </p:nvSpPr>
        <p:spPr>
          <a:xfrm>
            <a:off x="2114900" y="1791525"/>
            <a:ext cx="9238800" cy="41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2" name="Google Shape;432;p3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7251" y="117975"/>
            <a:ext cx="1829533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650" y="2024362"/>
            <a:ext cx="6723789" cy="365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9"/>
          <p:cNvSpPr txBox="1"/>
          <p:nvPr/>
        </p:nvSpPr>
        <p:spPr>
          <a:xfrm>
            <a:off x="4191000" y="1143000"/>
            <a:ext cx="6476999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 txBox="1"/>
          <p:nvPr/>
        </p:nvSpPr>
        <p:spPr>
          <a:xfrm>
            <a:off x="76202" y="2546025"/>
            <a:ext cx="71382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Background Generation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Mistral 7B for prompt engineering based on product metadata (e.g., color, season).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descriptive prompts (e.g., “winter-themed soft blue background”).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Synthesized backgrounds using Stable Diffusion v1-5 (RunwayML).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980" lvl="0" marL="342900" rtl="0" algn="just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98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3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4" name="Google Shape;444;p3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39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5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078" y="1834172"/>
            <a:ext cx="2354674" cy="2479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99725" y="3932196"/>
            <a:ext cx="2354674" cy="2361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0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0"/>
          <p:cNvSpPr txBox="1"/>
          <p:nvPr/>
        </p:nvSpPr>
        <p:spPr>
          <a:xfrm>
            <a:off x="76199" y="2341888"/>
            <a:ext cx="95223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Dynamic Product Placement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Removal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Used rembg to extract product with transparency.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Detection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 v5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avoids placing product over people, animals, trees, etc.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Segmentation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Simulated sky/ground mapping to guide placement zones.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Scoring Algorithm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Considers brightness, texture, placement bias, and context fit.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Shadow Simulation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Added realistic shadows using PIL for depth and realism.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980" lvl="0" marL="3429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Arial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4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7" name="Google Shape;457;p4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" name="Google Shape;458;p40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5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1924" y="1814362"/>
            <a:ext cx="3225125" cy="322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1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1"/>
          <p:cNvSpPr txBox="1"/>
          <p:nvPr/>
        </p:nvSpPr>
        <p:spPr>
          <a:xfrm>
            <a:off x="187961" y="2122488"/>
            <a:ext cx="87816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UI Implementation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using Gradio for interactive, shareable interface.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Inputs collected: gender, usage context, color, category, year, etc.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prompt + calls Stable Diffusion for custom background creation.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Ongoing: Enable direct product image uploads and live inlay in UI.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9" name="Google Shape;469;p4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" name="Google Shape;470;p41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5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9550" y="2145200"/>
            <a:ext cx="4389175" cy="29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4191000" y="1143000"/>
            <a:ext cx="6476999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Datasets  Exploration/ Datasets preprocessing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2"/>
          <p:cNvSpPr txBox="1"/>
          <p:nvPr/>
        </p:nvSpPr>
        <p:spPr>
          <a:xfrm>
            <a:off x="483925" y="1143000"/>
            <a:ext cx="104235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Currently as a source of inputs to our UI model for prompt and subsequent background generation we are using the following Myntra Products dataset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4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1" name="Google Shape;481;p4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2" name="Google Shape;482;p42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2"/>
          <p:cNvPicPr preferRelativeResize="0"/>
          <p:nvPr/>
        </p:nvPicPr>
        <p:blipFill rotWithShape="1">
          <a:blip r:embed="rId4">
            <a:alphaModFix/>
          </a:blip>
          <a:srcRect b="40628" l="0" r="0" t="0"/>
          <a:stretch/>
        </p:blipFill>
        <p:spPr>
          <a:xfrm>
            <a:off x="206125" y="2573800"/>
            <a:ext cx="11582125" cy="121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2"/>
          <p:cNvSpPr txBox="1"/>
          <p:nvPr/>
        </p:nvSpPr>
        <p:spPr>
          <a:xfrm>
            <a:off x="423175" y="4092650"/>
            <a:ext cx="10545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also has mapped product images -</a:t>
            </a:r>
            <a:endParaRPr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6" name="Google Shape;48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5000" y="4641975"/>
            <a:ext cx="1229400" cy="16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0963" y="4641975"/>
            <a:ext cx="1229400" cy="16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2"/>
          <p:cNvPicPr preferRelativeResize="0"/>
          <p:nvPr/>
        </p:nvPicPr>
        <p:blipFill rotWithShape="1">
          <a:blip r:embed="rId7">
            <a:alphaModFix/>
          </a:blip>
          <a:srcRect b="12100" l="0" r="0" t="-12100"/>
          <a:stretch/>
        </p:blipFill>
        <p:spPr>
          <a:xfrm>
            <a:off x="7578600" y="4531813"/>
            <a:ext cx="1312025" cy="1749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3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Datasets  Exploration/ Datasets preprocessing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3"/>
          <p:cNvSpPr txBox="1"/>
          <p:nvPr/>
        </p:nvSpPr>
        <p:spPr>
          <a:xfrm>
            <a:off x="483925" y="2081238"/>
            <a:ext cx="104235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from csv  is used to craft contextual prompts that guide the generation of advertisement backgrounds.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 the image by removing its original background using the rembg library-&gt;provides a clean, transparent layer-&gt;inlaid into the generated background.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4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7" name="Google Shape;497;p4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" name="Google Shape;498;p43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9" name="Google Shape;49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4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4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Level of implementation in previous review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 txBox="1"/>
          <p:nvPr/>
        </p:nvSpPr>
        <p:spPr>
          <a:xfrm>
            <a:off x="445725" y="1846825"/>
            <a:ext cx="104808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previous level of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progress-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simple background by manually entering prompt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 of product restricted to center of background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4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8" name="Google Shape;508;p4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44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88" y="2958338"/>
            <a:ext cx="3096625" cy="30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4"/>
          <p:cNvPicPr preferRelativeResize="0"/>
          <p:nvPr/>
        </p:nvPicPr>
        <p:blipFill rotWithShape="1">
          <a:blip r:embed="rId5">
            <a:alphaModFix/>
          </a:blip>
          <a:srcRect b="27079" l="0" r="0" t="27765"/>
          <a:stretch/>
        </p:blipFill>
        <p:spPr>
          <a:xfrm>
            <a:off x="4367738" y="2958350"/>
            <a:ext cx="3163251" cy="30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6850" y="2921324"/>
            <a:ext cx="3163249" cy="31715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4" name="Google Shape;514;p44"/>
          <p:cNvCxnSpPr>
            <a:stCxn id="511" idx="3"/>
            <a:endCxn id="512" idx="1"/>
          </p:cNvCxnSpPr>
          <p:nvPr/>
        </p:nvCxnSpPr>
        <p:spPr>
          <a:xfrm>
            <a:off x="3681912" y="4506650"/>
            <a:ext cx="68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44"/>
          <p:cNvCxnSpPr>
            <a:stCxn id="512" idx="3"/>
            <a:endCxn id="513" idx="1"/>
          </p:cNvCxnSpPr>
          <p:nvPr/>
        </p:nvCxnSpPr>
        <p:spPr>
          <a:xfrm>
            <a:off x="7530988" y="4506650"/>
            <a:ext cx="685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5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5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 Model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5"/>
          <p:cNvSpPr txBox="1"/>
          <p:nvPr/>
        </p:nvSpPr>
        <p:spPr>
          <a:xfrm>
            <a:off x="445725" y="1292650"/>
            <a:ext cx="10480800" cy="4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rebuchet M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mplementation progress-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prompt generation from user input parameters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for the same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placed smartly by identifying empty spaces(free from background objects)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4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4" name="Google Shape;524;p4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5" name="Google Shape;525;p45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6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 Model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6"/>
          <p:cNvSpPr txBox="1"/>
          <p:nvPr/>
        </p:nvSpPr>
        <p:spPr>
          <a:xfrm>
            <a:off x="445725" y="1694000"/>
            <a:ext cx="104808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UI for background generation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4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35" name="Google Shape;535;p4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4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775" y="2584288"/>
            <a:ext cx="11716078" cy="290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6"/>
          <p:cNvSpPr/>
          <p:nvPr/>
        </p:nvSpPr>
        <p:spPr>
          <a:xfrm>
            <a:off x="7685800" y="3947975"/>
            <a:ext cx="3152100" cy="706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7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 Model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7"/>
          <p:cNvSpPr txBox="1"/>
          <p:nvPr/>
        </p:nvSpPr>
        <p:spPr>
          <a:xfrm>
            <a:off x="445725" y="1396350"/>
            <a:ext cx="104808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for background generation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4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48" name="Google Shape;548;p4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9" name="Google Shape;549;p4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0" name="Google Shape;5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7"/>
          <p:cNvSpPr/>
          <p:nvPr/>
        </p:nvSpPr>
        <p:spPr>
          <a:xfrm>
            <a:off x="7685800" y="3947975"/>
            <a:ext cx="3152100" cy="706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p47"/>
          <p:cNvPicPr preferRelativeResize="0"/>
          <p:nvPr/>
        </p:nvPicPr>
        <p:blipFill rotWithShape="1">
          <a:blip r:embed="rId4">
            <a:alphaModFix/>
          </a:blip>
          <a:srcRect b="4521" l="0" r="0" t="4511"/>
          <a:stretch/>
        </p:blipFill>
        <p:spPr>
          <a:xfrm>
            <a:off x="1142034" y="1911375"/>
            <a:ext cx="10920589" cy="44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8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8"/>
          <p:cNvSpPr txBox="1"/>
          <p:nvPr/>
        </p:nvSpPr>
        <p:spPr>
          <a:xfrm>
            <a:off x="4191000" y="1143000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Base Model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8"/>
          <p:cNvSpPr txBox="1"/>
          <p:nvPr/>
        </p:nvSpPr>
        <p:spPr>
          <a:xfrm>
            <a:off x="445725" y="1581150"/>
            <a:ext cx="104808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product image post processing and detecting appropriate non-overlap position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4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61" name="Google Shape;561;p4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2" name="Google Shape;562;p4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0450" y="63100"/>
            <a:ext cx="2162175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8"/>
          <p:cNvSpPr/>
          <p:nvPr/>
        </p:nvSpPr>
        <p:spPr>
          <a:xfrm>
            <a:off x="7685800" y="3947975"/>
            <a:ext cx="3152100" cy="706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5" name="Google Shape;56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1021" y="2319500"/>
            <a:ext cx="3779454" cy="378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2175" y="2319500"/>
            <a:ext cx="3752735" cy="3752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9"/>
          <p:cNvSpPr/>
          <p:nvPr/>
        </p:nvSpPr>
        <p:spPr>
          <a:xfrm>
            <a:off x="3048000" y="1581151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9"/>
          <p:cNvSpPr txBox="1"/>
          <p:nvPr/>
        </p:nvSpPr>
        <p:spPr>
          <a:xfrm>
            <a:off x="3374570" y="1143001"/>
            <a:ext cx="729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Gantt Chart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4" name="Google Shape;574;p49"/>
          <p:cNvSpPr txBox="1"/>
          <p:nvPr/>
        </p:nvSpPr>
        <p:spPr>
          <a:xfrm>
            <a:off x="1092449" y="2177448"/>
            <a:ext cx="10119900" cy="3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4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76" name="Google Shape;576;p4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7" name="Google Shape;577;p49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" name="Google Shape;57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0700" y="152393"/>
            <a:ext cx="21621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825" y="2055900"/>
            <a:ext cx="10832125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0"/>
          <p:cNvSpPr/>
          <p:nvPr/>
        </p:nvSpPr>
        <p:spPr>
          <a:xfrm>
            <a:off x="3048000" y="1581151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0"/>
          <p:cNvSpPr txBox="1"/>
          <p:nvPr/>
        </p:nvSpPr>
        <p:spPr>
          <a:xfrm>
            <a:off x="3374570" y="1143001"/>
            <a:ext cx="729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Plan for Phase 3 and Phase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0"/>
          <p:cNvSpPr txBox="1"/>
          <p:nvPr/>
        </p:nvSpPr>
        <p:spPr>
          <a:xfrm>
            <a:off x="1092449" y="2177448"/>
            <a:ext cx="10119900" cy="3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UI Integration &amp; Workflow Automation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i)Enable image uploads and user-defined ad text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ii)Streamline entire ad creation in one seamless platform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for Additional Visual Elements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i)Add characters, props, and brand assets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ii)Make ads more engaging and visually rich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Background-Product Mapping</a:t>
            </a:r>
            <a:b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i)Improve texture, lighting, and perspective matching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ii)Ensure more natural, professional ad compositions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5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89" name="Google Shape;589;p5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0" name="Google Shape;590;p50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1" name="Google Shape;59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0700" y="152393"/>
            <a:ext cx="21621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1"/>
          <p:cNvSpPr txBox="1"/>
          <p:nvPr/>
        </p:nvSpPr>
        <p:spPr>
          <a:xfrm>
            <a:off x="3842656" y="1143002"/>
            <a:ext cx="68253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1"/>
          <p:cNvSpPr txBox="1"/>
          <p:nvPr/>
        </p:nvSpPr>
        <p:spPr>
          <a:xfrm>
            <a:off x="1066800" y="1823742"/>
            <a:ext cx="10058400" cy="42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[1]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A. J.-B. Mazaré, M. Ramé, T. Lamarche, T. Luccioni, D. Simig, G. Ligner, T. Lavril, R. Tallec, T. Schatz, A. Bégué, and G. Lample, “Mistral 7B,”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arXiv:2310.06825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Oct. 2023. [Online]. Available: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https://arxiv.org/abs/2310.06825</a:t>
            </a:r>
            <a:endParaRPr sz="2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[2]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R. Rombach, A. Blattmann, D. Lorenz, P. Esser, and B. Ommer, “High-Resolution Image Synthesis with Latent Diffusion Models,”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arXiv:2112.10752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Dec. 2021. [Online]. Available: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https://arxiv.org/abs/2112.10752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​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7"/>
              </a:rPr>
              <a:t>GitHub+8</a:t>
            </a:r>
            <a:endParaRPr sz="3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3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[3]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P. Sahoo, A. K. Singh, S. Saha, V. Jain, S. Mondal, and A. Chadha, “A Systematic Survey of Prompt Engineering in Large Language Models: Techniques and Applications,”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arXiv:2402.07927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Feb. 2024. [Online]. Available: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9"/>
              </a:rPr>
              <a:t>https://arxiv.org/abs/2402.07927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​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0"/>
              </a:rPr>
              <a:t>arXiv+6</a:t>
            </a:r>
            <a:endParaRPr sz="4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4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0" name="Google Shape;600;p5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01" name="Google Shape;601;p5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2" name="Google Shape;602;p51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3" name="Google Shape;603;p5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99901" y="85725"/>
            <a:ext cx="1829537" cy="83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2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2"/>
          <p:cNvSpPr txBox="1"/>
          <p:nvPr/>
        </p:nvSpPr>
        <p:spPr>
          <a:xfrm>
            <a:off x="3842656" y="1143002"/>
            <a:ext cx="68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2"/>
          <p:cNvSpPr txBox="1"/>
          <p:nvPr/>
        </p:nvSpPr>
        <p:spPr>
          <a:xfrm>
            <a:off x="1066800" y="1742592"/>
            <a:ext cx="10058400" cy="42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[4]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J. Redmon, S. Divvala, R. Girshick, and A. Farhadi, “You Only Look Once: Unified, Real-Time Object Detection,”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arXiv:1506.02640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May 2016. [Online]. Available: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https://arxiv.org/abs/1506.02640</a:t>
            </a:r>
            <a:endParaRPr sz="4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[5]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S. Witteveen and M. Andrews, “Investigating Prompt Engineering in Diffusion Models,”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arXiv:2211.15462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Nov. 2022. [Online]. Available: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https://arxiv.org/abs/2211.15462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[6]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M. S. Seyfioglu, K. Bouyarmane, S. Kumar, A. Tavanaei, and I. B. Tutar, “DreamPaint: Few-Shot Inpainting of E-Commerce Items for Virtual Try-On without 3D Modeling,”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arXiv:2305.01257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May 2023. [Online]. Available: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8"/>
              </a:rPr>
              <a:t>https://arxiv.org/abs/2305.01257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[7]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F. R. Perche-Mahlow, A. Felipe-Zanella, W. A. Cruz-Castañeda, and M. Amadeus, “An Inpainting-Infused Pipeline for Attire and Background Replacement,”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arXiv preprint arXiv:2402.03501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Feb. 2024. [Online]. Available:</a:t>
            </a:r>
            <a:r>
              <a:rPr lang="en-US" sz="1800">
                <a:solidFill>
                  <a:schemeClr val="dk1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0"/>
              </a:rPr>
              <a:t>https://arxiv.org/abs/2402.03501</a:t>
            </a:r>
            <a:endParaRPr sz="1800" u="sng">
              <a:solidFill>
                <a:schemeClr val="hlink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4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2" name="Google Shape;612;p5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13" name="Google Shape;613;p5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4" name="Google Shape;614;p52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88888"/>
                </a:solidFill>
              </a:rPr>
              <a:t>Generative AI in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5" name="Google Shape;615;p5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99901" y="85725"/>
            <a:ext cx="1829537" cy="83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3"/>
          <p:cNvSpPr/>
          <p:nvPr/>
        </p:nvSpPr>
        <p:spPr>
          <a:xfrm>
            <a:off x="925094" y="2104700"/>
            <a:ext cx="8326200" cy="3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rebuchet MS"/>
              <a:buNone/>
            </a:pPr>
            <a:r>
              <a:rPr b="0" i="0" lang="en-US" sz="10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10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Srishti Mathur_Hrishita Patra_Dhruva R Prasad_Suhani Verma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22" name="Google Shape;622;p5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