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Lst>
  <p:sldSz cy="6858000" cx="12192000"/>
  <p:notesSz cx="6858000" cy="9144000"/>
  <p:embeddedFontLst>
    <p:embeddedFont>
      <p:font typeface="Lobster"/>
      <p:regular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6" roundtripDataSignature="AMtx7mi8iZox4FXEUgHLlWVcLyTkajadG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font" Target="fonts/Lobster-regular.fntdata"/><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14" Type="http://schemas.openxmlformats.org/officeDocument/2006/relationships/slide" Target="slides/slide10.xml"/><Relationship Id="rId36" Type="http://customschemas.google.com/relationships/presentationmetadata" Target="meta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 name="Google Shape;89;p1:notes"/>
          <p:cNvSpPr txBox="1"/>
          <p:nvPr>
            <p:ph idx="3" type="hdr"/>
          </p:nvPr>
        </p:nvSpPr>
        <p:spPr>
          <a:xfrm>
            <a:off x="0" y="0"/>
            <a:ext cx="2971800" cy="45878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Title of the Project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2:notes"/>
          <p:cNvSpPr/>
          <p:nvPr>
            <p:ph idx="2" type="sldImg"/>
          </p:nvPr>
        </p:nvSpPr>
        <p:spPr>
          <a:xfrm>
            <a:off x="407988" y="696913"/>
            <a:ext cx="6196012"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 name="Google Shape;9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3:notes"/>
          <p:cNvSpPr/>
          <p:nvPr>
            <p:ph idx="2" type="sldImg"/>
          </p:nvPr>
        </p:nvSpPr>
        <p:spPr>
          <a:xfrm>
            <a:off x="407988" y="696913"/>
            <a:ext cx="6196012"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1a9d1a8de3_0_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1a9d1a8de3_0_6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g31a9d1a8de3_0_6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1a9d1a8de3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1a9d1a8de3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g31a9d1a8de3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1aa606e22d_0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1aa606e22d_0_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g31aa606e22d_0_1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1b149daa03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1b149daa03_0_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g31b149daa03_0_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1abc5036ed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1abc5036ed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g31abc5036ed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1a9d1a8de3_0_1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1a9d1a8de3_0_11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g31a9d1a8de3_0_11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1a9d1a8de3_0_1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1a9d1a8de3_0_1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g31a9d1a8de3_0_11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1b149daa03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1b149daa03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g31b149daa03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1aa606e22d_0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1aa606e22d_0_2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g31aa606e22d_0_2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1a9d1a8de3_0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1a9d1a8de3_0_2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g31a9d1a8de3_0_2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1b149daa03_0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1b149daa03_0_2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 name="Google Shape;203;g31b149daa03_0_2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1b149daa03_0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1b149daa03_0_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g31b149daa03_0_1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1a9d1a8de3_0_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1a9d1a8de3_0_3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g31a9d1a8de3_0_3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1b1d412933_3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1b1d412933_3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 name="Google Shape;224;g31b1d412933_3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1b1d412933_3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1b1d412933_3_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 name="Google Shape;232;g31b1d412933_3_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1b1d412933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1b1d412933_0_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g31b1d412933_0_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1b1d412933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31b1d412933_0_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 name="Google Shape;247;g31b1d412933_0_1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1aa606e22d_0_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1aa606e22d_0_2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g31aa606e22d_0_2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1aa606e22d_0_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1aa606e22d_0_3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g31aa606e22d_0_3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1a9d1a8de3_0_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1a9d1a8de3_0_4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 name="Google Shape;270;g31a9d1a8de3_0_4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1a9d1a8de3_0_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31a9d1a8de3_0_5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 name="Google Shape;278;g31a9d1a8de3_0_5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1a9d1a8de3_0_1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31a9d1a8de3_0_10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 name="Google Shape;286;g31a9d1a8de3_0_10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1a9d1a8de3_0_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1a9d1a8de3_0_8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 name="Google Shape;294;g31a9d1a8de3_0_8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1b149daa03_0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31b149daa03_0_2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1" name="Google Shape;301;g31b149daa03_0_2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1b149daa03_0_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31b149daa03_0_3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9" name="Google Shape;309;g31b149daa03_0_3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1aa606e22d_0_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31aa606e22d_0_4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7" name="Google Shape;317;g31aa606e22d_0_4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1b1d412933_0_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31b1d412933_0_2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5" name="Google Shape;325;g31b1d412933_0_2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 name="Shape 17"/>
        <p:cNvGrpSpPr/>
        <p:nvPr/>
      </p:nvGrpSpPr>
      <p:grpSpPr>
        <a:xfrm>
          <a:off x="0" y="0"/>
          <a:ext cx="0" cy="0"/>
          <a:chOff x="0" y="0"/>
          <a:chExt cx="0" cy="0"/>
        </a:xfrm>
      </p:grpSpPr>
      <p:sp>
        <p:nvSpPr>
          <p:cNvPr id="18" name="Google Shape;18;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7" name="Shape 27"/>
        <p:cNvGrpSpPr/>
        <p:nvPr/>
      </p:nvGrpSpPr>
      <p:grpSpPr>
        <a:xfrm>
          <a:off x="0" y="0"/>
          <a:ext cx="0" cy="0"/>
          <a:chOff x="0" y="0"/>
          <a:chExt cx="0" cy="0"/>
        </a:xfrm>
      </p:grpSpPr>
      <p:sp>
        <p:nvSpPr>
          <p:cNvPr id="28" name="Google Shape;28;p2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0" name="Google Shape;30;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2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6" name="Google Shape;36;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2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2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 name="Google Shape;43;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2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2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2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1" name="Google Shape;51;p2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0" name="Shape 60"/>
        <p:cNvGrpSpPr/>
        <p:nvPr/>
      </p:nvGrpSpPr>
      <p:grpSpPr>
        <a:xfrm>
          <a:off x="0" y="0"/>
          <a:ext cx="0" cy="0"/>
          <a:chOff x="0" y="0"/>
          <a:chExt cx="0" cy="0"/>
        </a:xfrm>
      </p:grpSpPr>
      <p:sp>
        <p:nvSpPr>
          <p:cNvPr id="61" name="Google Shape;61;p2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28"/>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3" name="Google Shape;63;p28"/>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4" name="Google Shape;64;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7" name="Shape 67"/>
        <p:cNvGrpSpPr/>
        <p:nvPr/>
      </p:nvGrpSpPr>
      <p:grpSpPr>
        <a:xfrm>
          <a:off x="0" y="0"/>
          <a:ext cx="0" cy="0"/>
          <a:chOff x="0" y="0"/>
          <a:chExt cx="0" cy="0"/>
        </a:xfrm>
      </p:grpSpPr>
      <p:sp>
        <p:nvSpPr>
          <p:cNvPr id="68" name="Google Shape;68;p2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29"/>
          <p:cNvSpPr/>
          <p:nvPr>
            <p:ph idx="2" type="pic"/>
          </p:nvPr>
        </p:nvSpPr>
        <p:spPr>
          <a:xfrm>
            <a:off x="5183188" y="987425"/>
            <a:ext cx="6172200" cy="4873625"/>
          </a:xfrm>
          <a:prstGeom prst="rect">
            <a:avLst/>
          </a:prstGeom>
          <a:noFill/>
          <a:ln>
            <a:noFill/>
          </a:ln>
        </p:spPr>
      </p:sp>
      <p:sp>
        <p:nvSpPr>
          <p:cNvPr id="70" name="Google Shape;70;p29"/>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1" name="Google Shape;71;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4" name="Shape 74"/>
        <p:cNvGrpSpPr/>
        <p:nvPr/>
      </p:nvGrpSpPr>
      <p:grpSpPr>
        <a:xfrm>
          <a:off x="0" y="0"/>
          <a:ext cx="0" cy="0"/>
          <a:chOff x="0" y="0"/>
          <a:chExt cx="0" cy="0"/>
        </a:xfrm>
      </p:grpSpPr>
      <p:sp>
        <p:nvSpPr>
          <p:cNvPr id="75" name="Google Shape;75;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0"/>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0" name="Shape 80"/>
        <p:cNvGrpSpPr/>
        <p:nvPr/>
      </p:nvGrpSpPr>
      <p:grpSpPr>
        <a:xfrm>
          <a:off x="0" y="0"/>
          <a:ext cx="0" cy="0"/>
          <a:chOff x="0" y="0"/>
          <a:chExt cx="0" cy="0"/>
        </a:xfrm>
      </p:grpSpPr>
      <p:sp>
        <p:nvSpPr>
          <p:cNvPr id="81" name="Google Shape;81;p31"/>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1"/>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 name="Google Shape;83;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14" name="Google Shape;14;p20"/>
          <p:cNvPicPr preferRelativeResize="0"/>
          <p:nvPr/>
        </p:nvPicPr>
        <p:blipFill rotWithShape="1">
          <a:blip r:embed="rId1">
            <a:alphaModFix/>
          </a:blip>
          <a:srcRect b="0" l="0" r="0" t="0"/>
          <a:stretch/>
        </p:blipFill>
        <p:spPr>
          <a:xfrm>
            <a:off x="10896601" y="9"/>
            <a:ext cx="1295399" cy="1025106"/>
          </a:xfrm>
          <a:prstGeom prst="rect">
            <a:avLst/>
          </a:prstGeom>
          <a:noFill/>
          <a:ln>
            <a:noFill/>
          </a:ln>
        </p:spPr>
      </p:pic>
      <p:sp>
        <p:nvSpPr>
          <p:cNvPr id="15" name="Google Shape;15;p20"/>
          <p:cNvSpPr txBox="1"/>
          <p:nvPr/>
        </p:nvSpPr>
        <p:spPr>
          <a:xfrm>
            <a:off x="4208925" y="6311900"/>
            <a:ext cx="4762500" cy="36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dk1"/>
                </a:solidFill>
                <a:latin typeface="Calibri"/>
                <a:ea typeface="Calibri"/>
                <a:cs typeface="Calibri"/>
                <a:sym typeface="Calibri"/>
              </a:rPr>
              <a:t>Srishti Mathur_Hrishita Patra_Suhani_Verma_Dhruva Prasad</a:t>
            </a:r>
            <a:endParaRPr>
              <a:solidFill>
                <a:schemeClr val="dk1"/>
              </a:solidFill>
              <a:latin typeface="Calibri"/>
              <a:ea typeface="Calibri"/>
              <a:cs typeface="Calibri"/>
              <a:sym typeface="Calibri"/>
            </a:endParaRPr>
          </a:p>
        </p:txBody>
      </p:sp>
      <p:sp>
        <p:nvSpPr>
          <p:cNvPr id="16" name="Google Shape;16;p20"/>
          <p:cNvSpPr txBox="1"/>
          <p:nvPr/>
        </p:nvSpPr>
        <p:spPr>
          <a:xfrm>
            <a:off x="233825" y="163150"/>
            <a:ext cx="5611500" cy="36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2400"/>
              <a:buFont typeface="Arial"/>
              <a:buNone/>
            </a:pPr>
            <a:r>
              <a:rPr lang="en-US" sz="1500">
                <a:solidFill>
                  <a:schemeClr val="dk1"/>
                </a:solidFill>
                <a:latin typeface="Trebuchet MS"/>
                <a:ea typeface="Trebuchet MS"/>
                <a:cs typeface="Trebuchet MS"/>
                <a:sym typeface="Trebuchet MS"/>
              </a:rPr>
              <a:t>Generative AI marketing based on sales anomaly detection</a:t>
            </a:r>
            <a:endParaRPr sz="1500">
              <a:solidFill>
                <a:srgbClr val="0033CC"/>
              </a:solidFill>
              <a:latin typeface="Trebuchet MS"/>
              <a:ea typeface="Trebuchet MS"/>
              <a:cs typeface="Trebuchet MS"/>
              <a:sym typeface="Trebuchet MS"/>
            </a:endParaRPr>
          </a:p>
          <a:p>
            <a:pPr indent="0" lvl="0" marL="0" rtl="0" algn="l">
              <a:spcBef>
                <a:spcPts val="0"/>
              </a:spcBef>
              <a:spcAft>
                <a:spcPts val="0"/>
              </a:spcAft>
              <a:buNone/>
            </a:pPr>
            <a:r>
              <a:t/>
            </a:r>
            <a:endParaRPr sz="1000">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hyperlink" Target="https://www.researchgate.net/publication/341994540_Artificial_Intelligence_Applied_to_Digital_Marketing/" TargetMode="External"/><Relationship Id="rId4" Type="http://schemas.openxmlformats.org/officeDocument/2006/relationships/hyperlink" Target="https://link.springer.com/article/10.1007/s11042-024-20016-1" TargetMode="External"/><Relationship Id="rId9" Type="http://schemas.openxmlformats.org/officeDocument/2006/relationships/hyperlink" Target="https://arxiv.org/pdf/2007.02500" TargetMode="External"/><Relationship Id="rId5" Type="http://schemas.openxmlformats.org/officeDocument/2006/relationships/hyperlink" Target="https://link.springer.com/article/10.1007/s11747-024-01044-7" TargetMode="External"/><Relationship Id="rId6" Type="http://schemas.openxmlformats.org/officeDocument/2006/relationships/hyperlink" Target="https://arxiv.org/pdf/2009.04395" TargetMode="External"/><Relationship Id="rId7" Type="http://schemas.openxmlformats.org/officeDocument/2006/relationships/hyperlink" Target="https://www.researchgate.net/publication/382876702_The_Role_of_Artificial_Intelligence_in_Modern_Marketing_A_Review_of_Current_Technologies_Applications_and_Challenges" TargetMode="External"/><Relationship Id="rId8" Type="http://schemas.openxmlformats.org/officeDocument/2006/relationships/hyperlink" Target="https://www.sciencedirect.com/science/article/abs/pii/S0148296323004836"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
          <p:cNvSpPr/>
          <p:nvPr/>
        </p:nvSpPr>
        <p:spPr>
          <a:xfrm>
            <a:off x="2133600" y="914400"/>
            <a:ext cx="7924800" cy="243143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FF0000"/>
                </a:solidFill>
                <a:latin typeface="Trebuchet MS"/>
                <a:ea typeface="Trebuchet MS"/>
                <a:cs typeface="Trebuchet MS"/>
                <a:sym typeface="Trebuchet MS"/>
              </a:rPr>
              <a:t>UE22CS320A</a:t>
            </a:r>
            <a:r>
              <a:rPr b="0" i="0" lang="en-US" sz="2800" u="none" cap="none" strike="noStrike">
                <a:solidFill>
                  <a:schemeClr val="dk1"/>
                </a:solidFill>
                <a:latin typeface="Trebuchet MS"/>
                <a:ea typeface="Trebuchet MS"/>
                <a:cs typeface="Trebuchet MS"/>
                <a:sym typeface="Trebuchet MS"/>
              </a:rPr>
              <a:t> – Capstone Project Phase – 1</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Trebuchet MS"/>
              <a:ea typeface="Trebuchet MS"/>
              <a:cs typeface="Trebuchet MS"/>
              <a:sym typeface="Trebuchet MS"/>
            </a:endParaRPr>
          </a:p>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FF0000"/>
                </a:solidFill>
                <a:latin typeface="Trebuchet MS"/>
                <a:ea typeface="Trebuchet MS"/>
                <a:cs typeface="Trebuchet MS"/>
                <a:sym typeface="Trebuchet MS"/>
              </a:rPr>
              <a:t>SEMESTER - V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200"/>
              <a:buFont typeface="Arial"/>
              <a:buNone/>
            </a:pPr>
            <a:r>
              <a:t/>
            </a:r>
            <a:endParaRPr b="1" i="0" sz="3200" u="none" cap="none" strike="noStrike">
              <a:solidFill>
                <a:srgbClr val="FF0000"/>
              </a:solidFill>
              <a:latin typeface="Trebuchet MS"/>
              <a:ea typeface="Trebuchet MS"/>
              <a:cs typeface="Trebuchet MS"/>
              <a:sym typeface="Trebuchet MS"/>
            </a:endParaRPr>
          </a:p>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FF0000"/>
                </a:solidFill>
                <a:latin typeface="Trebuchet MS"/>
                <a:ea typeface="Trebuchet MS"/>
                <a:cs typeface="Trebuchet MS"/>
                <a:sym typeface="Trebuchet MS"/>
              </a:rPr>
              <a:t>END SEMESTER ASSESSMENT </a:t>
            </a:r>
            <a:endParaRPr b="0" i="0" sz="1400" u="none" cap="none" strike="noStrike">
              <a:solidFill>
                <a:srgbClr val="000000"/>
              </a:solidFill>
              <a:latin typeface="Arial"/>
              <a:ea typeface="Arial"/>
              <a:cs typeface="Arial"/>
              <a:sym typeface="Arial"/>
            </a:endParaRPr>
          </a:p>
        </p:txBody>
      </p:sp>
      <p:sp>
        <p:nvSpPr>
          <p:cNvPr id="92" name="Google Shape;92;p1"/>
          <p:cNvSpPr txBox="1"/>
          <p:nvPr/>
        </p:nvSpPr>
        <p:spPr>
          <a:xfrm>
            <a:off x="1866900" y="3790475"/>
            <a:ext cx="8458200" cy="2277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33CC"/>
                </a:solidFill>
                <a:latin typeface="Trebuchet MS"/>
                <a:ea typeface="Trebuchet MS"/>
                <a:cs typeface="Trebuchet MS"/>
                <a:sym typeface="Trebuchet MS"/>
              </a:rPr>
              <a:t>Project Title   :  </a:t>
            </a:r>
            <a:r>
              <a:rPr lang="en-US" sz="2400">
                <a:solidFill>
                  <a:schemeClr val="dk1"/>
                </a:solidFill>
                <a:latin typeface="Trebuchet MS"/>
                <a:ea typeface="Trebuchet MS"/>
                <a:cs typeface="Trebuchet MS"/>
                <a:sym typeface="Trebuchet MS"/>
              </a:rPr>
              <a:t>Generative AI marketing based on sales-     anomaly detection</a:t>
            </a:r>
            <a:endParaRPr sz="2400">
              <a:solidFill>
                <a:srgbClr val="0033CC"/>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33CC"/>
                </a:solidFill>
                <a:latin typeface="Trebuchet MS"/>
                <a:ea typeface="Trebuchet MS"/>
                <a:cs typeface="Trebuchet MS"/>
                <a:sym typeface="Trebuchet MS"/>
              </a:rPr>
              <a:t>Project ID       : </a:t>
            </a:r>
            <a:r>
              <a:rPr lang="en-US" sz="2400">
                <a:solidFill>
                  <a:schemeClr val="dk1"/>
                </a:solidFill>
                <a:latin typeface="Trebuchet MS"/>
                <a:ea typeface="Trebuchet MS"/>
                <a:cs typeface="Trebuchet MS"/>
                <a:sym typeface="Trebuchet MS"/>
              </a:rPr>
              <a:t>PW25_SSS_06</a:t>
            </a:r>
            <a:r>
              <a:rPr b="0" i="0" lang="en-US" sz="2400" u="none" cap="none" strike="noStrike">
                <a:solidFill>
                  <a:srgbClr val="0033CC"/>
                </a:solidFill>
                <a:latin typeface="Trebuchet MS"/>
                <a:ea typeface="Trebuchet MS"/>
                <a:cs typeface="Trebuchet MS"/>
                <a:sym typeface="Trebuchet MS"/>
              </a:rPr>
              <a:t>     </a:t>
            </a:r>
            <a:endParaRPr b="0" i="0" sz="2400" u="none" cap="none" strike="noStrike">
              <a:solidFill>
                <a:srgbClr val="0033CC"/>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33CC"/>
                </a:solidFill>
                <a:latin typeface="Trebuchet MS"/>
                <a:ea typeface="Trebuchet MS"/>
                <a:cs typeface="Trebuchet MS"/>
                <a:sym typeface="Trebuchet MS"/>
              </a:rPr>
              <a:t>Project Guide :</a:t>
            </a:r>
            <a:r>
              <a:rPr lang="en-US" sz="2400">
                <a:solidFill>
                  <a:schemeClr val="dk1"/>
                </a:solidFill>
                <a:latin typeface="Trebuchet MS"/>
                <a:ea typeface="Trebuchet MS"/>
                <a:cs typeface="Trebuchet MS"/>
                <a:sym typeface="Trebuchet MS"/>
              </a:rPr>
              <a:t>Dr. Shylaja S.S</a:t>
            </a:r>
            <a:r>
              <a:rPr b="0" i="0" lang="en-US" sz="2400" u="none" cap="none" strike="noStrike">
                <a:solidFill>
                  <a:srgbClr val="0033CC"/>
                </a:solidFill>
                <a:latin typeface="Trebuchet MS"/>
                <a:ea typeface="Trebuchet MS"/>
                <a:cs typeface="Trebuchet MS"/>
                <a:sym typeface="Trebuchet MS"/>
              </a:rPr>
              <a:t>                  </a:t>
            </a:r>
            <a:endParaRPr b="0" i="0" sz="2400" u="none" cap="none" strike="noStrike">
              <a:solidFill>
                <a:srgbClr val="0033CC"/>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33CC"/>
                </a:solidFill>
                <a:latin typeface="Trebuchet MS"/>
                <a:ea typeface="Trebuchet MS"/>
                <a:cs typeface="Trebuchet MS"/>
                <a:sym typeface="Trebuchet MS"/>
              </a:rPr>
              <a:t>Project Team  : </a:t>
            </a:r>
            <a:r>
              <a:rPr lang="en-US" sz="2400">
                <a:solidFill>
                  <a:schemeClr val="dk1"/>
                </a:solidFill>
                <a:latin typeface="Trebuchet MS"/>
                <a:ea typeface="Trebuchet MS"/>
                <a:cs typeface="Trebuchet MS"/>
                <a:sym typeface="Trebuchet MS"/>
              </a:rPr>
              <a:t>Suhani Verma, Hrishita Patra,</a:t>
            </a:r>
            <a:endParaRPr sz="2400">
              <a:solidFill>
                <a:schemeClr val="dk1"/>
              </a:solidFill>
              <a:latin typeface="Trebuchet MS"/>
              <a:ea typeface="Trebuchet MS"/>
              <a:cs typeface="Trebuchet MS"/>
              <a:sym typeface="Trebuchet MS"/>
            </a:endParaRPr>
          </a:p>
          <a:p>
            <a:pPr indent="457200" lvl="0" marL="1371600" rtl="0" algn="l">
              <a:spcBef>
                <a:spcPts val="0"/>
              </a:spcBef>
              <a:spcAft>
                <a:spcPts val="0"/>
              </a:spcAft>
              <a:buClr>
                <a:schemeClr val="dk1"/>
              </a:buClr>
              <a:buSzPts val="2400"/>
              <a:buFont typeface="Arial"/>
              <a:buNone/>
            </a:pPr>
            <a:r>
              <a:rPr lang="en-US" sz="2400">
                <a:solidFill>
                  <a:schemeClr val="dk1"/>
                </a:solidFill>
                <a:latin typeface="Trebuchet MS"/>
                <a:ea typeface="Trebuchet MS"/>
                <a:cs typeface="Trebuchet MS"/>
                <a:sym typeface="Trebuchet MS"/>
              </a:rPr>
              <a:t>   Dhruva R Prasad, Srishti Mathur</a:t>
            </a:r>
            <a:endParaRPr sz="2000">
              <a:solidFill>
                <a:schemeClr val="dk1"/>
              </a:solidFil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33CC"/>
              </a:solidFill>
              <a:latin typeface="Trebuchet MS"/>
              <a:ea typeface="Trebuchet MS"/>
              <a:cs typeface="Trebuchet MS"/>
              <a:sym typeface="Trebuchet MS"/>
            </a:endParaRPr>
          </a:p>
        </p:txBody>
      </p:sp>
      <p:sp>
        <p:nvSpPr>
          <p:cNvPr id="93" name="Google Shape;93;p1"/>
          <p:cNvSpPr/>
          <p:nvPr/>
        </p:nvSpPr>
        <p:spPr>
          <a:xfrm>
            <a:off x="2757200" y="6393150"/>
            <a:ext cx="6093900" cy="3492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Hrishita Patra_Srishti Mathur_Suhani Verma_Dhruva R Prasad</a:t>
            </a:r>
            <a:endParaRPr>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
          <p:cNvSpPr txBox="1"/>
          <p:nvPr/>
        </p:nvSpPr>
        <p:spPr>
          <a:xfrm>
            <a:off x="1638300" y="2514600"/>
            <a:ext cx="8915400" cy="4572000"/>
          </a:xfrm>
          <a:prstGeom prst="rect">
            <a:avLst/>
          </a:prstGeom>
          <a:noFill/>
          <a:ln>
            <a:noFill/>
          </a:ln>
        </p:spPr>
        <p:txBody>
          <a:bodyPr anchorCtr="0" anchor="t" bIns="45700" lIns="91425" spcFirstLastPara="1" rIns="91425" wrap="square" tIns="45700">
            <a:noAutofit/>
          </a:bodyPr>
          <a:lstStyle/>
          <a:p>
            <a:pPr indent="-190500" lvl="0" marL="685791" marR="0" rtl="0" algn="just">
              <a:lnSpc>
                <a:spcPct val="100000"/>
              </a:lnSpc>
              <a:spcBef>
                <a:spcPts val="0"/>
              </a:spcBef>
              <a:spcAft>
                <a:spcPts val="0"/>
              </a:spcAft>
              <a:buClr>
                <a:schemeClr val="dk1"/>
              </a:buClr>
              <a:buSzPts val="2400"/>
              <a:buFont typeface="Noto Sans Symbols"/>
              <a:buNone/>
            </a:pPr>
            <a:r>
              <a:t/>
            </a:r>
            <a:endParaRPr b="0" i="0" sz="2400" u="none" cap="none" strike="noStrike">
              <a:solidFill>
                <a:srgbClr val="0033CC"/>
              </a:solidFill>
              <a:latin typeface="Trebuchet MS"/>
              <a:ea typeface="Trebuchet MS"/>
              <a:cs typeface="Trebuchet MS"/>
              <a:sym typeface="Trebuchet MS"/>
            </a:endParaRPr>
          </a:p>
        </p:txBody>
      </p:sp>
      <p:sp>
        <p:nvSpPr>
          <p:cNvPr id="99" name="Google Shape;99;p2"/>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5"/>
              </a:buClr>
              <a:buSzPts val="4000"/>
              <a:buFont typeface="Calibri"/>
              <a:buNone/>
            </a:pPr>
            <a:r>
              <a:rPr b="1" lang="en-US" sz="4000">
                <a:solidFill>
                  <a:schemeClr val="accent5"/>
                </a:solidFill>
              </a:rPr>
              <a:t>Outline</a:t>
            </a:r>
            <a:endParaRPr b="1">
              <a:solidFill>
                <a:schemeClr val="accent5"/>
              </a:solidFill>
            </a:endParaRPr>
          </a:p>
        </p:txBody>
      </p:sp>
      <p:sp>
        <p:nvSpPr>
          <p:cNvPr id="100" name="Google Shape;100;p2"/>
          <p:cNvSpPr txBox="1"/>
          <p:nvPr>
            <p:ph idx="1" type="body"/>
          </p:nvPr>
        </p:nvSpPr>
        <p:spPr>
          <a:xfrm>
            <a:off x="838200" y="1606625"/>
            <a:ext cx="10515600" cy="4351200"/>
          </a:xfrm>
          <a:prstGeom prst="rect">
            <a:avLst/>
          </a:prstGeom>
          <a:noFill/>
          <a:ln>
            <a:noFill/>
          </a:ln>
        </p:spPr>
        <p:txBody>
          <a:bodyPr anchorCtr="0" anchor="t" bIns="45700" lIns="91425" spcFirstLastPara="1" rIns="91425" wrap="square" tIns="45700">
            <a:noAutofit/>
          </a:bodyPr>
          <a:lstStyle/>
          <a:p>
            <a:pPr indent="-380673" lvl="0" marL="685791" rtl="0" algn="just">
              <a:lnSpc>
                <a:spcPct val="95000"/>
              </a:lnSpc>
              <a:spcBef>
                <a:spcPts val="0"/>
              </a:spcBef>
              <a:spcAft>
                <a:spcPts val="0"/>
              </a:spcAft>
              <a:buClr>
                <a:schemeClr val="dk1"/>
              </a:buClr>
              <a:buSzPts val="1495"/>
              <a:buFont typeface="Arial"/>
              <a:buChar char="●"/>
            </a:pPr>
            <a:r>
              <a:rPr lang="en-US" sz="2270">
                <a:latin typeface="Trebuchet MS"/>
                <a:ea typeface="Trebuchet MS"/>
                <a:cs typeface="Trebuchet MS"/>
                <a:sym typeface="Trebuchet MS"/>
              </a:rPr>
              <a:t>Introduction</a:t>
            </a:r>
            <a:endParaRPr sz="2270"/>
          </a:p>
          <a:p>
            <a:pPr indent="-380673" lvl="0" marL="685791" rtl="0" algn="just">
              <a:lnSpc>
                <a:spcPct val="95000"/>
              </a:lnSpc>
              <a:spcBef>
                <a:spcPts val="0"/>
              </a:spcBef>
              <a:spcAft>
                <a:spcPts val="0"/>
              </a:spcAft>
              <a:buClr>
                <a:schemeClr val="dk1"/>
              </a:buClr>
              <a:buSzPts val="1495"/>
              <a:buFont typeface="Arial"/>
              <a:buChar char="●"/>
            </a:pPr>
            <a:r>
              <a:rPr lang="en-US" sz="2270">
                <a:latin typeface="Trebuchet MS"/>
                <a:ea typeface="Trebuchet MS"/>
                <a:cs typeface="Trebuchet MS"/>
                <a:sym typeface="Trebuchet MS"/>
              </a:rPr>
              <a:t>Abstract and Scope</a:t>
            </a:r>
            <a:endParaRPr sz="2270">
              <a:latin typeface="Trebuchet MS"/>
              <a:ea typeface="Trebuchet MS"/>
              <a:cs typeface="Trebuchet MS"/>
              <a:sym typeface="Trebuchet MS"/>
            </a:endParaRPr>
          </a:p>
          <a:p>
            <a:pPr indent="-380673" lvl="0" marL="685791" rtl="0" algn="just">
              <a:lnSpc>
                <a:spcPct val="95000"/>
              </a:lnSpc>
              <a:spcBef>
                <a:spcPts val="0"/>
              </a:spcBef>
              <a:spcAft>
                <a:spcPts val="0"/>
              </a:spcAft>
              <a:buClr>
                <a:schemeClr val="dk1"/>
              </a:buClr>
              <a:buSzPts val="1495"/>
              <a:buFont typeface="Arial"/>
              <a:buChar char="●"/>
            </a:pPr>
            <a:r>
              <a:rPr lang="en-US" sz="2270">
                <a:latin typeface="Trebuchet MS"/>
                <a:ea typeface="Trebuchet MS"/>
                <a:cs typeface="Trebuchet MS"/>
                <a:sym typeface="Trebuchet MS"/>
              </a:rPr>
              <a:t>Problem Statement</a:t>
            </a:r>
            <a:endParaRPr sz="2270">
              <a:latin typeface="Trebuchet MS"/>
              <a:ea typeface="Trebuchet MS"/>
              <a:cs typeface="Trebuchet MS"/>
              <a:sym typeface="Trebuchet MS"/>
            </a:endParaRPr>
          </a:p>
          <a:p>
            <a:pPr indent="-380673" lvl="0" marL="685791" rtl="0" algn="just">
              <a:lnSpc>
                <a:spcPct val="95000"/>
              </a:lnSpc>
              <a:spcBef>
                <a:spcPts val="0"/>
              </a:spcBef>
              <a:spcAft>
                <a:spcPts val="0"/>
              </a:spcAft>
              <a:buClr>
                <a:schemeClr val="dk1"/>
              </a:buClr>
              <a:buSzPts val="1495"/>
              <a:buFont typeface="Arial"/>
              <a:buChar char="●"/>
            </a:pPr>
            <a:r>
              <a:rPr lang="en-US" sz="2270">
                <a:latin typeface="Trebuchet MS"/>
                <a:ea typeface="Trebuchet MS"/>
                <a:cs typeface="Trebuchet MS"/>
                <a:sym typeface="Trebuchet MS"/>
              </a:rPr>
              <a:t>Literature survey / Background study</a:t>
            </a:r>
            <a:endParaRPr sz="2270">
              <a:latin typeface="Trebuchet MS"/>
              <a:ea typeface="Trebuchet MS"/>
              <a:cs typeface="Trebuchet MS"/>
              <a:sym typeface="Trebuchet MS"/>
            </a:endParaRPr>
          </a:p>
          <a:p>
            <a:pPr indent="-380673" lvl="0" marL="685791" rtl="0" algn="just">
              <a:lnSpc>
                <a:spcPct val="95000"/>
              </a:lnSpc>
              <a:spcBef>
                <a:spcPts val="0"/>
              </a:spcBef>
              <a:spcAft>
                <a:spcPts val="0"/>
              </a:spcAft>
              <a:buClr>
                <a:schemeClr val="dk1"/>
              </a:buClr>
              <a:buSzPts val="1495"/>
              <a:buFont typeface="Arial"/>
              <a:buChar char="●"/>
            </a:pPr>
            <a:r>
              <a:rPr lang="en-US" sz="2270">
                <a:latin typeface="Trebuchet MS"/>
                <a:ea typeface="Trebuchet MS"/>
                <a:cs typeface="Trebuchet MS"/>
                <a:sym typeface="Trebuchet MS"/>
              </a:rPr>
              <a:t>Suggestions from Review – 1 and changes incorporated</a:t>
            </a:r>
            <a:endParaRPr sz="2270"/>
          </a:p>
          <a:p>
            <a:pPr indent="-152082" lvl="0" marL="457200" rtl="0" algn="just">
              <a:lnSpc>
                <a:spcPct val="95000"/>
              </a:lnSpc>
              <a:spcBef>
                <a:spcPts val="0"/>
              </a:spcBef>
              <a:spcAft>
                <a:spcPts val="0"/>
              </a:spcAft>
              <a:buSzPts val="1495"/>
              <a:buChar char="●"/>
            </a:pPr>
            <a:r>
              <a:rPr lang="en-US" sz="2270">
                <a:latin typeface="Trebuchet MS"/>
                <a:ea typeface="Trebuchet MS"/>
                <a:cs typeface="Trebuchet MS"/>
                <a:sym typeface="Trebuchet MS"/>
              </a:rPr>
              <a:t>  Suggestions from Review – 2 and changes incorporated</a:t>
            </a:r>
            <a:endParaRPr sz="2270">
              <a:latin typeface="Trebuchet MS"/>
              <a:ea typeface="Trebuchet MS"/>
              <a:cs typeface="Trebuchet MS"/>
              <a:sym typeface="Trebuchet MS"/>
            </a:endParaRPr>
          </a:p>
          <a:p>
            <a:pPr indent="-152082" lvl="0" marL="457200" rtl="0" algn="just">
              <a:lnSpc>
                <a:spcPct val="95000"/>
              </a:lnSpc>
              <a:spcBef>
                <a:spcPts val="0"/>
              </a:spcBef>
              <a:spcAft>
                <a:spcPts val="0"/>
              </a:spcAft>
              <a:buSzPts val="1495"/>
              <a:buChar char="●"/>
            </a:pPr>
            <a:r>
              <a:rPr lang="en-US" sz="2270">
                <a:latin typeface="Trebuchet MS"/>
                <a:ea typeface="Trebuchet MS"/>
                <a:cs typeface="Trebuchet MS"/>
                <a:sym typeface="Trebuchet MS"/>
              </a:rPr>
              <a:t>  Research / Technology gap and Challenges</a:t>
            </a:r>
            <a:endParaRPr sz="2270">
              <a:latin typeface="Trebuchet MS"/>
              <a:ea typeface="Trebuchet MS"/>
              <a:cs typeface="Trebuchet MS"/>
              <a:sym typeface="Trebuchet MS"/>
            </a:endParaRPr>
          </a:p>
          <a:p>
            <a:pPr indent="-152082" lvl="0" marL="457200" rtl="0" algn="just">
              <a:lnSpc>
                <a:spcPct val="95000"/>
              </a:lnSpc>
              <a:spcBef>
                <a:spcPts val="0"/>
              </a:spcBef>
              <a:spcAft>
                <a:spcPts val="0"/>
              </a:spcAft>
              <a:buSzPts val="1495"/>
              <a:buChar char="●"/>
            </a:pPr>
            <a:r>
              <a:rPr lang="en-US" sz="2270">
                <a:latin typeface="Trebuchet MS"/>
                <a:ea typeface="Trebuchet MS"/>
                <a:cs typeface="Trebuchet MS"/>
                <a:sym typeface="Trebuchet MS"/>
              </a:rPr>
              <a:t>  Objectives</a:t>
            </a:r>
            <a:endParaRPr sz="2270">
              <a:latin typeface="Trebuchet MS"/>
              <a:ea typeface="Trebuchet MS"/>
              <a:cs typeface="Trebuchet MS"/>
              <a:sym typeface="Trebuchet MS"/>
            </a:endParaRPr>
          </a:p>
          <a:p>
            <a:pPr indent="-152082" lvl="0" marL="457200" rtl="0" algn="just">
              <a:lnSpc>
                <a:spcPct val="95000"/>
              </a:lnSpc>
              <a:spcBef>
                <a:spcPts val="0"/>
              </a:spcBef>
              <a:spcAft>
                <a:spcPts val="0"/>
              </a:spcAft>
              <a:buSzPts val="1495"/>
              <a:buChar char="●"/>
            </a:pPr>
            <a:r>
              <a:rPr lang="en-US" sz="2270">
                <a:latin typeface="Trebuchet MS"/>
                <a:ea typeface="Trebuchet MS"/>
                <a:cs typeface="Trebuchet MS"/>
                <a:sym typeface="Trebuchet MS"/>
              </a:rPr>
              <a:t>  Further Literature Survey (Extensive)</a:t>
            </a:r>
            <a:endParaRPr sz="2270">
              <a:latin typeface="Trebuchet MS"/>
              <a:ea typeface="Trebuchet MS"/>
              <a:cs typeface="Trebuchet MS"/>
              <a:sym typeface="Trebuchet MS"/>
            </a:endParaRPr>
          </a:p>
          <a:p>
            <a:pPr indent="-152082" lvl="0" marL="457200" rtl="0" algn="just">
              <a:lnSpc>
                <a:spcPct val="95000"/>
              </a:lnSpc>
              <a:spcBef>
                <a:spcPts val="0"/>
              </a:spcBef>
              <a:spcAft>
                <a:spcPts val="0"/>
              </a:spcAft>
              <a:buSzPts val="1495"/>
              <a:buChar char="●"/>
            </a:pPr>
            <a:r>
              <a:rPr lang="en-US" sz="2270">
                <a:latin typeface="Trebuchet MS"/>
                <a:ea typeface="Trebuchet MS"/>
                <a:cs typeface="Trebuchet MS"/>
                <a:sym typeface="Trebuchet MS"/>
              </a:rPr>
              <a:t>  Dataset exploration (if any)</a:t>
            </a:r>
            <a:endParaRPr sz="2270">
              <a:latin typeface="Trebuchet MS"/>
              <a:ea typeface="Trebuchet MS"/>
              <a:cs typeface="Trebuchet MS"/>
              <a:sym typeface="Trebuchet MS"/>
            </a:endParaRPr>
          </a:p>
          <a:p>
            <a:pPr indent="-152082" lvl="0" marL="457200" rtl="0" algn="just">
              <a:lnSpc>
                <a:spcPct val="95000"/>
              </a:lnSpc>
              <a:spcBef>
                <a:spcPts val="0"/>
              </a:spcBef>
              <a:spcAft>
                <a:spcPts val="0"/>
              </a:spcAft>
              <a:buSzPts val="1495"/>
              <a:buChar char="●"/>
            </a:pPr>
            <a:r>
              <a:rPr lang="en-US" sz="2270">
                <a:latin typeface="Trebuchet MS"/>
                <a:ea typeface="Trebuchet MS"/>
                <a:cs typeface="Trebuchet MS"/>
                <a:sym typeface="Trebuchet MS"/>
              </a:rPr>
              <a:t>  System Architecture(if any)</a:t>
            </a:r>
            <a:endParaRPr sz="2270">
              <a:latin typeface="Trebuchet MS"/>
              <a:ea typeface="Trebuchet MS"/>
              <a:cs typeface="Trebuchet MS"/>
              <a:sym typeface="Trebuchet MS"/>
            </a:endParaRPr>
          </a:p>
          <a:p>
            <a:pPr indent="-152082" lvl="0" marL="457200" rtl="0" algn="just">
              <a:lnSpc>
                <a:spcPct val="95000"/>
              </a:lnSpc>
              <a:spcBef>
                <a:spcPts val="0"/>
              </a:spcBef>
              <a:spcAft>
                <a:spcPts val="0"/>
              </a:spcAft>
              <a:buSzPts val="1495"/>
              <a:buChar char="●"/>
            </a:pPr>
            <a:r>
              <a:rPr lang="en-US" sz="2270">
                <a:latin typeface="Trebuchet MS"/>
                <a:ea typeface="Trebuchet MS"/>
                <a:cs typeface="Trebuchet MS"/>
                <a:sym typeface="Trebuchet MS"/>
              </a:rPr>
              <a:t>  References</a:t>
            </a:r>
            <a:endParaRPr sz="2270">
              <a:latin typeface="Trebuchet MS"/>
              <a:ea typeface="Trebuchet MS"/>
              <a:cs typeface="Trebuchet MS"/>
              <a:sym typeface="Trebuchet MS"/>
            </a:endParaRPr>
          </a:p>
          <a:p>
            <a:pPr indent="-152082" lvl="0" marL="457200" rtl="0" algn="just">
              <a:lnSpc>
                <a:spcPct val="95000"/>
              </a:lnSpc>
              <a:spcBef>
                <a:spcPts val="0"/>
              </a:spcBef>
              <a:spcAft>
                <a:spcPts val="0"/>
              </a:spcAft>
              <a:buSzPts val="1495"/>
              <a:buFont typeface="Trebuchet MS"/>
              <a:buChar char="●"/>
            </a:pPr>
            <a:r>
              <a:rPr lang="en-US" sz="2270">
                <a:latin typeface="Trebuchet MS"/>
                <a:ea typeface="Trebuchet MS"/>
                <a:cs typeface="Trebuchet MS"/>
                <a:sym typeface="Trebuchet MS"/>
              </a:rPr>
              <a:t>  Any other Information</a:t>
            </a:r>
            <a:endParaRPr sz="2270">
              <a:latin typeface="Trebuchet MS"/>
              <a:ea typeface="Trebuchet MS"/>
              <a:cs typeface="Trebuchet MS"/>
              <a:sym typeface="Trebuchet MS"/>
            </a:endParaRPr>
          </a:p>
          <a:p>
            <a:pPr indent="0" lvl="0" marL="0" rtl="0" algn="ctr">
              <a:lnSpc>
                <a:spcPct val="100000"/>
              </a:lnSpc>
              <a:spcBef>
                <a:spcPts val="0"/>
              </a:spcBef>
              <a:spcAft>
                <a:spcPts val="0"/>
              </a:spcAft>
              <a:buNone/>
            </a:pPr>
            <a:r>
              <a:rPr lang="en-US" sz="1400">
                <a:solidFill>
                  <a:srgbClr val="000000"/>
                </a:solidFill>
              </a:rPr>
              <a:t>Hrishita Patra_Srishti Mathur_Suhani Verma_Dhruva R Prasad</a:t>
            </a:r>
            <a:endParaRPr sz="1400">
              <a:solidFill>
                <a:srgbClr val="000000"/>
              </a:solidFill>
            </a:endParaRPr>
          </a:p>
          <a:p>
            <a:pPr indent="0" lvl="0" marL="0" rtl="0" algn="ctr">
              <a:lnSpc>
                <a:spcPct val="100000"/>
              </a:lnSpc>
              <a:spcBef>
                <a:spcPts val="0"/>
              </a:spcBef>
              <a:spcAft>
                <a:spcPts val="0"/>
              </a:spcAft>
              <a:buNone/>
            </a:pPr>
            <a:r>
              <a:t/>
            </a:r>
            <a:endParaRPr sz="1400">
              <a:solidFill>
                <a:srgbClr val="000000"/>
              </a:solidFill>
            </a:endParaRPr>
          </a:p>
          <a:p>
            <a:pPr indent="0" lvl="0" marL="457200" rtl="0" algn="just">
              <a:lnSpc>
                <a:spcPct val="95000"/>
              </a:lnSpc>
              <a:spcBef>
                <a:spcPts val="0"/>
              </a:spcBef>
              <a:spcAft>
                <a:spcPts val="0"/>
              </a:spcAft>
              <a:buSzPts val="1800"/>
              <a:buNone/>
            </a:pPr>
            <a:r>
              <a:t/>
            </a:r>
            <a:endParaRPr sz="2270">
              <a:latin typeface="Trebuchet MS"/>
              <a:ea typeface="Trebuchet MS"/>
              <a:cs typeface="Trebuchet MS"/>
              <a:sym typeface="Trebuchet MS"/>
            </a:endParaRPr>
          </a:p>
          <a:p>
            <a:pPr indent="285750" lvl="0" marL="285750" rtl="0" algn="just">
              <a:lnSpc>
                <a:spcPct val="95000"/>
              </a:lnSpc>
              <a:spcBef>
                <a:spcPts val="0"/>
              </a:spcBef>
              <a:spcAft>
                <a:spcPts val="0"/>
              </a:spcAft>
              <a:buSzPts val="852"/>
              <a:buNone/>
            </a:pPr>
            <a:r>
              <a:rPr lang="en-US" sz="2270">
                <a:latin typeface="Trebuchet MS"/>
                <a:ea typeface="Trebuchet MS"/>
                <a:cs typeface="Trebuchet MS"/>
                <a:sym typeface="Trebuchet MS"/>
              </a:rPr>
              <a:t>      </a:t>
            </a:r>
            <a:endParaRPr sz="2270">
              <a:latin typeface="Trebuchet MS"/>
              <a:ea typeface="Trebuchet MS"/>
              <a:cs typeface="Trebuchet MS"/>
              <a:sym typeface="Trebuchet MS"/>
            </a:endParaRPr>
          </a:p>
        </p:txBody>
      </p:sp>
      <p:pic>
        <p:nvPicPr>
          <p:cNvPr id="101" name="Google Shape;101;p2"/>
          <p:cNvPicPr preferRelativeResize="0"/>
          <p:nvPr/>
        </p:nvPicPr>
        <p:blipFill rotWithShape="1">
          <a:blip r:embed="rId3">
            <a:alphaModFix/>
          </a:blip>
          <a:srcRect b="0" l="0" r="0" t="0"/>
          <a:stretch/>
        </p:blipFill>
        <p:spPr>
          <a:xfrm>
            <a:off x="10458001" y="182984"/>
            <a:ext cx="1295399" cy="1025106"/>
          </a:xfrm>
          <a:prstGeom prst="rect">
            <a:avLst/>
          </a:prstGeom>
          <a:noFill/>
          <a:ln>
            <a:noFill/>
          </a:ln>
        </p:spPr>
      </p:pic>
      <p:sp>
        <p:nvSpPr>
          <p:cNvPr id="102" name="Google Shape;102;p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03" name="Google Shape;103;p2"/>
          <p:cNvSpPr txBox="1"/>
          <p:nvPr/>
        </p:nvSpPr>
        <p:spPr>
          <a:xfrm>
            <a:off x="76200" y="100525"/>
            <a:ext cx="52407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888888"/>
              </a:solidFill>
              <a:latin typeface="Arial"/>
              <a:ea typeface="Arial"/>
              <a:cs typeface="Arial"/>
              <a:sym typeface="Arial"/>
            </a:endParaRPr>
          </a:p>
        </p:txBody>
      </p:sp>
      <p:sp>
        <p:nvSpPr>
          <p:cNvPr id="104" name="Google Shape;104;p2"/>
          <p:cNvSpPr/>
          <p:nvPr/>
        </p:nvSpPr>
        <p:spPr>
          <a:xfrm>
            <a:off x="1935775" y="6431375"/>
            <a:ext cx="7373700" cy="3651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5"/>
              </a:buClr>
              <a:buSzPts val="4000"/>
              <a:buFont typeface="Calibri"/>
              <a:buNone/>
            </a:pPr>
            <a:r>
              <a:rPr b="1" lang="en-US" sz="4000">
                <a:solidFill>
                  <a:schemeClr val="accent5"/>
                </a:solidFill>
              </a:rPr>
              <a:t>Introduction</a:t>
            </a:r>
            <a:endParaRPr b="1">
              <a:solidFill>
                <a:schemeClr val="accent5"/>
              </a:solidFill>
            </a:endParaRPr>
          </a:p>
        </p:txBody>
      </p:sp>
      <p:sp>
        <p:nvSpPr>
          <p:cNvPr id="110" name="Google Shape;110;p3"/>
          <p:cNvSpPr txBox="1"/>
          <p:nvPr/>
        </p:nvSpPr>
        <p:spPr>
          <a:xfrm>
            <a:off x="2057400" y="2209800"/>
            <a:ext cx="8077200" cy="3527100"/>
          </a:xfrm>
          <a:prstGeom prst="rect">
            <a:avLst/>
          </a:prstGeom>
          <a:noFill/>
          <a:ln>
            <a:noFill/>
          </a:ln>
        </p:spPr>
        <p:txBody>
          <a:bodyPr anchorCtr="0" anchor="t" bIns="45700" lIns="91425" spcFirstLastPara="1" rIns="91425" wrap="square" tIns="45700">
            <a:noAutofit/>
          </a:bodyPr>
          <a:lstStyle/>
          <a:p>
            <a:pPr indent="-342900" lvl="0" marL="685791" marR="0" rtl="0" algn="just">
              <a:lnSpc>
                <a:spcPct val="100000"/>
              </a:lnSpc>
              <a:spcBef>
                <a:spcPts val="0"/>
              </a:spcBef>
              <a:spcAft>
                <a:spcPts val="0"/>
              </a:spcAft>
              <a:buClr>
                <a:srgbClr val="000000"/>
              </a:buClr>
              <a:buSzPts val="2400"/>
              <a:buFont typeface="Arial"/>
              <a:buNone/>
            </a:pPr>
            <a:r>
              <a:t/>
            </a:r>
            <a:endParaRPr b="0" i="0" sz="2400" u="none" cap="none" strike="noStrike">
              <a:solidFill>
                <a:srgbClr val="0033CC"/>
              </a:solidFill>
              <a:latin typeface="Trebuchet MS"/>
              <a:ea typeface="Trebuchet MS"/>
              <a:cs typeface="Trebuchet MS"/>
              <a:sym typeface="Trebuchet MS"/>
            </a:endParaRPr>
          </a:p>
        </p:txBody>
      </p:sp>
      <p:sp>
        <p:nvSpPr>
          <p:cNvPr id="111" name="Google Shape;111;p3"/>
          <p:cNvSpPr txBox="1"/>
          <p:nvPr>
            <p:ph idx="1" type="body"/>
          </p:nvPr>
        </p:nvSpPr>
        <p:spPr>
          <a:xfrm>
            <a:off x="838200" y="1978025"/>
            <a:ext cx="10515600" cy="4351200"/>
          </a:xfrm>
          <a:prstGeom prst="rect">
            <a:avLst/>
          </a:prstGeom>
          <a:noFill/>
          <a:ln>
            <a:noFill/>
          </a:ln>
        </p:spPr>
        <p:txBody>
          <a:bodyPr anchorCtr="0" anchor="t" bIns="45700" lIns="91425" spcFirstLastPara="1" rIns="91425" wrap="square" tIns="45700">
            <a:normAutofit/>
          </a:bodyPr>
          <a:lstStyle/>
          <a:p>
            <a:pPr indent="0" lvl="0" marL="457200" rtl="0" algn="l">
              <a:lnSpc>
                <a:spcPct val="150000"/>
              </a:lnSpc>
              <a:spcBef>
                <a:spcPts val="1200"/>
              </a:spcBef>
              <a:spcAft>
                <a:spcPts val="0"/>
              </a:spcAft>
              <a:buNone/>
            </a:pPr>
            <a:r>
              <a:rPr lang="en-US" sz="1600">
                <a:highlight>
                  <a:srgbClr val="FFFFFF"/>
                </a:highlight>
                <a:latin typeface="Times New Roman"/>
                <a:ea typeface="Times New Roman"/>
                <a:cs typeface="Times New Roman"/>
                <a:sym typeface="Times New Roman"/>
              </a:rPr>
              <a:t>Generative AI Marketing by Sales Anomaly Detection innovatively combines techniques of machine learning with strategic business intelligence. </a:t>
            </a:r>
            <a:endParaRPr sz="1600">
              <a:highlight>
                <a:srgbClr val="FFFFFF"/>
              </a:highlight>
              <a:latin typeface="Times New Roman"/>
              <a:ea typeface="Times New Roman"/>
              <a:cs typeface="Times New Roman"/>
              <a:sym typeface="Times New Roman"/>
            </a:endParaRPr>
          </a:p>
          <a:p>
            <a:pPr indent="0" lvl="0" marL="457200" rtl="0" algn="l">
              <a:lnSpc>
                <a:spcPct val="150000"/>
              </a:lnSpc>
              <a:spcBef>
                <a:spcPts val="1200"/>
              </a:spcBef>
              <a:spcAft>
                <a:spcPts val="0"/>
              </a:spcAft>
              <a:buNone/>
            </a:pPr>
            <a:r>
              <a:rPr b="1" lang="en-US" sz="1800">
                <a:highlight>
                  <a:srgbClr val="FFFFFF"/>
                </a:highlight>
                <a:latin typeface="Times New Roman"/>
                <a:ea typeface="Times New Roman"/>
                <a:cs typeface="Times New Roman"/>
                <a:sym typeface="Times New Roman"/>
              </a:rPr>
              <a:t>What could these anomalies indicat</a:t>
            </a:r>
            <a:r>
              <a:rPr b="1" lang="en-US" sz="1800">
                <a:highlight>
                  <a:srgbClr val="FFFFFF"/>
                </a:highlight>
                <a:latin typeface="Times New Roman"/>
                <a:ea typeface="Times New Roman"/>
                <a:cs typeface="Times New Roman"/>
                <a:sym typeface="Times New Roman"/>
              </a:rPr>
              <a:t>e?</a:t>
            </a:r>
            <a:endParaRPr b="1" sz="1800">
              <a:highlight>
                <a:srgbClr val="FFFFFF"/>
              </a:highlight>
              <a:latin typeface="Times New Roman"/>
              <a:ea typeface="Times New Roman"/>
              <a:cs typeface="Times New Roman"/>
              <a:sym typeface="Times New Roman"/>
            </a:endParaRPr>
          </a:p>
          <a:p>
            <a:pPr indent="-50800" lvl="0" marL="228600" rtl="0" algn="l">
              <a:lnSpc>
                <a:spcPct val="90000"/>
              </a:lnSpc>
              <a:spcBef>
                <a:spcPts val="1200"/>
              </a:spcBef>
              <a:spcAft>
                <a:spcPts val="0"/>
              </a:spcAft>
              <a:buClr>
                <a:schemeClr val="dk1"/>
              </a:buClr>
              <a:buSzPts val="2800"/>
              <a:buNone/>
            </a:pPr>
            <a:r>
              <a:t/>
            </a:r>
            <a:endParaRPr/>
          </a:p>
        </p:txBody>
      </p:sp>
      <p:sp>
        <p:nvSpPr>
          <p:cNvPr id="112" name="Google Shape;112;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113" name="Google Shape;113;p3"/>
          <p:cNvPicPr preferRelativeResize="0"/>
          <p:nvPr/>
        </p:nvPicPr>
        <p:blipFill>
          <a:blip r:embed="rId3">
            <a:alphaModFix/>
          </a:blip>
          <a:stretch>
            <a:fillRect/>
          </a:stretch>
        </p:blipFill>
        <p:spPr>
          <a:xfrm>
            <a:off x="1398875" y="3528805"/>
            <a:ext cx="3174624" cy="2208231"/>
          </a:xfrm>
          <a:prstGeom prst="rect">
            <a:avLst/>
          </a:prstGeom>
          <a:noFill/>
          <a:ln>
            <a:noFill/>
          </a:ln>
        </p:spPr>
      </p:pic>
      <p:sp>
        <p:nvSpPr>
          <p:cNvPr id="114" name="Google Shape;114;p3"/>
          <p:cNvSpPr/>
          <p:nvPr/>
        </p:nvSpPr>
        <p:spPr>
          <a:xfrm>
            <a:off x="4982700" y="3621375"/>
            <a:ext cx="2876100" cy="1755600"/>
          </a:xfrm>
          <a:prstGeom prst="rect">
            <a:avLst/>
          </a:prstGeom>
          <a:solidFill>
            <a:srgbClr val="FFE59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700">
                <a:latin typeface="Calibri"/>
                <a:ea typeface="Calibri"/>
                <a:cs typeface="Calibri"/>
                <a:sym typeface="Calibri"/>
              </a:rPr>
              <a:t>Ineffective Sales Strategies</a:t>
            </a:r>
            <a:endParaRPr sz="1800">
              <a:latin typeface="Calibri"/>
              <a:ea typeface="Calibri"/>
              <a:cs typeface="Calibri"/>
              <a:sym typeface="Calibri"/>
            </a:endParaRPr>
          </a:p>
        </p:txBody>
      </p:sp>
      <p:sp>
        <p:nvSpPr>
          <p:cNvPr id="115" name="Google Shape;115;p3"/>
          <p:cNvSpPr/>
          <p:nvPr/>
        </p:nvSpPr>
        <p:spPr>
          <a:xfrm>
            <a:off x="8179200" y="3647925"/>
            <a:ext cx="3174600" cy="1702500"/>
          </a:xfrm>
          <a:prstGeom prst="rect">
            <a:avLst/>
          </a:prstGeom>
          <a:solidFill>
            <a:srgbClr val="B6D7A8"/>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700">
                <a:latin typeface="Calibri"/>
                <a:ea typeface="Calibri"/>
                <a:cs typeface="Calibri"/>
                <a:sym typeface="Calibri"/>
              </a:rPr>
              <a:t>Current Trends</a:t>
            </a:r>
            <a:endParaRPr sz="1700">
              <a:latin typeface="Calibri"/>
              <a:ea typeface="Calibri"/>
              <a:cs typeface="Calibri"/>
              <a:sym typeface="Calibri"/>
            </a:endParaRPr>
          </a:p>
        </p:txBody>
      </p:sp>
      <p:sp>
        <p:nvSpPr>
          <p:cNvPr id="116" name="Google Shape;116;p3"/>
          <p:cNvSpPr/>
          <p:nvPr/>
        </p:nvSpPr>
        <p:spPr>
          <a:xfrm>
            <a:off x="3502225" y="6354950"/>
            <a:ext cx="5425200" cy="420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17" name="Google Shape;117;p3"/>
          <p:cNvSpPr/>
          <p:nvPr/>
        </p:nvSpPr>
        <p:spPr>
          <a:xfrm>
            <a:off x="2757200" y="6393150"/>
            <a:ext cx="6093900" cy="3492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Hrishita Patra_Srishti Mathur_Suhani Verma_Dhruva R Prasad</a:t>
            </a:r>
            <a:endParaRPr>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g31a9d1a8de3_0_6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Problem Statement</a:t>
            </a:r>
            <a:endParaRPr/>
          </a:p>
        </p:txBody>
      </p:sp>
      <p:sp>
        <p:nvSpPr>
          <p:cNvPr id="124" name="Google Shape;124;g31a9d1a8de3_0_66"/>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lnSpc>
                <a:spcPct val="100000"/>
              </a:lnSpc>
              <a:spcBef>
                <a:spcPts val="0"/>
              </a:spcBef>
              <a:spcAft>
                <a:spcPts val="0"/>
              </a:spcAft>
              <a:buNone/>
            </a:pPr>
            <a:r>
              <a:rPr lang="en-US" sz="2600">
                <a:solidFill>
                  <a:srgbClr val="000000"/>
                </a:solidFill>
              </a:rPr>
              <a:t>What our project aims to do:</a:t>
            </a:r>
            <a:endParaRPr sz="2600">
              <a:solidFill>
                <a:srgbClr val="000000"/>
              </a:solidFill>
            </a:endParaRPr>
          </a:p>
          <a:p>
            <a:pPr indent="0" lvl="0" marL="0" rtl="0" algn="l">
              <a:spcBef>
                <a:spcPts val="1000"/>
              </a:spcBef>
              <a:spcAft>
                <a:spcPts val="0"/>
              </a:spcAft>
              <a:buNone/>
            </a:pPr>
            <a:r>
              <a:t/>
            </a:r>
            <a:endParaRPr/>
          </a:p>
        </p:txBody>
      </p:sp>
      <p:sp>
        <p:nvSpPr>
          <p:cNvPr id="125" name="Google Shape;125;g31a9d1a8de3_0_66"/>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pic>
        <p:nvPicPr>
          <p:cNvPr id="126" name="Google Shape;126;g31a9d1a8de3_0_66"/>
          <p:cNvPicPr preferRelativeResize="0"/>
          <p:nvPr/>
        </p:nvPicPr>
        <p:blipFill>
          <a:blip r:embed="rId3">
            <a:alphaModFix/>
          </a:blip>
          <a:stretch>
            <a:fillRect/>
          </a:stretch>
        </p:blipFill>
        <p:spPr>
          <a:xfrm>
            <a:off x="958188" y="2990113"/>
            <a:ext cx="9953625" cy="2066925"/>
          </a:xfrm>
          <a:prstGeom prst="rect">
            <a:avLst/>
          </a:prstGeom>
          <a:noFill/>
          <a:ln>
            <a:noFill/>
          </a:ln>
        </p:spPr>
      </p:pic>
      <p:sp>
        <p:nvSpPr>
          <p:cNvPr id="127" name="Google Shape;127;g31a9d1a8de3_0_66"/>
          <p:cNvSpPr/>
          <p:nvPr/>
        </p:nvSpPr>
        <p:spPr>
          <a:xfrm>
            <a:off x="3674150" y="6316750"/>
            <a:ext cx="4412700" cy="439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28" name="Google Shape;128;g31a9d1a8de3_0_66"/>
          <p:cNvSpPr/>
          <p:nvPr/>
        </p:nvSpPr>
        <p:spPr>
          <a:xfrm>
            <a:off x="2757200" y="6393150"/>
            <a:ext cx="6093900" cy="3492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Hrishita Patra_Srishti Mathur_Suhani Verma_Dhruva R Prasad</a:t>
            </a:r>
            <a:endParaRPr>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g31a9d1a8de3_0_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ABSTRACT</a:t>
            </a:r>
            <a:endParaRPr/>
          </a:p>
        </p:txBody>
      </p:sp>
      <p:sp>
        <p:nvSpPr>
          <p:cNvPr id="135" name="Google Shape;135;g31a9d1a8de3_0_0"/>
          <p:cNvSpPr txBox="1"/>
          <p:nvPr>
            <p:ph idx="1" type="body"/>
          </p:nvPr>
        </p:nvSpPr>
        <p:spPr>
          <a:xfrm>
            <a:off x="316125" y="1600413"/>
            <a:ext cx="6828600" cy="4351200"/>
          </a:xfrm>
          <a:prstGeom prst="rect">
            <a:avLst/>
          </a:prstGeom>
        </p:spPr>
        <p:txBody>
          <a:bodyPr anchorCtr="0" anchor="t" bIns="45700" lIns="91425" spcFirstLastPara="1" rIns="91425" wrap="square" tIns="45700">
            <a:noAutofit/>
          </a:bodyPr>
          <a:lstStyle/>
          <a:p>
            <a:pPr indent="0" lvl="0" marL="0" rtl="0" algn="just">
              <a:lnSpc>
                <a:spcPct val="150000"/>
              </a:lnSpc>
              <a:spcBef>
                <a:spcPts val="0"/>
              </a:spcBef>
              <a:spcAft>
                <a:spcPts val="0"/>
              </a:spcAft>
              <a:buClr>
                <a:schemeClr val="dk1"/>
              </a:buClr>
              <a:buSzPts val="1100"/>
              <a:buFont typeface="Arial"/>
              <a:buNone/>
            </a:pPr>
            <a:r>
              <a:rPr lang="en-US" sz="1700">
                <a:solidFill>
                  <a:srgbClr val="00000A"/>
                </a:solidFill>
                <a:latin typeface="Times New Roman"/>
                <a:ea typeface="Times New Roman"/>
                <a:cs typeface="Times New Roman"/>
                <a:sym typeface="Times New Roman"/>
              </a:rPr>
              <a:t>Anomaly detection is crucial for understanding patterns that deviate from the norm, especially within sales data, where underperformance may indicate strategic or operational gaps. An unusual dip in sales for a functionally sound product/service could indicate a lack in effective and attractive marketing.</a:t>
            </a:r>
            <a:endParaRPr sz="1700">
              <a:solidFill>
                <a:srgbClr val="00000A"/>
              </a:solidFill>
              <a:latin typeface="Times New Roman"/>
              <a:ea typeface="Times New Roman"/>
              <a:cs typeface="Times New Roman"/>
              <a:sym typeface="Times New Roman"/>
            </a:endParaRPr>
          </a:p>
          <a:p>
            <a:pPr indent="0" lvl="0" marL="0" rtl="0" algn="just">
              <a:lnSpc>
                <a:spcPct val="150000"/>
              </a:lnSpc>
              <a:spcBef>
                <a:spcPts val="0"/>
              </a:spcBef>
              <a:spcAft>
                <a:spcPts val="0"/>
              </a:spcAft>
              <a:buClr>
                <a:schemeClr val="dk1"/>
              </a:buClr>
              <a:buSzPts val="1100"/>
              <a:buFont typeface="Arial"/>
              <a:buNone/>
            </a:pPr>
            <a:r>
              <a:rPr lang="en-US" sz="1700">
                <a:solidFill>
                  <a:srgbClr val="00000A"/>
                </a:solidFill>
                <a:latin typeface="Times New Roman"/>
                <a:ea typeface="Times New Roman"/>
                <a:cs typeface="Times New Roman"/>
                <a:sym typeface="Times New Roman"/>
              </a:rPr>
              <a:t>An early detection of such dips through Machine learning and graphical methods ,and correspondingly working on using an effective prompt strategy for a generative AI model to develop suitable ads will provide for an integrated workflow.</a:t>
            </a:r>
            <a:endParaRPr sz="1700">
              <a:solidFill>
                <a:srgbClr val="00000A"/>
              </a:solidFill>
              <a:latin typeface="Times New Roman"/>
              <a:ea typeface="Times New Roman"/>
              <a:cs typeface="Times New Roman"/>
              <a:sym typeface="Times New Roman"/>
            </a:endParaRPr>
          </a:p>
          <a:p>
            <a:pPr indent="0" lvl="0" marL="0" rtl="0" algn="just">
              <a:lnSpc>
                <a:spcPct val="150000"/>
              </a:lnSpc>
              <a:spcBef>
                <a:spcPts val="0"/>
              </a:spcBef>
              <a:spcAft>
                <a:spcPts val="0"/>
              </a:spcAft>
              <a:buClr>
                <a:schemeClr val="dk1"/>
              </a:buClr>
              <a:buSzPts val="1100"/>
              <a:buFont typeface="Arial"/>
              <a:buNone/>
            </a:pPr>
            <a:r>
              <a:rPr lang="en-US" sz="1700">
                <a:solidFill>
                  <a:srgbClr val="00000A"/>
                </a:solidFill>
                <a:latin typeface="Times New Roman"/>
                <a:ea typeface="Times New Roman"/>
                <a:cs typeface="Times New Roman"/>
                <a:sym typeface="Times New Roman"/>
              </a:rPr>
              <a:t>Prompts could be used to generate an intermediate stage of contextually relevant text using LLMs which could be integrated with a GAN technology to develop static image advertisements.</a:t>
            </a:r>
            <a:endParaRPr sz="1700">
              <a:solidFill>
                <a:srgbClr val="00000A"/>
              </a:solidFill>
              <a:latin typeface="Times New Roman"/>
              <a:ea typeface="Times New Roman"/>
              <a:cs typeface="Times New Roman"/>
              <a:sym typeface="Times New Roman"/>
            </a:endParaRPr>
          </a:p>
          <a:p>
            <a:pPr indent="0" lvl="0" marL="0" rtl="0" algn="just">
              <a:lnSpc>
                <a:spcPct val="150000"/>
              </a:lnSpc>
              <a:spcBef>
                <a:spcPts val="0"/>
              </a:spcBef>
              <a:spcAft>
                <a:spcPts val="0"/>
              </a:spcAft>
              <a:buClr>
                <a:schemeClr val="dk1"/>
              </a:buClr>
              <a:buSzPts val="1100"/>
              <a:buFont typeface="Arial"/>
              <a:buNone/>
            </a:pPr>
            <a:r>
              <a:t/>
            </a:r>
            <a:endParaRPr sz="1700">
              <a:solidFill>
                <a:srgbClr val="00000A"/>
              </a:solidFill>
              <a:latin typeface="Times New Roman"/>
              <a:ea typeface="Times New Roman"/>
              <a:cs typeface="Times New Roman"/>
              <a:sym typeface="Times New Roman"/>
            </a:endParaRPr>
          </a:p>
          <a:p>
            <a:pPr indent="0" lvl="0" marL="0" rtl="0" algn="l">
              <a:spcBef>
                <a:spcPts val="1000"/>
              </a:spcBef>
              <a:spcAft>
                <a:spcPts val="0"/>
              </a:spcAft>
              <a:buNone/>
            </a:pPr>
            <a:r>
              <a:t/>
            </a:r>
            <a:endParaRPr sz="3700"/>
          </a:p>
        </p:txBody>
      </p:sp>
      <p:sp>
        <p:nvSpPr>
          <p:cNvPr id="136" name="Google Shape;136;g31a9d1a8de3_0_0"/>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pic>
        <p:nvPicPr>
          <p:cNvPr id="137" name="Google Shape;137;g31a9d1a8de3_0_0"/>
          <p:cNvPicPr preferRelativeResize="0"/>
          <p:nvPr/>
        </p:nvPicPr>
        <p:blipFill>
          <a:blip r:embed="rId3">
            <a:alphaModFix/>
          </a:blip>
          <a:stretch>
            <a:fillRect/>
          </a:stretch>
        </p:blipFill>
        <p:spPr>
          <a:xfrm>
            <a:off x="7437150" y="2053375"/>
            <a:ext cx="4315899" cy="2596793"/>
          </a:xfrm>
          <a:prstGeom prst="rect">
            <a:avLst/>
          </a:prstGeom>
          <a:noFill/>
          <a:ln>
            <a:noFill/>
          </a:ln>
        </p:spPr>
      </p:pic>
      <p:sp>
        <p:nvSpPr>
          <p:cNvPr id="138" name="Google Shape;138;g31a9d1a8de3_0_0"/>
          <p:cNvSpPr/>
          <p:nvPr/>
        </p:nvSpPr>
        <p:spPr>
          <a:xfrm>
            <a:off x="3846075" y="6374050"/>
            <a:ext cx="4470000" cy="365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39" name="Google Shape;139;g31a9d1a8de3_0_0"/>
          <p:cNvSpPr/>
          <p:nvPr/>
        </p:nvSpPr>
        <p:spPr>
          <a:xfrm>
            <a:off x="2757200" y="6393150"/>
            <a:ext cx="6093900" cy="3492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Hrishita Patra_Srishti Mathur_Suhani Verma_Dhruva R Prasad</a:t>
            </a:r>
            <a:endParaRPr>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g31aa606e22d_0_14"/>
          <p:cNvSpPr txBox="1"/>
          <p:nvPr>
            <p:ph idx="1" type="body"/>
          </p:nvPr>
        </p:nvSpPr>
        <p:spPr>
          <a:xfrm>
            <a:off x="542900" y="1531800"/>
            <a:ext cx="9672900" cy="5013300"/>
          </a:xfrm>
          <a:prstGeom prst="rect">
            <a:avLst/>
          </a:prstGeom>
        </p:spPr>
        <p:txBody>
          <a:bodyPr anchorCtr="0" anchor="t" bIns="45700" lIns="91425" spcFirstLastPara="1" rIns="91425" wrap="square" tIns="45700">
            <a:noAutofit/>
          </a:bodyPr>
          <a:lstStyle/>
          <a:p>
            <a:pPr indent="0" lvl="0" marL="0" rtl="0" algn="l">
              <a:lnSpc>
                <a:spcPct val="130000"/>
              </a:lnSpc>
              <a:spcBef>
                <a:spcPts val="1400"/>
              </a:spcBef>
              <a:spcAft>
                <a:spcPts val="0"/>
              </a:spcAft>
              <a:buSzPts val="935"/>
              <a:buNone/>
            </a:pPr>
            <a:r>
              <a:rPr b="1" lang="en-US" sz="2200">
                <a:latin typeface="Times New Roman"/>
                <a:ea typeface="Times New Roman"/>
                <a:cs typeface="Times New Roman"/>
                <a:sym typeface="Times New Roman"/>
              </a:rPr>
              <a:t>1)</a:t>
            </a:r>
            <a:r>
              <a:rPr b="1" lang="en-US" sz="2150">
                <a:highlight>
                  <a:srgbClr val="FFFFFF"/>
                </a:highlight>
                <a:latin typeface="Times New Roman"/>
                <a:ea typeface="Times New Roman"/>
                <a:cs typeface="Times New Roman"/>
                <a:sym typeface="Times New Roman"/>
              </a:rPr>
              <a:t>Deep Learning for Anomaly Detection: A Review</a:t>
            </a:r>
            <a:endParaRPr b="1" sz="2150">
              <a:latin typeface="Times New Roman"/>
              <a:ea typeface="Times New Roman"/>
              <a:cs typeface="Times New Roman"/>
              <a:sym typeface="Times New Roman"/>
            </a:endParaRPr>
          </a:p>
          <a:p>
            <a:pPr indent="0" lvl="0" marL="0" rtl="0" algn="l">
              <a:lnSpc>
                <a:spcPct val="130000"/>
              </a:lnSpc>
              <a:spcBef>
                <a:spcPts val="1400"/>
              </a:spcBef>
              <a:spcAft>
                <a:spcPts val="0"/>
              </a:spcAft>
              <a:buSzPts val="935"/>
              <a:buNone/>
            </a:pPr>
            <a:r>
              <a:rPr b="1" lang="en-US" sz="2200">
                <a:latin typeface="Times New Roman"/>
                <a:ea typeface="Times New Roman"/>
                <a:cs typeface="Times New Roman"/>
                <a:sym typeface="Times New Roman"/>
              </a:rPr>
              <a:t>Authors:</a:t>
            </a:r>
            <a:r>
              <a:rPr lang="en-US" sz="2200">
                <a:latin typeface="Times New Roman"/>
                <a:ea typeface="Times New Roman"/>
                <a:cs typeface="Times New Roman"/>
                <a:sym typeface="Times New Roman"/>
              </a:rPr>
              <a:t> </a:t>
            </a:r>
            <a:r>
              <a:rPr lang="en-US" sz="2050">
                <a:highlight>
                  <a:srgbClr val="FFFFFF"/>
                </a:highlight>
                <a:latin typeface="Times New Roman"/>
                <a:ea typeface="Times New Roman"/>
                <a:cs typeface="Times New Roman"/>
                <a:sym typeface="Times New Roman"/>
              </a:rPr>
              <a:t>Guansong Pang,Chunhua Shen, Longbing Cao, Anton Van den Hengel</a:t>
            </a:r>
            <a:endParaRPr sz="2200">
              <a:latin typeface="Times New Roman"/>
              <a:ea typeface="Times New Roman"/>
              <a:cs typeface="Times New Roman"/>
              <a:sym typeface="Times New Roman"/>
            </a:endParaRPr>
          </a:p>
          <a:p>
            <a:pPr indent="0" lvl="0" marL="0" rtl="0" algn="l">
              <a:lnSpc>
                <a:spcPct val="130000"/>
              </a:lnSpc>
              <a:spcBef>
                <a:spcPts val="1400"/>
              </a:spcBef>
              <a:spcAft>
                <a:spcPts val="0"/>
              </a:spcAft>
              <a:buSzPts val="935"/>
              <a:buNone/>
            </a:pPr>
            <a:r>
              <a:rPr b="1" lang="en-US" sz="2090">
                <a:latin typeface="Times New Roman"/>
                <a:ea typeface="Times New Roman"/>
                <a:cs typeface="Times New Roman"/>
                <a:sym typeface="Times New Roman"/>
              </a:rPr>
              <a:t>Problem Addressed</a:t>
            </a:r>
            <a:endParaRPr b="1" sz="2090">
              <a:latin typeface="Times New Roman"/>
              <a:ea typeface="Times New Roman"/>
              <a:cs typeface="Times New Roman"/>
              <a:sym typeface="Times New Roman"/>
            </a:endParaRPr>
          </a:p>
          <a:p>
            <a:pPr indent="0" lvl="0" marL="457200" rtl="0" algn="just">
              <a:lnSpc>
                <a:spcPct val="150000"/>
              </a:lnSpc>
              <a:spcBef>
                <a:spcPts val="0"/>
              </a:spcBef>
              <a:spcAft>
                <a:spcPts val="0"/>
              </a:spcAft>
              <a:buSzPts val="1100"/>
              <a:buNone/>
            </a:pPr>
            <a:r>
              <a:rPr lang="en-US" sz="1900">
                <a:latin typeface="Times New Roman"/>
                <a:ea typeface="Times New Roman"/>
                <a:cs typeface="Times New Roman"/>
                <a:sym typeface="Times New Roman"/>
              </a:rPr>
              <a:t>Anomaly detection involves identifying data points or sets that deviate significantly from the majority.</a:t>
            </a:r>
            <a:r>
              <a:rPr lang="en-US" sz="1900">
                <a:latin typeface="Times New Roman"/>
                <a:ea typeface="Times New Roman"/>
                <a:cs typeface="Times New Roman"/>
                <a:sym typeface="Times New Roman"/>
              </a:rPr>
              <a:t> It has applications in fields like risk management, security, licensing, and healthcare. </a:t>
            </a:r>
            <a:r>
              <a:rPr lang="en-US" sz="1900">
                <a:latin typeface="Times New Roman"/>
                <a:ea typeface="Times New Roman"/>
                <a:cs typeface="Times New Roman"/>
                <a:sym typeface="Times New Roman"/>
              </a:rPr>
              <a:t>Deep anomaly detection outperforms traditional methods by learning feature representations and anomaly scores, making it highly effective for complex, high-dimensional, temporal, and spatial data.</a:t>
            </a:r>
            <a:endParaRPr sz="1900">
              <a:latin typeface="Times New Roman"/>
              <a:ea typeface="Times New Roman"/>
              <a:cs typeface="Times New Roman"/>
              <a:sym typeface="Times New Roman"/>
            </a:endParaRPr>
          </a:p>
          <a:p>
            <a:pPr indent="0" lvl="0" marL="0" rtl="0" algn="l">
              <a:lnSpc>
                <a:spcPct val="130000"/>
              </a:lnSpc>
              <a:spcBef>
                <a:spcPts val="1200"/>
              </a:spcBef>
              <a:spcAft>
                <a:spcPts val="0"/>
              </a:spcAft>
              <a:buSzPts val="935"/>
              <a:buNone/>
            </a:pPr>
            <a:r>
              <a:rPr b="1" lang="en-US" sz="2090">
                <a:latin typeface="Times New Roman"/>
                <a:ea typeface="Times New Roman"/>
                <a:cs typeface="Times New Roman"/>
                <a:sym typeface="Times New Roman"/>
              </a:rPr>
              <a:t>Dataset</a:t>
            </a:r>
            <a:endParaRPr b="1" sz="2090">
              <a:latin typeface="Times New Roman"/>
              <a:ea typeface="Times New Roman"/>
              <a:cs typeface="Times New Roman"/>
              <a:sym typeface="Times New Roman"/>
            </a:endParaRPr>
          </a:p>
          <a:p>
            <a:pPr indent="0" lvl="0" marL="457200" rtl="0" algn="just">
              <a:lnSpc>
                <a:spcPct val="150000"/>
              </a:lnSpc>
              <a:spcBef>
                <a:spcPts val="200"/>
              </a:spcBef>
              <a:spcAft>
                <a:spcPts val="0"/>
              </a:spcAft>
              <a:buClr>
                <a:schemeClr val="dk1"/>
              </a:buClr>
              <a:buSzPts val="1100"/>
              <a:buFont typeface="Arial"/>
              <a:buNone/>
            </a:pPr>
            <a:r>
              <a:rPr lang="en-US" sz="1900">
                <a:latin typeface="Times New Roman"/>
                <a:ea typeface="Times New Roman"/>
                <a:cs typeface="Times New Roman"/>
                <a:sym typeface="Times New Roman"/>
              </a:rPr>
              <a:t>A collection of real-world dataset containing natural anomalies in different modes and with different types of publicly available methods.</a:t>
            </a:r>
            <a:endParaRPr sz="1900">
              <a:latin typeface="Times New Roman"/>
              <a:ea typeface="Times New Roman"/>
              <a:cs typeface="Times New Roman"/>
              <a:sym typeface="Times New Roman"/>
            </a:endParaRPr>
          </a:p>
          <a:p>
            <a:pPr indent="0" lvl="0" marL="0" rtl="0" algn="l">
              <a:lnSpc>
                <a:spcPct val="130000"/>
              </a:lnSpc>
              <a:spcBef>
                <a:spcPts val="1200"/>
              </a:spcBef>
              <a:spcAft>
                <a:spcPts val="0"/>
              </a:spcAft>
              <a:buSzPts val="935"/>
              <a:buNone/>
            </a:pPr>
            <a:r>
              <a:t/>
            </a:r>
            <a:endParaRPr sz="1920">
              <a:latin typeface="Times New Roman"/>
              <a:ea typeface="Times New Roman"/>
              <a:cs typeface="Times New Roman"/>
              <a:sym typeface="Times New Roman"/>
            </a:endParaRPr>
          </a:p>
          <a:p>
            <a:pPr indent="0" lvl="0" marL="0" rtl="0" algn="l">
              <a:lnSpc>
                <a:spcPct val="130000"/>
              </a:lnSpc>
              <a:spcBef>
                <a:spcPts val="1200"/>
              </a:spcBef>
              <a:spcAft>
                <a:spcPts val="0"/>
              </a:spcAft>
              <a:buClr>
                <a:schemeClr val="dk1"/>
              </a:buClr>
              <a:buSzPts val="935"/>
              <a:buFont typeface="Arial"/>
              <a:buNone/>
            </a:pPr>
            <a:r>
              <a:t/>
            </a:r>
            <a:endParaRPr b="1" sz="1990">
              <a:latin typeface="Times New Roman"/>
              <a:ea typeface="Times New Roman"/>
              <a:cs typeface="Times New Roman"/>
              <a:sym typeface="Times New Roman"/>
            </a:endParaRPr>
          </a:p>
          <a:p>
            <a:pPr indent="0" lvl="0" marL="0" rtl="0" algn="l">
              <a:lnSpc>
                <a:spcPct val="70000"/>
              </a:lnSpc>
              <a:spcBef>
                <a:spcPts val="1000"/>
              </a:spcBef>
              <a:spcAft>
                <a:spcPts val="0"/>
              </a:spcAft>
              <a:buSzPts val="935"/>
              <a:buNone/>
            </a:pPr>
            <a:r>
              <a:t/>
            </a:r>
            <a:endParaRPr sz="3180"/>
          </a:p>
        </p:txBody>
      </p:sp>
      <p:sp>
        <p:nvSpPr>
          <p:cNvPr id="146" name="Google Shape;146;g31aa606e22d_0_14"/>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
        <p:nvSpPr>
          <p:cNvPr id="147" name="Google Shape;147;g31aa606e22d_0_14"/>
          <p:cNvSpPr txBox="1"/>
          <p:nvPr>
            <p:ph type="title"/>
          </p:nvPr>
        </p:nvSpPr>
        <p:spPr>
          <a:xfrm>
            <a:off x="542900" y="414350"/>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Literature Survey</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1b149daa03_0_6"/>
          <p:cNvSpPr txBox="1"/>
          <p:nvPr>
            <p:ph idx="1" type="body"/>
          </p:nvPr>
        </p:nvSpPr>
        <p:spPr>
          <a:xfrm>
            <a:off x="752850" y="475750"/>
            <a:ext cx="9363000" cy="6245700"/>
          </a:xfrm>
          <a:prstGeom prst="rect">
            <a:avLst/>
          </a:prstGeom>
        </p:spPr>
        <p:txBody>
          <a:bodyPr anchorCtr="0" anchor="t" bIns="45700" lIns="91425" spcFirstLastPara="1" rIns="91425" wrap="square" tIns="45700">
            <a:noAutofit/>
          </a:bodyPr>
          <a:lstStyle/>
          <a:p>
            <a:pPr indent="0" lvl="0" marL="0" rtl="0" algn="l">
              <a:lnSpc>
                <a:spcPct val="130000"/>
              </a:lnSpc>
              <a:spcBef>
                <a:spcPts val="1200"/>
              </a:spcBef>
              <a:spcAft>
                <a:spcPts val="0"/>
              </a:spcAft>
              <a:buClr>
                <a:schemeClr val="dk1"/>
              </a:buClr>
              <a:buSzPts val="935"/>
              <a:buFont typeface="Arial"/>
              <a:buNone/>
            </a:pPr>
            <a:r>
              <a:rPr b="1" lang="en-US" sz="2090">
                <a:latin typeface="Times New Roman"/>
                <a:ea typeface="Times New Roman"/>
                <a:cs typeface="Times New Roman"/>
                <a:sym typeface="Times New Roman"/>
              </a:rPr>
              <a:t>Methodology</a:t>
            </a:r>
            <a:endParaRPr b="1" sz="2090">
              <a:latin typeface="Times New Roman"/>
              <a:ea typeface="Times New Roman"/>
              <a:cs typeface="Times New Roman"/>
              <a:sym typeface="Times New Roman"/>
            </a:endParaRPr>
          </a:p>
          <a:p>
            <a:pPr indent="0" lvl="0" marL="457200" rtl="0" algn="just">
              <a:lnSpc>
                <a:spcPct val="150000"/>
              </a:lnSpc>
              <a:spcBef>
                <a:spcPts val="200"/>
              </a:spcBef>
              <a:spcAft>
                <a:spcPts val="0"/>
              </a:spcAft>
              <a:buSzPts val="1100"/>
              <a:buNone/>
            </a:pPr>
            <a:r>
              <a:rPr lang="en-US" sz="1800">
                <a:latin typeface="Times New Roman"/>
                <a:ea typeface="Times New Roman"/>
                <a:cs typeface="Times New Roman"/>
                <a:sym typeface="Times New Roman"/>
              </a:rPr>
              <a:t>Deep anomaly detection required feature extraction through models like autoencoders and GANs, learning representations of normality through self-supervised classification, and end-to-end anomaly scoring techniques like one-class classification. It addresses very important issues, those regarding data representation and scoring optimization.</a:t>
            </a:r>
            <a:endParaRPr sz="1800">
              <a:latin typeface="Times New Roman"/>
              <a:ea typeface="Times New Roman"/>
              <a:cs typeface="Times New Roman"/>
              <a:sym typeface="Times New Roman"/>
            </a:endParaRPr>
          </a:p>
          <a:p>
            <a:pPr indent="0" lvl="0" marL="457200" rtl="0" algn="just">
              <a:lnSpc>
                <a:spcPct val="150000"/>
              </a:lnSpc>
              <a:spcBef>
                <a:spcPts val="0"/>
              </a:spcBef>
              <a:spcAft>
                <a:spcPts val="0"/>
              </a:spcAft>
              <a:buSzPts val="1100"/>
              <a:buNone/>
            </a:pPr>
            <a:r>
              <a:t/>
            </a:r>
            <a:endParaRPr sz="1800">
              <a:latin typeface="Times New Roman"/>
              <a:ea typeface="Times New Roman"/>
              <a:cs typeface="Times New Roman"/>
              <a:sym typeface="Times New Roman"/>
            </a:endParaRPr>
          </a:p>
          <a:p>
            <a:pPr indent="0" lvl="0" marL="0" rtl="0" algn="l">
              <a:lnSpc>
                <a:spcPct val="130000"/>
              </a:lnSpc>
              <a:spcBef>
                <a:spcPts val="1200"/>
              </a:spcBef>
              <a:spcAft>
                <a:spcPts val="0"/>
              </a:spcAft>
              <a:buSzPts val="935"/>
              <a:buNone/>
            </a:pPr>
            <a:r>
              <a:rPr b="1" lang="en-US" sz="2090">
                <a:latin typeface="Times New Roman"/>
                <a:ea typeface="Times New Roman"/>
                <a:cs typeface="Times New Roman"/>
                <a:sym typeface="Times New Roman"/>
              </a:rPr>
              <a:t>Results</a:t>
            </a:r>
            <a:endParaRPr b="1" sz="2090">
              <a:latin typeface="Times New Roman"/>
              <a:ea typeface="Times New Roman"/>
              <a:cs typeface="Times New Roman"/>
              <a:sym typeface="Times New Roman"/>
            </a:endParaRPr>
          </a:p>
          <a:p>
            <a:pPr indent="0" lvl="0" marL="457200" rtl="0" algn="just">
              <a:lnSpc>
                <a:spcPct val="150000"/>
              </a:lnSpc>
              <a:spcBef>
                <a:spcPts val="200"/>
              </a:spcBef>
              <a:spcAft>
                <a:spcPts val="0"/>
              </a:spcAft>
              <a:buSzPts val="1100"/>
              <a:buNone/>
            </a:pPr>
            <a:r>
              <a:rPr lang="en-US" sz="1800">
                <a:latin typeface="Times New Roman"/>
                <a:ea typeface="Times New Roman"/>
                <a:cs typeface="Times New Roman"/>
                <a:sym typeface="Times New Roman"/>
              </a:rPr>
              <a:t>The results describe 12 deep learning methods for anomaly detection and have provided an explanation of 30 algorithms characteristics such as data augmentation and pre-training. These findings demonstrate a shift in deep anomaly detection that attempts to resolve simple challenges across applications.</a:t>
            </a:r>
            <a:endParaRPr sz="1800">
              <a:latin typeface="Times New Roman"/>
              <a:ea typeface="Times New Roman"/>
              <a:cs typeface="Times New Roman"/>
              <a:sym typeface="Times New Roman"/>
            </a:endParaRPr>
          </a:p>
          <a:p>
            <a:pPr indent="0" lvl="0" marL="0" rtl="0" algn="just">
              <a:lnSpc>
                <a:spcPct val="150000"/>
              </a:lnSpc>
              <a:spcBef>
                <a:spcPts val="0"/>
              </a:spcBef>
              <a:spcAft>
                <a:spcPts val="0"/>
              </a:spcAft>
              <a:buSzPts val="1100"/>
              <a:buNone/>
            </a:pPr>
            <a:r>
              <a:t/>
            </a:r>
            <a:endParaRPr sz="1200">
              <a:latin typeface="Times New Roman"/>
              <a:ea typeface="Times New Roman"/>
              <a:cs typeface="Times New Roman"/>
              <a:sym typeface="Times New Roman"/>
            </a:endParaRPr>
          </a:p>
          <a:p>
            <a:pPr indent="0" lvl="0" marL="0" rtl="0" algn="l">
              <a:lnSpc>
                <a:spcPct val="150000"/>
              </a:lnSpc>
              <a:spcBef>
                <a:spcPts val="0"/>
              </a:spcBef>
              <a:spcAft>
                <a:spcPts val="0"/>
              </a:spcAft>
              <a:buSzPts val="1100"/>
              <a:buNone/>
            </a:pPr>
            <a:r>
              <a:t/>
            </a:r>
            <a:endParaRPr b="1" sz="1900">
              <a:latin typeface="Times New Roman"/>
              <a:ea typeface="Times New Roman"/>
              <a:cs typeface="Times New Roman"/>
              <a:sym typeface="Times New Roman"/>
            </a:endParaRPr>
          </a:p>
          <a:p>
            <a:pPr indent="0" lvl="0" marL="0" rtl="0" algn="l">
              <a:lnSpc>
                <a:spcPct val="70000"/>
              </a:lnSpc>
              <a:spcBef>
                <a:spcPts val="1000"/>
              </a:spcBef>
              <a:spcAft>
                <a:spcPts val="0"/>
              </a:spcAft>
              <a:buSzPts val="935"/>
              <a:buNone/>
            </a:pPr>
            <a:r>
              <a:t/>
            </a:r>
            <a:endParaRPr sz="3180"/>
          </a:p>
        </p:txBody>
      </p:sp>
      <p:sp>
        <p:nvSpPr>
          <p:cNvPr id="154" name="Google Shape;154;g31b149daa03_0_6"/>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g31abc5036ed_0_0"/>
          <p:cNvSpPr txBox="1"/>
          <p:nvPr>
            <p:ph idx="1" type="body"/>
          </p:nvPr>
        </p:nvSpPr>
        <p:spPr>
          <a:xfrm>
            <a:off x="704000" y="475750"/>
            <a:ext cx="9363000" cy="6245700"/>
          </a:xfrm>
          <a:prstGeom prst="rect">
            <a:avLst/>
          </a:prstGeom>
        </p:spPr>
        <p:txBody>
          <a:bodyPr anchorCtr="0" anchor="t" bIns="45700" lIns="91425" spcFirstLastPara="1" rIns="91425" wrap="square" tIns="45700">
            <a:noAutofit/>
          </a:bodyPr>
          <a:lstStyle/>
          <a:p>
            <a:pPr indent="0" lvl="0" marL="0" rtl="0" algn="l">
              <a:lnSpc>
                <a:spcPct val="150000"/>
              </a:lnSpc>
              <a:spcBef>
                <a:spcPts val="0"/>
              </a:spcBef>
              <a:spcAft>
                <a:spcPts val="0"/>
              </a:spcAft>
              <a:buSzPts val="1100"/>
              <a:buNone/>
            </a:pPr>
            <a:r>
              <a:rPr b="1" lang="en-US" sz="2050">
                <a:latin typeface="Times New Roman"/>
                <a:ea typeface="Times New Roman"/>
                <a:cs typeface="Times New Roman"/>
                <a:sym typeface="Times New Roman"/>
              </a:rPr>
              <a:t>Future works</a:t>
            </a:r>
            <a:endParaRPr b="1" sz="2050">
              <a:latin typeface="Times New Roman"/>
              <a:ea typeface="Times New Roman"/>
              <a:cs typeface="Times New Roman"/>
              <a:sym typeface="Times New Roman"/>
            </a:endParaRPr>
          </a:p>
          <a:p>
            <a:pPr indent="0" lvl="0" marL="457200" rtl="0" algn="l">
              <a:lnSpc>
                <a:spcPct val="150000"/>
              </a:lnSpc>
              <a:spcBef>
                <a:spcPts val="0"/>
              </a:spcBef>
              <a:spcAft>
                <a:spcPts val="0"/>
              </a:spcAft>
              <a:buSzPts val="1100"/>
              <a:buNone/>
            </a:pPr>
            <a:r>
              <a:rPr lang="en-US" sz="1800">
                <a:latin typeface="Times New Roman"/>
                <a:ea typeface="Times New Roman"/>
                <a:cs typeface="Times New Roman"/>
                <a:sym typeface="Times New Roman"/>
              </a:rPr>
              <a:t>Future work includes improving robustness to imbalanced and unlabeled data, enhancing model interpretability, developing efficient algorithms for large datasets, and expanding evaluation metrics beyond traditional measures.</a:t>
            </a:r>
            <a:endParaRPr sz="1800">
              <a:latin typeface="Times New Roman"/>
              <a:ea typeface="Times New Roman"/>
              <a:cs typeface="Times New Roman"/>
              <a:sym typeface="Times New Roman"/>
            </a:endParaRPr>
          </a:p>
          <a:p>
            <a:pPr indent="0" lvl="0" marL="0" rtl="0" algn="l">
              <a:lnSpc>
                <a:spcPct val="150000"/>
              </a:lnSpc>
              <a:spcBef>
                <a:spcPts val="0"/>
              </a:spcBef>
              <a:spcAft>
                <a:spcPts val="0"/>
              </a:spcAft>
              <a:buSzPts val="1100"/>
              <a:buNone/>
            </a:pPr>
            <a:r>
              <a:t/>
            </a:r>
            <a:endParaRPr b="1" sz="1900">
              <a:latin typeface="Times New Roman"/>
              <a:ea typeface="Times New Roman"/>
              <a:cs typeface="Times New Roman"/>
              <a:sym typeface="Times New Roman"/>
            </a:endParaRPr>
          </a:p>
          <a:p>
            <a:pPr indent="0" lvl="0" marL="0" rtl="0" algn="l">
              <a:lnSpc>
                <a:spcPct val="150000"/>
              </a:lnSpc>
              <a:spcBef>
                <a:spcPts val="0"/>
              </a:spcBef>
              <a:spcAft>
                <a:spcPts val="0"/>
              </a:spcAft>
              <a:buSzPts val="1100"/>
              <a:buNone/>
            </a:pPr>
            <a:r>
              <a:t/>
            </a:r>
            <a:endParaRPr b="1" sz="1900">
              <a:latin typeface="Times New Roman"/>
              <a:ea typeface="Times New Roman"/>
              <a:cs typeface="Times New Roman"/>
              <a:sym typeface="Times New Roman"/>
            </a:endParaRPr>
          </a:p>
          <a:p>
            <a:pPr indent="0" lvl="0" marL="0" rtl="0" algn="l">
              <a:lnSpc>
                <a:spcPct val="70000"/>
              </a:lnSpc>
              <a:spcBef>
                <a:spcPts val="1000"/>
              </a:spcBef>
              <a:spcAft>
                <a:spcPts val="0"/>
              </a:spcAft>
              <a:buSzPts val="935"/>
              <a:buNone/>
            </a:pPr>
            <a:r>
              <a:t/>
            </a:r>
            <a:endParaRPr sz="3180"/>
          </a:p>
        </p:txBody>
      </p:sp>
      <p:sp>
        <p:nvSpPr>
          <p:cNvPr id="161" name="Google Shape;161;g31abc5036ed_0_0"/>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pic>
        <p:nvPicPr>
          <p:cNvPr id="162" name="Google Shape;162;g31abc5036ed_0_0"/>
          <p:cNvPicPr preferRelativeResize="0"/>
          <p:nvPr/>
        </p:nvPicPr>
        <p:blipFill>
          <a:blip r:embed="rId3">
            <a:alphaModFix/>
          </a:blip>
          <a:stretch>
            <a:fillRect/>
          </a:stretch>
        </p:blipFill>
        <p:spPr>
          <a:xfrm>
            <a:off x="1751300" y="2204697"/>
            <a:ext cx="7524426" cy="41516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1a9d1a8de3_0_110"/>
          <p:cNvSpPr txBox="1"/>
          <p:nvPr>
            <p:ph idx="1" type="body"/>
          </p:nvPr>
        </p:nvSpPr>
        <p:spPr>
          <a:xfrm>
            <a:off x="541250" y="643125"/>
            <a:ext cx="10812600" cy="5533800"/>
          </a:xfrm>
          <a:prstGeom prst="rect">
            <a:avLst/>
          </a:prstGeom>
        </p:spPr>
        <p:txBody>
          <a:bodyPr anchorCtr="0" anchor="t" bIns="45700" lIns="91425" spcFirstLastPara="1" rIns="91425" wrap="square" tIns="45700">
            <a:normAutofit lnSpcReduction="20000"/>
          </a:bodyPr>
          <a:lstStyle/>
          <a:p>
            <a:pPr indent="0" lvl="0" marL="0" rtl="0" algn="l">
              <a:lnSpc>
                <a:spcPct val="60000"/>
              </a:lnSpc>
              <a:spcBef>
                <a:spcPts val="1000"/>
              </a:spcBef>
              <a:spcAft>
                <a:spcPts val="0"/>
              </a:spcAft>
              <a:buClr>
                <a:schemeClr val="dk1"/>
              </a:buClr>
              <a:buSzPts val="770"/>
              <a:buFont typeface="Arial"/>
              <a:buNone/>
            </a:pPr>
            <a:r>
              <a:rPr lang="en-US" sz="2180"/>
              <a:t>2</a:t>
            </a:r>
            <a:r>
              <a:rPr lang="en-US" sz="2180"/>
              <a:t>)</a:t>
            </a:r>
            <a:r>
              <a:rPr b="1" lang="en-US" sz="2160">
                <a:latin typeface="Times New Roman"/>
                <a:ea typeface="Times New Roman"/>
                <a:cs typeface="Times New Roman"/>
                <a:sym typeface="Times New Roman"/>
              </a:rPr>
              <a:t>Optimizing Contextual Advertising With Large Language Models: A  Unified Approach </a:t>
            </a:r>
            <a:endParaRPr b="1" sz="2160">
              <a:latin typeface="Times New Roman"/>
              <a:ea typeface="Times New Roman"/>
              <a:cs typeface="Times New Roman"/>
              <a:sym typeface="Times New Roman"/>
            </a:endParaRPr>
          </a:p>
          <a:p>
            <a:pPr indent="0" lvl="0" marL="0" rtl="0" algn="l">
              <a:lnSpc>
                <a:spcPct val="60000"/>
              </a:lnSpc>
              <a:spcBef>
                <a:spcPts val="1000"/>
              </a:spcBef>
              <a:spcAft>
                <a:spcPts val="0"/>
              </a:spcAft>
              <a:buClr>
                <a:schemeClr val="dk1"/>
              </a:buClr>
              <a:buSzPts val="770"/>
              <a:buFont typeface="Arial"/>
              <a:buNone/>
            </a:pPr>
            <a:r>
              <a:rPr b="1" lang="en-US" sz="2160">
                <a:latin typeface="Times New Roman"/>
                <a:ea typeface="Times New Roman"/>
                <a:cs typeface="Times New Roman"/>
                <a:sym typeface="Times New Roman"/>
              </a:rPr>
              <a:t>To Ad Content Generation And Targeting.</a:t>
            </a:r>
            <a:endParaRPr b="1" sz="2160">
              <a:latin typeface="Times New Roman"/>
              <a:ea typeface="Times New Roman"/>
              <a:cs typeface="Times New Roman"/>
              <a:sym typeface="Times New Roman"/>
            </a:endParaRPr>
          </a:p>
          <a:p>
            <a:pPr indent="0" lvl="0" marL="0" rtl="0" algn="just">
              <a:lnSpc>
                <a:spcPct val="120000"/>
              </a:lnSpc>
              <a:spcBef>
                <a:spcPts val="0"/>
              </a:spcBef>
              <a:spcAft>
                <a:spcPts val="0"/>
              </a:spcAft>
              <a:buClr>
                <a:schemeClr val="dk1"/>
              </a:buClr>
              <a:buSzPts val="770"/>
              <a:buFont typeface="Arial"/>
              <a:buNone/>
            </a:pPr>
            <a:r>
              <a:t/>
            </a:r>
            <a:endParaRPr b="1" sz="1760">
              <a:latin typeface="Times New Roman"/>
              <a:ea typeface="Times New Roman"/>
              <a:cs typeface="Times New Roman"/>
              <a:sym typeface="Times New Roman"/>
            </a:endParaRPr>
          </a:p>
          <a:p>
            <a:pPr indent="0" lvl="0" marL="0" rtl="0" algn="just">
              <a:lnSpc>
                <a:spcPct val="120000"/>
              </a:lnSpc>
              <a:spcBef>
                <a:spcPts val="0"/>
              </a:spcBef>
              <a:spcAft>
                <a:spcPts val="0"/>
              </a:spcAft>
              <a:buClr>
                <a:schemeClr val="dk1"/>
              </a:buClr>
              <a:buSzPts val="770"/>
              <a:buFont typeface="Arial"/>
              <a:buNone/>
            </a:pPr>
            <a:r>
              <a:rPr b="1" lang="en-US" sz="1760">
                <a:latin typeface="Times New Roman"/>
                <a:ea typeface="Times New Roman"/>
                <a:cs typeface="Times New Roman"/>
                <a:sym typeface="Times New Roman"/>
              </a:rPr>
              <a:t>Authors</a:t>
            </a:r>
            <a:r>
              <a:rPr lang="en-US" sz="1760">
                <a:latin typeface="Times New Roman"/>
                <a:ea typeface="Times New Roman"/>
                <a:cs typeface="Times New Roman"/>
                <a:sym typeface="Times New Roman"/>
              </a:rPr>
              <a:t>: Lav Kumar Salesforce Inc., USA ; Karan Khanna Netflix, USA</a:t>
            </a:r>
            <a:endParaRPr sz="1760">
              <a:latin typeface="Times New Roman"/>
              <a:ea typeface="Times New Roman"/>
              <a:cs typeface="Times New Roman"/>
              <a:sym typeface="Times New Roman"/>
            </a:endParaRPr>
          </a:p>
          <a:p>
            <a:pPr indent="0" lvl="0" marL="0" rtl="0" algn="just">
              <a:lnSpc>
                <a:spcPct val="120000"/>
              </a:lnSpc>
              <a:spcBef>
                <a:spcPts val="0"/>
              </a:spcBef>
              <a:spcAft>
                <a:spcPts val="0"/>
              </a:spcAft>
              <a:buClr>
                <a:schemeClr val="dk1"/>
              </a:buClr>
              <a:buSzPts val="770"/>
              <a:buFont typeface="Arial"/>
              <a:buNone/>
            </a:pPr>
            <a:r>
              <a:rPr b="1" lang="en-US" sz="1760">
                <a:latin typeface="Times New Roman"/>
                <a:ea typeface="Times New Roman"/>
                <a:cs typeface="Times New Roman"/>
                <a:sym typeface="Times New Roman"/>
              </a:rPr>
              <a:t>Date</a:t>
            </a:r>
            <a:r>
              <a:rPr lang="en-US" sz="1760">
                <a:latin typeface="Times New Roman"/>
                <a:ea typeface="Times New Roman"/>
                <a:cs typeface="Times New Roman"/>
                <a:sym typeface="Times New Roman"/>
              </a:rPr>
              <a:t>: January-June 2024</a:t>
            </a:r>
            <a:endParaRPr sz="1760">
              <a:latin typeface="Times New Roman"/>
              <a:ea typeface="Times New Roman"/>
              <a:cs typeface="Times New Roman"/>
              <a:sym typeface="Times New Roman"/>
            </a:endParaRPr>
          </a:p>
          <a:p>
            <a:pPr indent="0" lvl="0" marL="0" rtl="0" algn="just">
              <a:lnSpc>
                <a:spcPct val="120000"/>
              </a:lnSpc>
              <a:spcBef>
                <a:spcPts val="0"/>
              </a:spcBef>
              <a:spcAft>
                <a:spcPts val="0"/>
              </a:spcAft>
              <a:buClr>
                <a:schemeClr val="dk1"/>
              </a:buClr>
              <a:buSzPts val="770"/>
              <a:buFont typeface="Arial"/>
              <a:buNone/>
            </a:pPr>
            <a:r>
              <a:t/>
            </a:r>
            <a:endParaRPr sz="1760">
              <a:latin typeface="Times New Roman"/>
              <a:ea typeface="Times New Roman"/>
              <a:cs typeface="Times New Roman"/>
              <a:sym typeface="Times New Roman"/>
            </a:endParaRPr>
          </a:p>
          <a:p>
            <a:pPr indent="0" lvl="0" marL="0" rtl="0" algn="just">
              <a:lnSpc>
                <a:spcPct val="120000"/>
              </a:lnSpc>
              <a:spcBef>
                <a:spcPts val="0"/>
              </a:spcBef>
              <a:spcAft>
                <a:spcPts val="0"/>
              </a:spcAft>
              <a:buClr>
                <a:schemeClr val="dk1"/>
              </a:buClr>
              <a:buSzPts val="770"/>
              <a:buFont typeface="Arial"/>
              <a:buNone/>
            </a:pPr>
            <a:r>
              <a:rPr b="1" lang="en-US" sz="1760">
                <a:latin typeface="Times New Roman"/>
                <a:ea typeface="Times New Roman"/>
                <a:cs typeface="Times New Roman"/>
                <a:sym typeface="Times New Roman"/>
              </a:rPr>
              <a:t>Problem Identified</a:t>
            </a:r>
            <a:r>
              <a:rPr lang="en-US" sz="1760">
                <a:latin typeface="Times New Roman"/>
                <a:ea typeface="Times New Roman"/>
                <a:cs typeface="Times New Roman"/>
                <a:sym typeface="Times New Roman"/>
              </a:rPr>
              <a:t>:</a:t>
            </a:r>
            <a:endParaRPr sz="1760">
              <a:latin typeface="Times New Roman"/>
              <a:ea typeface="Times New Roman"/>
              <a:cs typeface="Times New Roman"/>
              <a:sym typeface="Times New Roman"/>
            </a:endParaRPr>
          </a:p>
          <a:p>
            <a:pPr indent="0" lvl="0" marL="0" rtl="0" algn="just">
              <a:lnSpc>
                <a:spcPct val="120000"/>
              </a:lnSpc>
              <a:spcBef>
                <a:spcPts val="0"/>
              </a:spcBef>
              <a:spcAft>
                <a:spcPts val="0"/>
              </a:spcAft>
              <a:buClr>
                <a:schemeClr val="dk1"/>
              </a:buClr>
              <a:buSzPts val="770"/>
              <a:buFont typeface="Arial"/>
              <a:buNone/>
            </a:pPr>
            <a:r>
              <a:rPr lang="en-US" sz="1760">
                <a:latin typeface="Times New Roman"/>
                <a:ea typeface="Times New Roman"/>
                <a:cs typeface="Times New Roman"/>
                <a:sym typeface="Times New Roman"/>
              </a:rPr>
              <a:t>This paper also encompasses a new approach called Contextual Ad Generation and Targeting (CAGT), which depends on LLMs for generating ad content, while optimizing keyword targeting in one single framework. </a:t>
            </a:r>
            <a:endParaRPr sz="1760">
              <a:latin typeface="Times New Roman"/>
              <a:ea typeface="Times New Roman"/>
              <a:cs typeface="Times New Roman"/>
              <a:sym typeface="Times New Roman"/>
            </a:endParaRPr>
          </a:p>
          <a:p>
            <a:pPr indent="0" lvl="0" marL="0" rtl="0" algn="just">
              <a:lnSpc>
                <a:spcPct val="120000"/>
              </a:lnSpc>
              <a:spcBef>
                <a:spcPts val="0"/>
              </a:spcBef>
              <a:spcAft>
                <a:spcPts val="0"/>
              </a:spcAft>
              <a:buClr>
                <a:schemeClr val="dk1"/>
              </a:buClr>
              <a:buSzPts val="770"/>
              <a:buFont typeface="Arial"/>
              <a:buNone/>
            </a:pPr>
            <a:r>
              <a:t/>
            </a:r>
            <a:endParaRPr sz="1760">
              <a:latin typeface="Times New Roman"/>
              <a:ea typeface="Times New Roman"/>
              <a:cs typeface="Times New Roman"/>
              <a:sym typeface="Times New Roman"/>
            </a:endParaRPr>
          </a:p>
          <a:p>
            <a:pPr indent="0" lvl="0" marL="0" rtl="0" algn="just">
              <a:lnSpc>
                <a:spcPct val="120000"/>
              </a:lnSpc>
              <a:spcBef>
                <a:spcPts val="0"/>
              </a:spcBef>
              <a:spcAft>
                <a:spcPts val="0"/>
              </a:spcAft>
              <a:buClr>
                <a:schemeClr val="dk1"/>
              </a:buClr>
              <a:buSzPts val="770"/>
              <a:buFont typeface="Arial"/>
              <a:buNone/>
            </a:pPr>
            <a:r>
              <a:rPr b="1" lang="en-US" sz="1760">
                <a:latin typeface="Times New Roman"/>
                <a:ea typeface="Times New Roman"/>
                <a:cs typeface="Times New Roman"/>
                <a:sym typeface="Times New Roman"/>
              </a:rPr>
              <a:t>Dataset:</a:t>
            </a:r>
            <a:endParaRPr b="1" sz="1760">
              <a:latin typeface="Times New Roman"/>
              <a:ea typeface="Times New Roman"/>
              <a:cs typeface="Times New Roman"/>
              <a:sym typeface="Times New Roman"/>
            </a:endParaRPr>
          </a:p>
          <a:p>
            <a:pPr indent="0" lvl="0" marL="0" rtl="0" algn="just">
              <a:lnSpc>
                <a:spcPct val="120000"/>
              </a:lnSpc>
              <a:spcBef>
                <a:spcPts val="0"/>
              </a:spcBef>
              <a:spcAft>
                <a:spcPts val="0"/>
              </a:spcAft>
              <a:buClr>
                <a:schemeClr val="dk1"/>
              </a:buClr>
              <a:buSzPts val="770"/>
              <a:buFont typeface="Arial"/>
              <a:buNone/>
            </a:pPr>
            <a:r>
              <a:rPr lang="en-US" sz="1760">
                <a:latin typeface="Times New Roman"/>
                <a:ea typeface="Times New Roman"/>
                <a:cs typeface="Times New Roman"/>
                <a:sym typeface="Times New Roman"/>
              </a:rPr>
              <a:t>The dataset holds about 10 million impressions in ads along with other accompanying user information, content related to ads, relevant target keywords, and various other performance metrics, including, but not limited to CTR and CR. </a:t>
            </a:r>
            <a:endParaRPr sz="1760">
              <a:latin typeface="Times New Roman"/>
              <a:ea typeface="Times New Roman"/>
              <a:cs typeface="Times New Roman"/>
              <a:sym typeface="Times New Roman"/>
            </a:endParaRPr>
          </a:p>
          <a:p>
            <a:pPr indent="0" lvl="0" marL="0" rtl="0" algn="just">
              <a:lnSpc>
                <a:spcPct val="120000"/>
              </a:lnSpc>
              <a:spcBef>
                <a:spcPts val="0"/>
              </a:spcBef>
              <a:spcAft>
                <a:spcPts val="0"/>
              </a:spcAft>
              <a:buClr>
                <a:schemeClr val="dk1"/>
              </a:buClr>
              <a:buSzPts val="770"/>
              <a:buFont typeface="Arial"/>
              <a:buNone/>
            </a:pPr>
            <a:r>
              <a:t/>
            </a:r>
            <a:endParaRPr sz="1760">
              <a:latin typeface="Times New Roman"/>
              <a:ea typeface="Times New Roman"/>
              <a:cs typeface="Times New Roman"/>
              <a:sym typeface="Times New Roman"/>
            </a:endParaRPr>
          </a:p>
          <a:p>
            <a:pPr indent="0" lvl="0" marL="0" rtl="0" algn="just">
              <a:lnSpc>
                <a:spcPct val="120000"/>
              </a:lnSpc>
              <a:spcBef>
                <a:spcPts val="0"/>
              </a:spcBef>
              <a:spcAft>
                <a:spcPts val="0"/>
              </a:spcAft>
              <a:buClr>
                <a:schemeClr val="dk1"/>
              </a:buClr>
              <a:buSzPts val="770"/>
              <a:buFont typeface="Arial"/>
              <a:buNone/>
            </a:pPr>
            <a:r>
              <a:rPr b="1" lang="en-US" sz="1760">
                <a:latin typeface="Times New Roman"/>
                <a:ea typeface="Times New Roman"/>
                <a:cs typeface="Times New Roman"/>
                <a:sym typeface="Times New Roman"/>
              </a:rPr>
              <a:t>Methodology:</a:t>
            </a:r>
            <a:endParaRPr b="1" sz="1760">
              <a:latin typeface="Times New Roman"/>
              <a:ea typeface="Times New Roman"/>
              <a:cs typeface="Times New Roman"/>
              <a:sym typeface="Times New Roman"/>
            </a:endParaRPr>
          </a:p>
          <a:p>
            <a:pPr indent="0" lvl="0" marL="0" rtl="0" algn="just">
              <a:lnSpc>
                <a:spcPct val="120000"/>
              </a:lnSpc>
              <a:spcBef>
                <a:spcPts val="0"/>
              </a:spcBef>
              <a:spcAft>
                <a:spcPts val="0"/>
              </a:spcAft>
              <a:buClr>
                <a:schemeClr val="dk1"/>
              </a:buClr>
              <a:buSzPts val="770"/>
              <a:buFont typeface="Arial"/>
              <a:buNone/>
            </a:pPr>
            <a:r>
              <a:rPr lang="en-US" sz="1760">
                <a:latin typeface="Times New Roman"/>
                <a:ea typeface="Times New Roman"/>
                <a:cs typeface="Times New Roman"/>
                <a:sym typeface="Times New Roman"/>
              </a:rPr>
              <a:t>The CAGT framework consists of three fundamental components: </a:t>
            </a:r>
            <a:endParaRPr sz="1760">
              <a:latin typeface="Times New Roman"/>
              <a:ea typeface="Times New Roman"/>
              <a:cs typeface="Times New Roman"/>
              <a:sym typeface="Times New Roman"/>
            </a:endParaRPr>
          </a:p>
          <a:p>
            <a:pPr indent="0" lvl="0" marL="0" rtl="0" algn="just">
              <a:lnSpc>
                <a:spcPct val="120000"/>
              </a:lnSpc>
              <a:spcBef>
                <a:spcPts val="0"/>
              </a:spcBef>
              <a:spcAft>
                <a:spcPts val="0"/>
              </a:spcAft>
              <a:buClr>
                <a:schemeClr val="dk1"/>
              </a:buClr>
              <a:buSzPts val="770"/>
              <a:buFont typeface="Arial"/>
              <a:buNone/>
            </a:pPr>
            <a:r>
              <a:rPr lang="en-US" sz="1760">
                <a:latin typeface="Times New Roman"/>
                <a:ea typeface="Times New Roman"/>
                <a:cs typeface="Times New Roman"/>
                <a:sym typeface="Times New Roman"/>
              </a:rPr>
              <a:t>1) Adaptive Prompt Engineering </a:t>
            </a:r>
            <a:endParaRPr sz="1760">
              <a:latin typeface="Times New Roman"/>
              <a:ea typeface="Times New Roman"/>
              <a:cs typeface="Times New Roman"/>
              <a:sym typeface="Times New Roman"/>
            </a:endParaRPr>
          </a:p>
          <a:p>
            <a:pPr indent="0" lvl="0" marL="0" rtl="0" algn="just">
              <a:lnSpc>
                <a:spcPct val="120000"/>
              </a:lnSpc>
              <a:spcBef>
                <a:spcPts val="0"/>
              </a:spcBef>
              <a:spcAft>
                <a:spcPts val="0"/>
              </a:spcAft>
              <a:buClr>
                <a:schemeClr val="dk1"/>
              </a:buClr>
              <a:buSzPts val="770"/>
              <a:buFont typeface="Arial"/>
              <a:buNone/>
            </a:pPr>
            <a:r>
              <a:rPr lang="en-US" sz="1760">
                <a:latin typeface="Times New Roman"/>
                <a:ea typeface="Times New Roman"/>
                <a:cs typeface="Times New Roman"/>
                <a:sym typeface="Times New Roman"/>
              </a:rPr>
              <a:t>2) LLM-based Ad Generation, and </a:t>
            </a:r>
            <a:endParaRPr sz="1760">
              <a:latin typeface="Times New Roman"/>
              <a:ea typeface="Times New Roman"/>
              <a:cs typeface="Times New Roman"/>
              <a:sym typeface="Times New Roman"/>
            </a:endParaRPr>
          </a:p>
          <a:p>
            <a:pPr indent="0" lvl="0" marL="0" rtl="0" algn="just">
              <a:lnSpc>
                <a:spcPct val="120000"/>
              </a:lnSpc>
              <a:spcBef>
                <a:spcPts val="0"/>
              </a:spcBef>
              <a:spcAft>
                <a:spcPts val="0"/>
              </a:spcAft>
              <a:buClr>
                <a:schemeClr val="dk1"/>
              </a:buClr>
              <a:buSzPts val="770"/>
              <a:buFont typeface="Arial"/>
              <a:buNone/>
            </a:pPr>
            <a:r>
              <a:rPr lang="en-US" sz="1760">
                <a:latin typeface="Times New Roman"/>
                <a:ea typeface="Times New Roman"/>
                <a:cs typeface="Times New Roman"/>
                <a:sym typeface="Times New Roman"/>
              </a:rPr>
              <a:t>3) Reinforcement Learning-based Feedback Loop</a:t>
            </a:r>
            <a:endParaRPr/>
          </a:p>
        </p:txBody>
      </p:sp>
      <p:sp>
        <p:nvSpPr>
          <p:cNvPr id="169" name="Google Shape;169;g31a9d1a8de3_0_110"/>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g31a9d1a8de3_0_117"/>
          <p:cNvSpPr txBox="1"/>
          <p:nvPr>
            <p:ph idx="1" type="body"/>
          </p:nvPr>
        </p:nvSpPr>
        <p:spPr>
          <a:xfrm>
            <a:off x="838200" y="604925"/>
            <a:ext cx="10515600" cy="55719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Clr>
                <a:schemeClr val="dk1"/>
              </a:buClr>
              <a:buSzPts val="1100"/>
              <a:buFont typeface="Arial"/>
              <a:buNone/>
            </a:pPr>
            <a:r>
              <a:rPr b="1" lang="en-US" sz="2250">
                <a:latin typeface="Times New Roman"/>
                <a:ea typeface="Times New Roman"/>
                <a:cs typeface="Times New Roman"/>
                <a:sym typeface="Times New Roman"/>
              </a:rPr>
              <a:t>Result:</a:t>
            </a:r>
            <a:endParaRPr b="1" sz="2250">
              <a:latin typeface="Times New Roman"/>
              <a:ea typeface="Times New Roman"/>
              <a:cs typeface="Times New Roman"/>
              <a:sym typeface="Times New Roman"/>
            </a:endParaRPr>
          </a:p>
          <a:p>
            <a:pPr indent="0" lvl="0" marL="0" rtl="0" algn="l">
              <a:spcBef>
                <a:spcPts val="1000"/>
              </a:spcBef>
              <a:spcAft>
                <a:spcPts val="0"/>
              </a:spcAft>
              <a:buClr>
                <a:schemeClr val="dk1"/>
              </a:buClr>
              <a:buSzPts val="1100"/>
              <a:buFont typeface="Arial"/>
              <a:buNone/>
            </a:pPr>
            <a:r>
              <a:rPr lang="en-US" sz="2250">
                <a:latin typeface="Times New Roman"/>
                <a:ea typeface="Times New Roman"/>
                <a:cs typeface="Times New Roman"/>
                <a:sym typeface="Times New Roman"/>
              </a:rPr>
              <a:t>The results are shown in terms of CTR, CR, and relevance score for all baseline methods and CAGT. For instance, CAGT gains 23% improvement in terms of CTR and 18% in terms of CR compared to the best-performing baseline method, LL based Ad Generation.</a:t>
            </a:r>
            <a:endParaRPr sz="2250">
              <a:latin typeface="Times New Roman"/>
              <a:ea typeface="Times New Roman"/>
              <a:cs typeface="Times New Roman"/>
              <a:sym typeface="Times New Roman"/>
            </a:endParaRPr>
          </a:p>
          <a:p>
            <a:pPr indent="0" lvl="0" marL="0" rtl="0" algn="l">
              <a:spcBef>
                <a:spcPts val="1000"/>
              </a:spcBef>
              <a:spcAft>
                <a:spcPts val="0"/>
              </a:spcAft>
              <a:buClr>
                <a:schemeClr val="dk1"/>
              </a:buClr>
              <a:buSzPts val="1100"/>
              <a:buFont typeface="Arial"/>
              <a:buNone/>
            </a:pPr>
            <a:r>
              <a:t/>
            </a:r>
            <a:endParaRPr b="1" sz="2250">
              <a:latin typeface="Times New Roman"/>
              <a:ea typeface="Times New Roman"/>
              <a:cs typeface="Times New Roman"/>
              <a:sym typeface="Times New Roman"/>
            </a:endParaRPr>
          </a:p>
          <a:p>
            <a:pPr indent="0" lvl="0" marL="0" rtl="0" algn="l">
              <a:spcBef>
                <a:spcPts val="1000"/>
              </a:spcBef>
              <a:spcAft>
                <a:spcPts val="0"/>
              </a:spcAft>
              <a:buClr>
                <a:schemeClr val="dk1"/>
              </a:buClr>
              <a:buSzPts val="1100"/>
              <a:buFont typeface="Arial"/>
              <a:buNone/>
            </a:pPr>
            <a:r>
              <a:rPr b="1" lang="en-US" sz="2250">
                <a:latin typeface="Times New Roman"/>
                <a:ea typeface="Times New Roman"/>
                <a:cs typeface="Times New Roman"/>
                <a:sym typeface="Times New Roman"/>
              </a:rPr>
              <a:t>Future works:</a:t>
            </a:r>
            <a:endParaRPr b="1" sz="2250">
              <a:latin typeface="Times New Roman"/>
              <a:ea typeface="Times New Roman"/>
              <a:cs typeface="Times New Roman"/>
              <a:sym typeface="Times New Roman"/>
            </a:endParaRPr>
          </a:p>
          <a:p>
            <a:pPr indent="0" lvl="0" marL="0" rtl="0" algn="l">
              <a:spcBef>
                <a:spcPts val="1000"/>
              </a:spcBef>
              <a:spcAft>
                <a:spcPts val="0"/>
              </a:spcAft>
              <a:buClr>
                <a:schemeClr val="dk1"/>
              </a:buClr>
              <a:buSzPts val="1100"/>
              <a:buFont typeface="Arial"/>
              <a:buNone/>
            </a:pPr>
            <a:r>
              <a:rPr lang="en-US" sz="2250">
                <a:latin typeface="Times New Roman"/>
                <a:ea typeface="Times New Roman"/>
                <a:cs typeface="Times New Roman"/>
                <a:sym typeface="Times New Roman"/>
              </a:rPr>
              <a:t>Future research directions might focus on the integration of multimodal information, for instance images and videos into generating ads. Another domain CAGT could be used in is social media advertising and email marketing. Both areas can be explored in depth and may give some insightful value to take forward this line of work.</a:t>
            </a:r>
            <a:endParaRPr sz="2250">
              <a:latin typeface="Times New Roman"/>
              <a:ea typeface="Times New Roman"/>
              <a:cs typeface="Times New Roman"/>
              <a:sym typeface="Times New Roman"/>
            </a:endParaRPr>
          </a:p>
          <a:p>
            <a:pPr indent="0" lvl="0" marL="0" rtl="0" algn="l">
              <a:spcBef>
                <a:spcPts val="1000"/>
              </a:spcBef>
              <a:spcAft>
                <a:spcPts val="0"/>
              </a:spcAft>
              <a:buClr>
                <a:schemeClr val="dk1"/>
              </a:buClr>
              <a:buSzPts val="1100"/>
              <a:buFont typeface="Arial"/>
              <a:buNone/>
            </a:pPr>
            <a:r>
              <a:t/>
            </a:r>
            <a:endParaRPr b="1" sz="2250">
              <a:latin typeface="Times New Roman"/>
              <a:ea typeface="Times New Roman"/>
              <a:cs typeface="Times New Roman"/>
              <a:sym typeface="Times New Roman"/>
            </a:endParaRPr>
          </a:p>
          <a:p>
            <a:pPr indent="0" lvl="0" marL="0" rtl="0" algn="l">
              <a:spcBef>
                <a:spcPts val="1000"/>
              </a:spcBef>
              <a:spcAft>
                <a:spcPts val="0"/>
              </a:spcAft>
              <a:buClr>
                <a:schemeClr val="dk1"/>
              </a:buClr>
              <a:buSzPts val="1100"/>
              <a:buFont typeface="Arial"/>
              <a:buNone/>
            </a:pPr>
            <a:r>
              <a:t/>
            </a:r>
            <a:endParaRPr b="1" sz="2250">
              <a:latin typeface="Times New Roman"/>
              <a:ea typeface="Times New Roman"/>
              <a:cs typeface="Times New Roman"/>
              <a:sym typeface="Times New Roman"/>
            </a:endParaRPr>
          </a:p>
          <a:p>
            <a:pPr indent="0" lvl="0" marL="0" rtl="0" algn="l">
              <a:spcBef>
                <a:spcPts val="1000"/>
              </a:spcBef>
              <a:spcAft>
                <a:spcPts val="0"/>
              </a:spcAft>
              <a:buNone/>
            </a:pPr>
            <a:r>
              <a:t/>
            </a:r>
            <a:endParaRPr/>
          </a:p>
        </p:txBody>
      </p:sp>
      <p:sp>
        <p:nvSpPr>
          <p:cNvPr id="176" name="Google Shape;176;g31a9d1a8de3_0_117"/>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g31b149daa03_0_0"/>
          <p:cNvSpPr txBox="1"/>
          <p:nvPr>
            <p:ph idx="1" type="body"/>
          </p:nvPr>
        </p:nvSpPr>
        <p:spPr>
          <a:xfrm>
            <a:off x="776575" y="485700"/>
            <a:ext cx="9560400" cy="6372300"/>
          </a:xfrm>
          <a:prstGeom prst="rect">
            <a:avLst/>
          </a:prstGeom>
        </p:spPr>
        <p:txBody>
          <a:bodyPr anchorCtr="0" anchor="t" bIns="45700" lIns="91425" spcFirstLastPara="1" rIns="91425" wrap="square" tIns="45700">
            <a:noAutofit/>
          </a:bodyPr>
          <a:lstStyle/>
          <a:p>
            <a:pPr indent="0" lvl="0" marL="0" rtl="0" algn="l">
              <a:lnSpc>
                <a:spcPct val="130000"/>
              </a:lnSpc>
              <a:spcBef>
                <a:spcPts val="1400"/>
              </a:spcBef>
              <a:spcAft>
                <a:spcPts val="0"/>
              </a:spcAft>
              <a:buSzPts val="935"/>
              <a:buNone/>
            </a:pPr>
            <a:r>
              <a:rPr b="1" lang="en-US" sz="2200">
                <a:latin typeface="Times New Roman"/>
                <a:ea typeface="Times New Roman"/>
                <a:cs typeface="Times New Roman"/>
                <a:sym typeface="Times New Roman"/>
              </a:rPr>
              <a:t>3</a:t>
            </a:r>
            <a:r>
              <a:rPr b="1" lang="en-US" sz="2200">
                <a:latin typeface="Times New Roman"/>
                <a:ea typeface="Times New Roman"/>
                <a:cs typeface="Times New Roman"/>
                <a:sym typeface="Times New Roman"/>
              </a:rPr>
              <a:t>)</a:t>
            </a:r>
            <a:r>
              <a:rPr b="1" lang="en-US" sz="2200">
                <a:latin typeface="Times New Roman"/>
                <a:ea typeface="Times New Roman"/>
                <a:cs typeface="Times New Roman"/>
                <a:sym typeface="Times New Roman"/>
              </a:rPr>
              <a:t>Generative Artificial Intelligence: A Systematic Review and Applications</a:t>
            </a:r>
            <a:endParaRPr b="1" sz="2200">
              <a:latin typeface="Times New Roman"/>
              <a:ea typeface="Times New Roman"/>
              <a:cs typeface="Times New Roman"/>
              <a:sym typeface="Times New Roman"/>
            </a:endParaRPr>
          </a:p>
          <a:p>
            <a:pPr indent="0" lvl="0" marL="0" rtl="0" algn="l">
              <a:lnSpc>
                <a:spcPct val="130000"/>
              </a:lnSpc>
              <a:spcBef>
                <a:spcPts val="1400"/>
              </a:spcBef>
              <a:spcAft>
                <a:spcPts val="0"/>
              </a:spcAft>
              <a:buSzPts val="935"/>
              <a:buNone/>
            </a:pPr>
            <a:r>
              <a:rPr b="1" lang="en-US" sz="2200">
                <a:latin typeface="Times New Roman"/>
                <a:ea typeface="Times New Roman"/>
                <a:cs typeface="Times New Roman"/>
                <a:sym typeface="Times New Roman"/>
              </a:rPr>
              <a:t>Authors:</a:t>
            </a:r>
            <a:r>
              <a:rPr lang="en-US" sz="2200">
                <a:latin typeface="Times New Roman"/>
                <a:ea typeface="Times New Roman"/>
                <a:cs typeface="Times New Roman"/>
                <a:sym typeface="Times New Roman"/>
              </a:rPr>
              <a:t> Sandeep Singh Sengar, Affan Bin Hasan, Sanjay Kumar, Fiona Carroll</a:t>
            </a:r>
            <a:br>
              <a:rPr lang="en-US" sz="2200">
                <a:latin typeface="Times New Roman"/>
                <a:ea typeface="Times New Roman"/>
                <a:cs typeface="Times New Roman"/>
                <a:sym typeface="Times New Roman"/>
              </a:rPr>
            </a:br>
            <a:r>
              <a:rPr b="1" lang="en-US" sz="2200">
                <a:latin typeface="Times New Roman"/>
                <a:ea typeface="Times New Roman"/>
                <a:cs typeface="Times New Roman"/>
                <a:sym typeface="Times New Roman"/>
              </a:rPr>
              <a:t>Published:</a:t>
            </a:r>
            <a:r>
              <a:rPr lang="en-US" sz="2200">
                <a:latin typeface="Times New Roman"/>
                <a:ea typeface="Times New Roman"/>
                <a:cs typeface="Times New Roman"/>
                <a:sym typeface="Times New Roman"/>
              </a:rPr>
              <a:t> March 2024</a:t>
            </a:r>
            <a:endParaRPr sz="2200">
              <a:latin typeface="Times New Roman"/>
              <a:ea typeface="Times New Roman"/>
              <a:cs typeface="Times New Roman"/>
              <a:sym typeface="Times New Roman"/>
            </a:endParaRPr>
          </a:p>
          <a:p>
            <a:pPr indent="0" lvl="0" marL="0" rtl="0" algn="l">
              <a:lnSpc>
                <a:spcPct val="130000"/>
              </a:lnSpc>
              <a:spcBef>
                <a:spcPts val="1400"/>
              </a:spcBef>
              <a:spcAft>
                <a:spcPts val="0"/>
              </a:spcAft>
              <a:buSzPts val="935"/>
              <a:buNone/>
            </a:pPr>
            <a:r>
              <a:rPr b="1" lang="en-US" sz="2090">
                <a:latin typeface="Times New Roman"/>
                <a:ea typeface="Times New Roman"/>
                <a:cs typeface="Times New Roman"/>
                <a:sym typeface="Times New Roman"/>
              </a:rPr>
              <a:t>Problem Identified</a:t>
            </a:r>
            <a:endParaRPr b="1" sz="2090">
              <a:latin typeface="Times New Roman"/>
              <a:ea typeface="Times New Roman"/>
              <a:cs typeface="Times New Roman"/>
              <a:sym typeface="Times New Roman"/>
            </a:endParaRPr>
          </a:p>
          <a:p>
            <a:pPr indent="0" lvl="0" marL="0" rtl="0" algn="l">
              <a:lnSpc>
                <a:spcPct val="130000"/>
              </a:lnSpc>
              <a:spcBef>
                <a:spcPts val="1400"/>
              </a:spcBef>
              <a:spcAft>
                <a:spcPts val="0"/>
              </a:spcAft>
              <a:buSzPts val="935"/>
              <a:buNone/>
            </a:pPr>
            <a:r>
              <a:rPr lang="en-US" sz="1920">
                <a:latin typeface="Times New Roman"/>
                <a:ea typeface="Times New Roman"/>
                <a:cs typeface="Times New Roman"/>
                <a:sym typeface="Times New Roman"/>
              </a:rPr>
              <a:t>The paper reviews advancements in Generative AI models likeGANs, Transformers, VAEs, and Diffusion Models </a:t>
            </a:r>
            <a:r>
              <a:rPr lang="en-US" sz="1920">
                <a:highlight>
                  <a:srgbClr val="FFFFFF"/>
                </a:highlight>
                <a:latin typeface="Times New Roman"/>
                <a:ea typeface="Times New Roman"/>
                <a:cs typeface="Times New Roman"/>
                <a:sym typeface="Times New Roman"/>
              </a:rPr>
              <a:t>with an emphasis on their applications and ethical considerations.</a:t>
            </a:r>
            <a:endParaRPr sz="1920">
              <a:latin typeface="Times New Roman"/>
              <a:ea typeface="Times New Roman"/>
              <a:cs typeface="Times New Roman"/>
              <a:sym typeface="Times New Roman"/>
            </a:endParaRPr>
          </a:p>
          <a:p>
            <a:pPr indent="0" lvl="0" marL="0" rtl="0" algn="l">
              <a:lnSpc>
                <a:spcPct val="130000"/>
              </a:lnSpc>
              <a:spcBef>
                <a:spcPts val="1200"/>
              </a:spcBef>
              <a:spcAft>
                <a:spcPts val="0"/>
              </a:spcAft>
              <a:buSzPts val="935"/>
              <a:buNone/>
            </a:pPr>
            <a:r>
              <a:rPr b="1" lang="en-US" sz="2090">
                <a:latin typeface="Times New Roman"/>
                <a:ea typeface="Times New Roman"/>
                <a:cs typeface="Times New Roman"/>
                <a:sym typeface="Times New Roman"/>
              </a:rPr>
              <a:t>Dataset</a:t>
            </a:r>
            <a:endParaRPr b="1" sz="2090">
              <a:latin typeface="Times New Roman"/>
              <a:ea typeface="Times New Roman"/>
              <a:cs typeface="Times New Roman"/>
              <a:sym typeface="Times New Roman"/>
            </a:endParaRPr>
          </a:p>
          <a:p>
            <a:pPr indent="0" lvl="0" marL="0" rtl="0" algn="l">
              <a:lnSpc>
                <a:spcPct val="130000"/>
              </a:lnSpc>
              <a:spcBef>
                <a:spcPts val="1200"/>
              </a:spcBef>
              <a:spcAft>
                <a:spcPts val="0"/>
              </a:spcAft>
              <a:buSzPts val="935"/>
              <a:buNone/>
            </a:pPr>
            <a:r>
              <a:rPr lang="en-US" sz="1920">
                <a:latin typeface="Times New Roman"/>
                <a:ea typeface="Times New Roman"/>
                <a:cs typeface="Times New Roman"/>
                <a:sym typeface="Times New Roman"/>
              </a:rPr>
              <a:t>It uses datasets like ImageNet, CelebA, and MIMIC for images; Kinetics and VoxCeleb for videos; and CoNLL-2003, DUC-2002, and XNLI for NLP, </a:t>
            </a:r>
            <a:r>
              <a:rPr lang="en-US" sz="1920">
                <a:highlight>
                  <a:srgbClr val="FFFFFF"/>
                </a:highlight>
                <a:latin typeface="Times New Roman"/>
                <a:ea typeface="Times New Roman"/>
                <a:cs typeface="Times New Roman"/>
                <a:sym typeface="Times New Roman"/>
              </a:rPr>
              <a:t>putting an emphasis on ethical use of data.</a:t>
            </a:r>
            <a:endParaRPr sz="1920">
              <a:latin typeface="Times New Roman"/>
              <a:ea typeface="Times New Roman"/>
              <a:cs typeface="Times New Roman"/>
              <a:sym typeface="Times New Roman"/>
            </a:endParaRPr>
          </a:p>
          <a:p>
            <a:pPr indent="0" lvl="0" marL="0" rtl="0" algn="l">
              <a:lnSpc>
                <a:spcPct val="130000"/>
              </a:lnSpc>
              <a:spcBef>
                <a:spcPts val="1200"/>
              </a:spcBef>
              <a:spcAft>
                <a:spcPts val="0"/>
              </a:spcAft>
              <a:buSzPts val="935"/>
              <a:buNone/>
            </a:pPr>
            <a:r>
              <a:rPr b="1" lang="en-US" sz="2090">
                <a:latin typeface="Times New Roman"/>
                <a:ea typeface="Times New Roman"/>
                <a:cs typeface="Times New Roman"/>
                <a:sym typeface="Times New Roman"/>
              </a:rPr>
              <a:t>Methodology</a:t>
            </a:r>
            <a:endParaRPr b="1" sz="2090">
              <a:latin typeface="Times New Roman"/>
              <a:ea typeface="Times New Roman"/>
              <a:cs typeface="Times New Roman"/>
              <a:sym typeface="Times New Roman"/>
            </a:endParaRPr>
          </a:p>
          <a:p>
            <a:pPr indent="0" lvl="0" marL="0" rtl="0" algn="just">
              <a:lnSpc>
                <a:spcPct val="130000"/>
              </a:lnSpc>
              <a:spcBef>
                <a:spcPts val="1200"/>
              </a:spcBef>
              <a:spcAft>
                <a:spcPts val="0"/>
              </a:spcAft>
              <a:buSzPts val="935"/>
              <a:buNone/>
            </a:pPr>
            <a:r>
              <a:rPr lang="en-US" sz="1920">
                <a:highlight>
                  <a:srgbClr val="FFFFFF"/>
                </a:highlight>
                <a:latin typeface="Times New Roman"/>
                <a:ea typeface="Times New Roman"/>
                <a:cs typeface="Times New Roman"/>
                <a:sym typeface="Times New Roman"/>
              </a:rPr>
              <a:t>From 2012 to 2023, a systematic review was carried out that utilized standardized metrics like FID (images) and ROUGE (text) to analyze model architectures and applicatio</a:t>
            </a:r>
            <a:r>
              <a:rPr lang="en-US" sz="1820">
                <a:highlight>
                  <a:srgbClr val="FFFFFF"/>
                </a:highlight>
                <a:latin typeface="Times New Roman"/>
                <a:ea typeface="Times New Roman"/>
                <a:cs typeface="Times New Roman"/>
                <a:sym typeface="Times New Roman"/>
              </a:rPr>
              <a:t>ns.</a:t>
            </a:r>
            <a:endParaRPr sz="1820">
              <a:latin typeface="Times New Roman"/>
              <a:ea typeface="Times New Roman"/>
              <a:cs typeface="Times New Roman"/>
              <a:sym typeface="Times New Roman"/>
            </a:endParaRPr>
          </a:p>
          <a:p>
            <a:pPr indent="0" lvl="0" marL="0" rtl="0" algn="just">
              <a:lnSpc>
                <a:spcPct val="130000"/>
              </a:lnSpc>
              <a:spcBef>
                <a:spcPts val="1200"/>
              </a:spcBef>
              <a:spcAft>
                <a:spcPts val="0"/>
              </a:spcAft>
              <a:buSzPts val="935"/>
              <a:buNone/>
            </a:pPr>
            <a:r>
              <a:t/>
            </a:r>
            <a:endParaRPr sz="1820">
              <a:highlight>
                <a:srgbClr val="FFFFFF"/>
              </a:highlight>
              <a:latin typeface="Times New Roman"/>
              <a:ea typeface="Times New Roman"/>
              <a:cs typeface="Times New Roman"/>
              <a:sym typeface="Times New Roman"/>
            </a:endParaRPr>
          </a:p>
          <a:p>
            <a:pPr indent="0" lvl="0" marL="0" rtl="0" algn="l">
              <a:lnSpc>
                <a:spcPct val="130000"/>
              </a:lnSpc>
              <a:spcBef>
                <a:spcPts val="1200"/>
              </a:spcBef>
              <a:spcAft>
                <a:spcPts val="0"/>
              </a:spcAft>
              <a:buClr>
                <a:schemeClr val="dk1"/>
              </a:buClr>
              <a:buSzPts val="935"/>
              <a:buFont typeface="Arial"/>
              <a:buNone/>
            </a:pPr>
            <a:r>
              <a:t/>
            </a:r>
            <a:endParaRPr b="1" sz="1990">
              <a:latin typeface="Times New Roman"/>
              <a:ea typeface="Times New Roman"/>
              <a:cs typeface="Times New Roman"/>
              <a:sym typeface="Times New Roman"/>
            </a:endParaRPr>
          </a:p>
          <a:p>
            <a:pPr indent="0" lvl="0" marL="0" rtl="0" algn="l">
              <a:lnSpc>
                <a:spcPct val="70000"/>
              </a:lnSpc>
              <a:spcBef>
                <a:spcPts val="1000"/>
              </a:spcBef>
              <a:spcAft>
                <a:spcPts val="0"/>
              </a:spcAft>
              <a:buSzPts val="935"/>
              <a:buNone/>
            </a:pPr>
            <a:r>
              <a:t/>
            </a:r>
            <a:endParaRPr sz="3180"/>
          </a:p>
        </p:txBody>
      </p:sp>
      <p:sp>
        <p:nvSpPr>
          <p:cNvPr id="183" name="Google Shape;183;g31b149daa03_0_0"/>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g31aa606e22d_0_21"/>
          <p:cNvSpPr txBox="1"/>
          <p:nvPr>
            <p:ph idx="1" type="body"/>
          </p:nvPr>
        </p:nvSpPr>
        <p:spPr>
          <a:xfrm>
            <a:off x="838200" y="545900"/>
            <a:ext cx="6439800" cy="4351200"/>
          </a:xfrm>
          <a:prstGeom prst="rect">
            <a:avLst/>
          </a:prstGeom>
        </p:spPr>
        <p:txBody>
          <a:bodyPr anchorCtr="0" anchor="t" bIns="45700" lIns="91425" spcFirstLastPara="1" rIns="91425" wrap="square" tIns="45700">
            <a:noAutofit/>
          </a:bodyPr>
          <a:lstStyle/>
          <a:p>
            <a:pPr indent="0" lvl="0" marL="0" rtl="0" algn="l">
              <a:lnSpc>
                <a:spcPct val="150000"/>
              </a:lnSpc>
              <a:spcBef>
                <a:spcPts val="1200"/>
              </a:spcBef>
              <a:spcAft>
                <a:spcPts val="0"/>
              </a:spcAft>
              <a:buNone/>
            </a:pPr>
            <a:r>
              <a:rPr b="1" lang="en-US" sz="2150">
                <a:latin typeface="Times New Roman"/>
                <a:ea typeface="Times New Roman"/>
                <a:cs typeface="Times New Roman"/>
                <a:sym typeface="Times New Roman"/>
              </a:rPr>
              <a:t>Results</a:t>
            </a:r>
            <a:endParaRPr b="1" sz="2150">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2000">
                <a:highlight>
                  <a:srgbClr val="FFFFFF"/>
                </a:highlight>
                <a:latin typeface="Times New Roman"/>
                <a:ea typeface="Times New Roman"/>
                <a:cs typeface="Times New Roman"/>
                <a:sym typeface="Times New Roman"/>
              </a:rPr>
              <a:t>Swin Transformers and UVCGANs were more effective than other models in completing image tasks; MViTv2 achieved 86.1% of video classification. NLP tasks were proficiently carried out by GPT, BERT and ChatGPT, while synthetic data creation was improved by generative models.</a:t>
            </a:r>
            <a:endParaRPr sz="2000">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b="1" lang="en-US" sz="2150">
                <a:latin typeface="Times New Roman"/>
                <a:ea typeface="Times New Roman"/>
                <a:cs typeface="Times New Roman"/>
                <a:sym typeface="Times New Roman"/>
              </a:rPr>
              <a:t>Future Scope</a:t>
            </a:r>
            <a:endParaRPr b="1" sz="2150">
              <a:latin typeface="Times New Roman"/>
              <a:ea typeface="Times New Roman"/>
              <a:cs typeface="Times New Roman"/>
              <a:sym typeface="Times New Roman"/>
            </a:endParaRPr>
          </a:p>
          <a:p>
            <a:pPr indent="0" lvl="0" marL="0" rtl="0" algn="just">
              <a:lnSpc>
                <a:spcPct val="150000"/>
              </a:lnSpc>
              <a:spcBef>
                <a:spcPts val="1200"/>
              </a:spcBef>
              <a:spcAft>
                <a:spcPts val="1200"/>
              </a:spcAft>
              <a:buClr>
                <a:schemeClr val="dk1"/>
              </a:buClr>
              <a:buSzPts val="1100"/>
              <a:buFont typeface="Arial"/>
              <a:buNone/>
            </a:pPr>
            <a:r>
              <a:rPr lang="en-US" sz="2000">
                <a:highlight>
                  <a:srgbClr val="FFFFFF"/>
                </a:highlight>
                <a:latin typeface="Times New Roman"/>
                <a:ea typeface="Times New Roman"/>
                <a:cs typeface="Times New Roman"/>
                <a:sym typeface="Times New Roman"/>
              </a:rPr>
              <a:t>In the future, research will concentrate on ethical AI principles and their scaling, as well as cross-modal tasks like combining text to images and domain-specific applications such as education and molecular synthesis.</a:t>
            </a:r>
            <a:endParaRPr sz="2000"/>
          </a:p>
        </p:txBody>
      </p:sp>
      <p:sp>
        <p:nvSpPr>
          <p:cNvPr id="190" name="Google Shape;190;g31aa606e22d_0_21"/>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pic>
        <p:nvPicPr>
          <p:cNvPr id="191" name="Google Shape;191;g31aa606e22d_0_21"/>
          <p:cNvPicPr preferRelativeResize="0"/>
          <p:nvPr/>
        </p:nvPicPr>
        <p:blipFill>
          <a:blip r:embed="rId3">
            <a:alphaModFix/>
          </a:blip>
          <a:stretch>
            <a:fillRect/>
          </a:stretch>
        </p:blipFill>
        <p:spPr>
          <a:xfrm>
            <a:off x="7351375" y="1341050"/>
            <a:ext cx="4121374" cy="2182450"/>
          </a:xfrm>
          <a:prstGeom prst="rect">
            <a:avLst/>
          </a:prstGeom>
          <a:noFill/>
          <a:ln>
            <a:noFill/>
          </a:ln>
        </p:spPr>
      </p:pic>
      <p:pic>
        <p:nvPicPr>
          <p:cNvPr id="192" name="Google Shape;192;g31aa606e22d_0_21"/>
          <p:cNvPicPr preferRelativeResize="0"/>
          <p:nvPr/>
        </p:nvPicPr>
        <p:blipFill>
          <a:blip r:embed="rId4">
            <a:alphaModFix/>
          </a:blip>
          <a:stretch>
            <a:fillRect/>
          </a:stretch>
        </p:blipFill>
        <p:spPr>
          <a:xfrm>
            <a:off x="9115575" y="3828300"/>
            <a:ext cx="2010401" cy="252804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31a9d1a8de3_0_26"/>
          <p:cNvSpPr txBox="1"/>
          <p:nvPr>
            <p:ph idx="1" type="body"/>
          </p:nvPr>
        </p:nvSpPr>
        <p:spPr>
          <a:xfrm>
            <a:off x="658675" y="603575"/>
            <a:ext cx="10205100" cy="5143800"/>
          </a:xfrm>
          <a:prstGeom prst="rect">
            <a:avLst/>
          </a:prstGeom>
        </p:spPr>
        <p:txBody>
          <a:bodyPr anchorCtr="0" anchor="t" bIns="45700" lIns="91425" spcFirstLastPara="1" rIns="91425" wrap="square" tIns="45700">
            <a:noAutofit/>
          </a:bodyPr>
          <a:lstStyle/>
          <a:p>
            <a:pPr indent="0" lvl="0" marL="0" rtl="0" algn="l">
              <a:lnSpc>
                <a:spcPct val="70000"/>
              </a:lnSpc>
              <a:spcBef>
                <a:spcPts val="1000"/>
              </a:spcBef>
              <a:spcAft>
                <a:spcPts val="0"/>
              </a:spcAft>
              <a:buSzPts val="688"/>
              <a:buNone/>
            </a:pPr>
            <a:r>
              <a:rPr lang="en-US" sz="2150">
                <a:latin typeface="Times New Roman"/>
                <a:ea typeface="Times New Roman"/>
                <a:cs typeface="Times New Roman"/>
                <a:sym typeface="Times New Roman"/>
              </a:rPr>
              <a:t>4</a:t>
            </a:r>
            <a:r>
              <a:rPr lang="en-US" sz="2150">
                <a:latin typeface="Times New Roman"/>
                <a:ea typeface="Times New Roman"/>
                <a:cs typeface="Times New Roman"/>
                <a:sym typeface="Times New Roman"/>
              </a:rPr>
              <a:t>)</a:t>
            </a:r>
            <a:r>
              <a:rPr b="1" lang="en-US" sz="2150">
                <a:latin typeface="Times New Roman"/>
                <a:ea typeface="Times New Roman"/>
                <a:cs typeface="Times New Roman"/>
                <a:sym typeface="Times New Roman"/>
              </a:rPr>
              <a:t>Automated Model Selection For Time Series Anomaly Detection</a:t>
            </a:r>
            <a:endParaRPr sz="2250">
              <a:latin typeface="Times New Roman"/>
              <a:ea typeface="Times New Roman"/>
              <a:cs typeface="Times New Roman"/>
              <a:sym typeface="Times New Roman"/>
            </a:endParaRPr>
          </a:p>
          <a:p>
            <a:pPr indent="0" lvl="0" marL="0" rtl="0" algn="l">
              <a:lnSpc>
                <a:spcPct val="70000"/>
              </a:lnSpc>
              <a:spcBef>
                <a:spcPts val="1000"/>
              </a:spcBef>
              <a:spcAft>
                <a:spcPts val="0"/>
              </a:spcAft>
              <a:buClr>
                <a:schemeClr val="dk1"/>
              </a:buClr>
              <a:buSzPts val="688"/>
              <a:buFont typeface="Arial"/>
              <a:buNone/>
            </a:pPr>
            <a:r>
              <a:rPr b="1" lang="en-US" sz="2250">
                <a:latin typeface="Times New Roman"/>
                <a:ea typeface="Times New Roman"/>
                <a:cs typeface="Times New Roman"/>
                <a:sym typeface="Times New Roman"/>
              </a:rPr>
              <a:t>Authors:</a:t>
            </a:r>
            <a:r>
              <a:rPr lang="en-US" sz="2250">
                <a:latin typeface="Times New Roman"/>
                <a:ea typeface="Times New Roman"/>
                <a:cs typeface="Times New Roman"/>
                <a:sym typeface="Times New Roman"/>
              </a:rPr>
              <a:t> </a:t>
            </a:r>
            <a:r>
              <a:rPr lang="en-US" sz="2250">
                <a:latin typeface="Times New Roman"/>
                <a:ea typeface="Times New Roman"/>
                <a:cs typeface="Times New Roman"/>
                <a:sym typeface="Times New Roman"/>
              </a:rPr>
              <a:t>Yuanxiang Ying, Juanyong Duan, Chunlei Wang, Yujing Wang, Congrui Huang, Bixiong Xu</a:t>
            </a:r>
            <a:endParaRPr sz="2250">
              <a:latin typeface="Times New Roman"/>
              <a:ea typeface="Times New Roman"/>
              <a:cs typeface="Times New Roman"/>
              <a:sym typeface="Times New Roman"/>
            </a:endParaRPr>
          </a:p>
          <a:p>
            <a:pPr indent="0" lvl="0" marL="0" rtl="0" algn="l">
              <a:lnSpc>
                <a:spcPct val="70000"/>
              </a:lnSpc>
              <a:spcBef>
                <a:spcPts val="1000"/>
              </a:spcBef>
              <a:spcAft>
                <a:spcPts val="0"/>
              </a:spcAft>
              <a:buSzPts val="688"/>
              <a:buNone/>
            </a:pPr>
            <a:r>
              <a:rPr b="1" lang="en-US" sz="2250">
                <a:latin typeface="Times New Roman"/>
                <a:ea typeface="Times New Roman"/>
                <a:cs typeface="Times New Roman"/>
                <a:sym typeface="Times New Roman"/>
              </a:rPr>
              <a:t>Date:</a:t>
            </a:r>
            <a:r>
              <a:rPr lang="en-US" sz="2250">
                <a:latin typeface="Times New Roman"/>
                <a:ea typeface="Times New Roman"/>
                <a:cs typeface="Times New Roman"/>
                <a:sym typeface="Times New Roman"/>
              </a:rPr>
              <a:t>2020</a:t>
            </a:r>
            <a:endParaRPr sz="2250">
              <a:latin typeface="Times New Roman"/>
              <a:ea typeface="Times New Roman"/>
              <a:cs typeface="Times New Roman"/>
              <a:sym typeface="Times New Roman"/>
            </a:endParaRPr>
          </a:p>
          <a:p>
            <a:pPr indent="0" lvl="0" marL="0" rtl="0" algn="l">
              <a:lnSpc>
                <a:spcPct val="70000"/>
              </a:lnSpc>
              <a:spcBef>
                <a:spcPts val="1000"/>
              </a:spcBef>
              <a:spcAft>
                <a:spcPts val="0"/>
              </a:spcAft>
              <a:buSzPts val="688"/>
              <a:buNone/>
            </a:pPr>
            <a:r>
              <a:t/>
            </a:r>
            <a:endParaRPr sz="2250">
              <a:latin typeface="Times New Roman"/>
              <a:ea typeface="Times New Roman"/>
              <a:cs typeface="Times New Roman"/>
              <a:sym typeface="Times New Roman"/>
            </a:endParaRPr>
          </a:p>
          <a:p>
            <a:pPr indent="0" lvl="0" marL="0" rtl="0" algn="l">
              <a:lnSpc>
                <a:spcPct val="70000"/>
              </a:lnSpc>
              <a:spcBef>
                <a:spcPts val="1000"/>
              </a:spcBef>
              <a:spcAft>
                <a:spcPts val="0"/>
              </a:spcAft>
              <a:buSzPts val="688"/>
              <a:buNone/>
            </a:pPr>
            <a:r>
              <a:rPr b="1" lang="en-US" sz="2250">
                <a:latin typeface="Times New Roman"/>
                <a:ea typeface="Times New Roman"/>
                <a:cs typeface="Times New Roman"/>
                <a:sym typeface="Times New Roman"/>
              </a:rPr>
              <a:t>Problem identified:</a:t>
            </a:r>
            <a:endParaRPr b="1" sz="2250">
              <a:latin typeface="Times New Roman"/>
              <a:ea typeface="Times New Roman"/>
              <a:cs typeface="Times New Roman"/>
              <a:sym typeface="Times New Roman"/>
            </a:endParaRPr>
          </a:p>
          <a:p>
            <a:pPr indent="0" lvl="0" marL="0" rtl="0" algn="l">
              <a:lnSpc>
                <a:spcPct val="70000"/>
              </a:lnSpc>
              <a:spcBef>
                <a:spcPts val="1000"/>
              </a:spcBef>
              <a:spcAft>
                <a:spcPts val="0"/>
              </a:spcAft>
              <a:buSzPts val="688"/>
              <a:buNone/>
            </a:pPr>
            <a:r>
              <a:t/>
            </a:r>
            <a:endParaRPr b="1" sz="2250">
              <a:latin typeface="Times New Roman"/>
              <a:ea typeface="Times New Roman"/>
              <a:cs typeface="Times New Roman"/>
              <a:sym typeface="Times New Roman"/>
            </a:endParaRPr>
          </a:p>
          <a:p>
            <a:pPr indent="0" lvl="0" marL="457200" rtl="0" algn="just">
              <a:lnSpc>
                <a:spcPct val="150000"/>
              </a:lnSpc>
              <a:spcBef>
                <a:spcPts val="0"/>
              </a:spcBef>
              <a:spcAft>
                <a:spcPts val="0"/>
              </a:spcAft>
              <a:buSzPts val="1100"/>
              <a:buNone/>
            </a:pPr>
            <a:r>
              <a:rPr lang="en-US" sz="1800">
                <a:latin typeface="Times New Roman"/>
                <a:ea typeface="Times New Roman"/>
                <a:cs typeface="Times New Roman"/>
                <a:sym typeface="Times New Roman"/>
              </a:rPr>
              <a:t>The issue concerns time-series anomaly detection where diverse and noisy data make it possible for training supervised models due to shortage of labels. Automated model selection framework has been proposed to find the models fit for incoming data along with a custom tuning algorithm for filtering anomalies. This is fitting in new detectors, and also meets specific client requirements.</a:t>
            </a:r>
            <a:endParaRPr sz="1800">
              <a:latin typeface="Times New Roman"/>
              <a:ea typeface="Times New Roman"/>
              <a:cs typeface="Times New Roman"/>
              <a:sym typeface="Times New Roman"/>
            </a:endParaRPr>
          </a:p>
          <a:p>
            <a:pPr indent="0" lvl="0" marL="0" rtl="0" algn="l">
              <a:lnSpc>
                <a:spcPct val="70000"/>
              </a:lnSpc>
              <a:spcBef>
                <a:spcPts val="1000"/>
              </a:spcBef>
              <a:spcAft>
                <a:spcPts val="0"/>
              </a:spcAft>
              <a:buSzPts val="688"/>
              <a:buNone/>
            </a:pPr>
            <a:r>
              <a:rPr b="1" lang="en-US" sz="2250">
                <a:latin typeface="Times New Roman"/>
                <a:ea typeface="Times New Roman"/>
                <a:cs typeface="Times New Roman"/>
                <a:sym typeface="Times New Roman"/>
              </a:rPr>
              <a:t>Dataset:</a:t>
            </a:r>
            <a:endParaRPr b="1" sz="2250">
              <a:latin typeface="Times New Roman"/>
              <a:ea typeface="Times New Roman"/>
              <a:cs typeface="Times New Roman"/>
              <a:sym typeface="Times New Roman"/>
            </a:endParaRPr>
          </a:p>
          <a:p>
            <a:pPr indent="0" lvl="0" marL="0" rtl="0" algn="l">
              <a:lnSpc>
                <a:spcPct val="70000"/>
              </a:lnSpc>
              <a:spcBef>
                <a:spcPts val="1000"/>
              </a:spcBef>
              <a:spcAft>
                <a:spcPts val="0"/>
              </a:spcAft>
              <a:buSzPts val="688"/>
              <a:buNone/>
            </a:pPr>
            <a:r>
              <a:t/>
            </a:r>
            <a:endParaRPr b="1" sz="2250">
              <a:latin typeface="Times New Roman"/>
              <a:ea typeface="Times New Roman"/>
              <a:cs typeface="Times New Roman"/>
              <a:sym typeface="Times New Roman"/>
            </a:endParaRPr>
          </a:p>
          <a:p>
            <a:pPr indent="0" lvl="0" marL="457200" rtl="0" algn="just">
              <a:lnSpc>
                <a:spcPct val="150000"/>
              </a:lnSpc>
              <a:spcBef>
                <a:spcPts val="0"/>
              </a:spcBef>
              <a:spcAft>
                <a:spcPts val="0"/>
              </a:spcAft>
              <a:buClr>
                <a:schemeClr val="dk1"/>
              </a:buClr>
              <a:buSzPts val="1100"/>
              <a:buFont typeface="Arial"/>
              <a:buNone/>
            </a:pPr>
            <a:r>
              <a:rPr lang="en-US" sz="1800">
                <a:latin typeface="Times New Roman"/>
                <a:ea typeface="Times New Roman"/>
                <a:cs typeface="Times New Roman"/>
                <a:sym typeface="Times New Roman"/>
              </a:rPr>
              <a:t>Time-series dataset, TSD, divided into a 3:1 ratio for training and testing. For each anomaly-increasing detector MiM_iMi​, a set of candidate parameters is evaluated, and the best performing pair is used, according to the F1 score, as the ground truth for the model selector and parameter estimator.</a:t>
            </a:r>
            <a:endParaRPr sz="1800">
              <a:latin typeface="Times New Roman"/>
              <a:ea typeface="Times New Roman"/>
              <a:cs typeface="Times New Roman"/>
              <a:sym typeface="Times New Roman"/>
            </a:endParaRPr>
          </a:p>
          <a:p>
            <a:pPr indent="0" lvl="0" marL="0" rtl="0" algn="l">
              <a:lnSpc>
                <a:spcPct val="70000"/>
              </a:lnSpc>
              <a:spcBef>
                <a:spcPts val="1000"/>
              </a:spcBef>
              <a:spcAft>
                <a:spcPts val="0"/>
              </a:spcAft>
              <a:buSzPts val="688"/>
              <a:buNone/>
            </a:pPr>
            <a:r>
              <a:t/>
            </a:r>
            <a:endParaRPr sz="1900">
              <a:latin typeface="Times New Roman"/>
              <a:ea typeface="Times New Roman"/>
              <a:cs typeface="Times New Roman"/>
              <a:sym typeface="Times New Roman"/>
            </a:endParaRPr>
          </a:p>
          <a:p>
            <a:pPr indent="0" lvl="0" marL="0" rtl="0" algn="l">
              <a:lnSpc>
                <a:spcPct val="70000"/>
              </a:lnSpc>
              <a:spcBef>
                <a:spcPts val="1000"/>
              </a:spcBef>
              <a:spcAft>
                <a:spcPts val="0"/>
              </a:spcAft>
              <a:buSzPts val="688"/>
              <a:buNone/>
            </a:pPr>
            <a:r>
              <a:t/>
            </a:r>
            <a:endParaRPr sz="2250">
              <a:latin typeface="Times New Roman"/>
              <a:ea typeface="Times New Roman"/>
              <a:cs typeface="Times New Roman"/>
              <a:sym typeface="Times New Roman"/>
            </a:endParaRPr>
          </a:p>
          <a:p>
            <a:pPr indent="0" lvl="0" marL="0" rtl="0" algn="l">
              <a:lnSpc>
                <a:spcPct val="70000"/>
              </a:lnSpc>
              <a:spcBef>
                <a:spcPts val="1000"/>
              </a:spcBef>
              <a:spcAft>
                <a:spcPts val="0"/>
              </a:spcAft>
              <a:buSzPts val="688"/>
              <a:buNone/>
            </a:pPr>
            <a:r>
              <a:t/>
            </a:r>
            <a:endParaRPr b="1" sz="2250">
              <a:latin typeface="Times New Roman"/>
              <a:ea typeface="Times New Roman"/>
              <a:cs typeface="Times New Roman"/>
              <a:sym typeface="Times New Roman"/>
            </a:endParaRPr>
          </a:p>
          <a:p>
            <a:pPr indent="0" lvl="0" marL="0" rtl="0" algn="l">
              <a:lnSpc>
                <a:spcPct val="70000"/>
              </a:lnSpc>
              <a:spcBef>
                <a:spcPts val="1000"/>
              </a:spcBef>
              <a:spcAft>
                <a:spcPts val="0"/>
              </a:spcAft>
              <a:buSzPts val="688"/>
              <a:buNone/>
            </a:pPr>
            <a:r>
              <a:t/>
            </a:r>
            <a:endParaRPr b="1" sz="2250">
              <a:latin typeface="Times New Roman"/>
              <a:ea typeface="Times New Roman"/>
              <a:cs typeface="Times New Roman"/>
              <a:sym typeface="Times New Roman"/>
            </a:endParaRPr>
          </a:p>
          <a:p>
            <a:pPr indent="0" lvl="0" marL="0" rtl="0" algn="l">
              <a:lnSpc>
                <a:spcPct val="70000"/>
              </a:lnSpc>
              <a:spcBef>
                <a:spcPts val="1000"/>
              </a:spcBef>
              <a:spcAft>
                <a:spcPts val="0"/>
              </a:spcAft>
              <a:buSzPts val="688"/>
              <a:buNone/>
            </a:pPr>
            <a:r>
              <a:t/>
            </a:r>
            <a:endParaRPr b="1" sz="2250">
              <a:latin typeface="Times New Roman"/>
              <a:ea typeface="Times New Roman"/>
              <a:cs typeface="Times New Roman"/>
              <a:sym typeface="Times New Roman"/>
            </a:endParaRPr>
          </a:p>
          <a:p>
            <a:pPr indent="0" lvl="0" marL="0" rtl="0" algn="l">
              <a:lnSpc>
                <a:spcPct val="70000"/>
              </a:lnSpc>
              <a:spcBef>
                <a:spcPts val="1000"/>
              </a:spcBef>
              <a:spcAft>
                <a:spcPts val="0"/>
              </a:spcAft>
              <a:buSzPts val="688"/>
              <a:buNone/>
            </a:pPr>
            <a:r>
              <a:t/>
            </a:r>
            <a:endParaRPr b="1" sz="2250">
              <a:latin typeface="Times New Roman"/>
              <a:ea typeface="Times New Roman"/>
              <a:cs typeface="Times New Roman"/>
              <a:sym typeface="Times New Roman"/>
            </a:endParaRPr>
          </a:p>
          <a:p>
            <a:pPr indent="0" lvl="0" marL="0" rtl="0" algn="l">
              <a:lnSpc>
                <a:spcPct val="70000"/>
              </a:lnSpc>
              <a:spcBef>
                <a:spcPts val="1000"/>
              </a:spcBef>
              <a:spcAft>
                <a:spcPts val="0"/>
              </a:spcAft>
              <a:buClr>
                <a:schemeClr val="dk1"/>
              </a:buClr>
              <a:buSzPts val="688"/>
              <a:buFont typeface="Arial"/>
              <a:buNone/>
            </a:pPr>
            <a:r>
              <a:t/>
            </a:r>
            <a:endParaRPr sz="2250">
              <a:latin typeface="Times New Roman"/>
              <a:ea typeface="Times New Roman"/>
              <a:cs typeface="Times New Roman"/>
              <a:sym typeface="Times New Roman"/>
            </a:endParaRPr>
          </a:p>
          <a:p>
            <a:pPr indent="0" lvl="0" marL="0" rtl="0" algn="l">
              <a:lnSpc>
                <a:spcPct val="70000"/>
              </a:lnSpc>
              <a:spcBef>
                <a:spcPts val="1000"/>
              </a:spcBef>
              <a:spcAft>
                <a:spcPts val="0"/>
              </a:spcAft>
              <a:buClr>
                <a:schemeClr val="dk1"/>
              </a:buClr>
              <a:buSzPts val="688"/>
              <a:buFont typeface="Arial"/>
              <a:buNone/>
            </a:pPr>
            <a:r>
              <a:t/>
            </a:r>
            <a:endParaRPr sz="2250">
              <a:latin typeface="Times New Roman"/>
              <a:ea typeface="Times New Roman"/>
              <a:cs typeface="Times New Roman"/>
              <a:sym typeface="Times New Roman"/>
            </a:endParaRPr>
          </a:p>
          <a:p>
            <a:pPr indent="0" lvl="0" marL="0" rtl="0" algn="l">
              <a:lnSpc>
                <a:spcPct val="70000"/>
              </a:lnSpc>
              <a:spcBef>
                <a:spcPts val="1000"/>
              </a:spcBef>
              <a:spcAft>
                <a:spcPts val="0"/>
              </a:spcAft>
              <a:buSzPts val="688"/>
              <a:buNone/>
            </a:pPr>
            <a:r>
              <a:t/>
            </a:r>
            <a:endParaRPr sz="2250">
              <a:latin typeface="Times New Roman"/>
              <a:ea typeface="Times New Roman"/>
              <a:cs typeface="Times New Roman"/>
              <a:sym typeface="Times New Roman"/>
            </a:endParaRPr>
          </a:p>
        </p:txBody>
      </p:sp>
      <p:sp>
        <p:nvSpPr>
          <p:cNvPr id="199" name="Google Shape;199;g31a9d1a8de3_0_26"/>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g31b149daa03_0_20"/>
          <p:cNvSpPr txBox="1"/>
          <p:nvPr>
            <p:ph idx="1" type="body"/>
          </p:nvPr>
        </p:nvSpPr>
        <p:spPr>
          <a:xfrm>
            <a:off x="466775" y="509250"/>
            <a:ext cx="10515600" cy="5839500"/>
          </a:xfrm>
          <a:prstGeom prst="rect">
            <a:avLst/>
          </a:prstGeom>
        </p:spPr>
        <p:txBody>
          <a:bodyPr anchorCtr="0" anchor="t" bIns="45700" lIns="91425" spcFirstLastPara="1" rIns="91425" wrap="square" tIns="45700">
            <a:noAutofit/>
          </a:bodyPr>
          <a:lstStyle/>
          <a:p>
            <a:pPr indent="0" lvl="0" marL="0" rtl="0" algn="l">
              <a:lnSpc>
                <a:spcPct val="70000"/>
              </a:lnSpc>
              <a:spcBef>
                <a:spcPts val="1000"/>
              </a:spcBef>
              <a:spcAft>
                <a:spcPts val="0"/>
              </a:spcAft>
              <a:buSzPts val="688"/>
              <a:buNone/>
            </a:pPr>
            <a:r>
              <a:rPr b="1" lang="en-US" sz="2250">
                <a:latin typeface="Times New Roman"/>
                <a:ea typeface="Times New Roman"/>
                <a:cs typeface="Times New Roman"/>
                <a:sym typeface="Times New Roman"/>
              </a:rPr>
              <a:t>Methodology:</a:t>
            </a:r>
            <a:endParaRPr b="1" sz="2250">
              <a:latin typeface="Times New Roman"/>
              <a:ea typeface="Times New Roman"/>
              <a:cs typeface="Times New Roman"/>
              <a:sym typeface="Times New Roman"/>
            </a:endParaRPr>
          </a:p>
          <a:p>
            <a:pPr indent="0" lvl="0" marL="0" rtl="0" algn="l">
              <a:lnSpc>
                <a:spcPct val="70000"/>
              </a:lnSpc>
              <a:spcBef>
                <a:spcPts val="1000"/>
              </a:spcBef>
              <a:spcAft>
                <a:spcPts val="0"/>
              </a:spcAft>
              <a:buClr>
                <a:schemeClr val="dk1"/>
              </a:buClr>
              <a:buSzPts val="688"/>
              <a:buFont typeface="Arial"/>
              <a:buNone/>
            </a:pPr>
            <a:r>
              <a:t/>
            </a:r>
            <a:endParaRPr b="1" sz="2250">
              <a:latin typeface="Times New Roman"/>
              <a:ea typeface="Times New Roman"/>
              <a:cs typeface="Times New Roman"/>
              <a:sym typeface="Times New Roman"/>
            </a:endParaRPr>
          </a:p>
          <a:p>
            <a:pPr indent="0" lvl="0" marL="457200" rtl="0" algn="just">
              <a:lnSpc>
                <a:spcPct val="150000"/>
              </a:lnSpc>
              <a:spcBef>
                <a:spcPts val="0"/>
              </a:spcBef>
              <a:spcAft>
                <a:spcPts val="0"/>
              </a:spcAft>
              <a:buSzPts val="1100"/>
              <a:buNone/>
            </a:pPr>
            <a:r>
              <a:rPr lang="en-US" sz="1800">
                <a:latin typeface="Times New Roman"/>
                <a:ea typeface="Times New Roman"/>
                <a:cs typeface="Times New Roman"/>
                <a:sym typeface="Times New Roman"/>
              </a:rPr>
              <a:t>The methodology involves feature extraction using transformations, including Spectral Residual and FFT; automatic model selection to classify and select the best anomaly detection model with optimized parameters; and a customized tuning phase to refine the detection results on user-defined criteria.</a:t>
            </a:r>
            <a:endParaRPr sz="1800">
              <a:latin typeface="Times New Roman"/>
              <a:ea typeface="Times New Roman"/>
              <a:cs typeface="Times New Roman"/>
              <a:sym typeface="Times New Roman"/>
            </a:endParaRPr>
          </a:p>
          <a:p>
            <a:pPr indent="0" lvl="0" marL="0" rtl="0" algn="just">
              <a:lnSpc>
                <a:spcPct val="150000"/>
              </a:lnSpc>
              <a:spcBef>
                <a:spcPts val="0"/>
              </a:spcBef>
              <a:spcAft>
                <a:spcPts val="0"/>
              </a:spcAft>
              <a:buSzPts val="1100"/>
              <a:buNone/>
            </a:pPr>
            <a:r>
              <a:t/>
            </a:r>
            <a:endParaRPr sz="1800">
              <a:latin typeface="Times New Roman"/>
              <a:ea typeface="Times New Roman"/>
              <a:cs typeface="Times New Roman"/>
              <a:sym typeface="Times New Roman"/>
            </a:endParaRPr>
          </a:p>
          <a:p>
            <a:pPr indent="0" lvl="0" marL="0" rtl="0" algn="l">
              <a:lnSpc>
                <a:spcPct val="150000"/>
              </a:lnSpc>
              <a:spcBef>
                <a:spcPts val="0"/>
              </a:spcBef>
              <a:spcAft>
                <a:spcPts val="0"/>
              </a:spcAft>
              <a:buSzPts val="1100"/>
              <a:buNone/>
            </a:pPr>
            <a:r>
              <a:rPr b="1" lang="en-US" sz="2050">
                <a:latin typeface="Times New Roman"/>
                <a:ea typeface="Times New Roman"/>
                <a:cs typeface="Times New Roman"/>
                <a:sym typeface="Times New Roman"/>
              </a:rPr>
              <a:t>Results :</a:t>
            </a:r>
            <a:endParaRPr b="1" sz="2050">
              <a:latin typeface="Times New Roman"/>
              <a:ea typeface="Times New Roman"/>
              <a:cs typeface="Times New Roman"/>
              <a:sym typeface="Times New Roman"/>
            </a:endParaRPr>
          </a:p>
          <a:p>
            <a:pPr indent="0" lvl="0" marL="457200" rtl="0" algn="l">
              <a:lnSpc>
                <a:spcPct val="150000"/>
              </a:lnSpc>
              <a:spcBef>
                <a:spcPts val="0"/>
              </a:spcBef>
              <a:spcAft>
                <a:spcPts val="0"/>
              </a:spcAft>
              <a:buSzPts val="1100"/>
              <a:buNone/>
            </a:pPr>
            <a:r>
              <a:rPr lang="en-US" sz="1800">
                <a:latin typeface="Times New Roman"/>
                <a:ea typeface="Times New Roman"/>
                <a:cs typeface="Times New Roman"/>
                <a:sym typeface="Times New Roman"/>
              </a:rPr>
              <a:t>This result shows that Auto-Selector will outperform individual anomaly detection models in most cases by effectively selecting suitable models and parameters leading to significant improvements of F1 scores and optimization in performance in various data series.</a:t>
            </a:r>
            <a:endParaRPr sz="1800">
              <a:latin typeface="Times New Roman"/>
              <a:ea typeface="Times New Roman"/>
              <a:cs typeface="Times New Roman"/>
              <a:sym typeface="Times New Roman"/>
            </a:endParaRPr>
          </a:p>
          <a:p>
            <a:pPr indent="0" lvl="0" marL="0" rtl="0" algn="l">
              <a:lnSpc>
                <a:spcPct val="150000"/>
              </a:lnSpc>
              <a:spcBef>
                <a:spcPts val="0"/>
              </a:spcBef>
              <a:spcAft>
                <a:spcPts val="0"/>
              </a:spcAft>
              <a:buSzPts val="1100"/>
              <a:buNone/>
            </a:pPr>
            <a:r>
              <a:t/>
            </a:r>
            <a:endParaRPr sz="1200">
              <a:latin typeface="Times New Roman"/>
              <a:ea typeface="Times New Roman"/>
              <a:cs typeface="Times New Roman"/>
              <a:sym typeface="Times New Roman"/>
            </a:endParaRPr>
          </a:p>
          <a:p>
            <a:pPr indent="0" lvl="0" marL="0" rtl="0" algn="l">
              <a:lnSpc>
                <a:spcPct val="150000"/>
              </a:lnSpc>
              <a:spcBef>
                <a:spcPts val="0"/>
              </a:spcBef>
              <a:spcAft>
                <a:spcPts val="0"/>
              </a:spcAft>
              <a:buSzPts val="1100"/>
              <a:buNone/>
            </a:pPr>
            <a:r>
              <a:rPr b="1" lang="en-US" sz="2050">
                <a:latin typeface="Times New Roman"/>
                <a:ea typeface="Times New Roman"/>
                <a:cs typeface="Times New Roman"/>
                <a:sym typeface="Times New Roman"/>
              </a:rPr>
              <a:t>Future Scope:</a:t>
            </a:r>
            <a:endParaRPr b="1" sz="2050">
              <a:latin typeface="Times New Roman"/>
              <a:ea typeface="Times New Roman"/>
              <a:cs typeface="Times New Roman"/>
              <a:sym typeface="Times New Roman"/>
            </a:endParaRPr>
          </a:p>
          <a:p>
            <a:pPr indent="0" lvl="0" marL="457200" rtl="0" algn="l">
              <a:lnSpc>
                <a:spcPct val="150000"/>
              </a:lnSpc>
              <a:spcBef>
                <a:spcPts val="0"/>
              </a:spcBef>
              <a:spcAft>
                <a:spcPts val="0"/>
              </a:spcAft>
              <a:buSzPts val="1100"/>
              <a:buNone/>
            </a:pPr>
            <a:r>
              <a:rPr lang="en-US" sz="1800">
                <a:latin typeface="Times New Roman"/>
                <a:ea typeface="Times New Roman"/>
                <a:cs typeface="Times New Roman"/>
                <a:sym typeface="Times New Roman"/>
              </a:rPr>
              <a:t>Improving the efficiency and accuracy of automated model-selection system, making systems less dependent on labeled data, and developing even more adaptable parameter estimation methodology. All these will lead to the development of a more robust, scalable, and effective time-series anomaly detection system in different industrial setups.</a:t>
            </a:r>
            <a:endParaRPr b="1" sz="1800">
              <a:latin typeface="Times New Roman"/>
              <a:ea typeface="Times New Roman"/>
              <a:cs typeface="Times New Roman"/>
              <a:sym typeface="Times New Roman"/>
            </a:endParaRPr>
          </a:p>
          <a:p>
            <a:pPr indent="0" lvl="0" marL="0" rtl="0" algn="l">
              <a:lnSpc>
                <a:spcPct val="150000"/>
              </a:lnSpc>
              <a:spcBef>
                <a:spcPts val="0"/>
              </a:spcBef>
              <a:spcAft>
                <a:spcPts val="0"/>
              </a:spcAft>
              <a:buSzPts val="1100"/>
              <a:buNone/>
            </a:pPr>
            <a:r>
              <a:t/>
            </a:r>
            <a:endParaRPr b="1" sz="1400">
              <a:latin typeface="Times New Roman"/>
              <a:ea typeface="Times New Roman"/>
              <a:cs typeface="Times New Roman"/>
              <a:sym typeface="Times New Roman"/>
            </a:endParaRPr>
          </a:p>
          <a:p>
            <a:pPr indent="0" lvl="0" marL="457200" rtl="0" algn="just">
              <a:lnSpc>
                <a:spcPct val="150000"/>
              </a:lnSpc>
              <a:spcBef>
                <a:spcPts val="0"/>
              </a:spcBef>
              <a:spcAft>
                <a:spcPts val="0"/>
              </a:spcAft>
              <a:buSzPts val="1100"/>
              <a:buNone/>
            </a:pPr>
            <a:r>
              <a:t/>
            </a:r>
            <a:endParaRPr sz="1900">
              <a:latin typeface="Times New Roman"/>
              <a:ea typeface="Times New Roman"/>
              <a:cs typeface="Times New Roman"/>
              <a:sym typeface="Times New Roman"/>
            </a:endParaRPr>
          </a:p>
          <a:p>
            <a:pPr indent="0" lvl="0" marL="0" rtl="0" algn="just">
              <a:lnSpc>
                <a:spcPct val="150000"/>
              </a:lnSpc>
              <a:spcBef>
                <a:spcPts val="0"/>
              </a:spcBef>
              <a:spcAft>
                <a:spcPts val="0"/>
              </a:spcAft>
              <a:buClr>
                <a:schemeClr val="dk1"/>
              </a:buClr>
              <a:buSzPts val="1100"/>
              <a:buFont typeface="Arial"/>
              <a:buNone/>
            </a:pPr>
            <a:r>
              <a:t/>
            </a:r>
            <a:endParaRPr sz="1900">
              <a:latin typeface="Times New Roman"/>
              <a:ea typeface="Times New Roman"/>
              <a:cs typeface="Times New Roman"/>
              <a:sym typeface="Times New Roman"/>
            </a:endParaRPr>
          </a:p>
          <a:p>
            <a:pPr indent="0" lvl="0" marL="0" rtl="0" algn="l">
              <a:lnSpc>
                <a:spcPct val="70000"/>
              </a:lnSpc>
              <a:spcBef>
                <a:spcPts val="1000"/>
              </a:spcBef>
              <a:spcAft>
                <a:spcPts val="0"/>
              </a:spcAft>
              <a:buSzPts val="688"/>
              <a:buNone/>
            </a:pPr>
            <a:r>
              <a:t/>
            </a:r>
            <a:endParaRPr sz="1900">
              <a:latin typeface="Times New Roman"/>
              <a:ea typeface="Times New Roman"/>
              <a:cs typeface="Times New Roman"/>
              <a:sym typeface="Times New Roman"/>
            </a:endParaRPr>
          </a:p>
          <a:p>
            <a:pPr indent="0" lvl="0" marL="0" rtl="0" algn="l">
              <a:lnSpc>
                <a:spcPct val="70000"/>
              </a:lnSpc>
              <a:spcBef>
                <a:spcPts val="1000"/>
              </a:spcBef>
              <a:spcAft>
                <a:spcPts val="0"/>
              </a:spcAft>
              <a:buSzPts val="688"/>
              <a:buNone/>
            </a:pPr>
            <a:r>
              <a:t/>
            </a:r>
            <a:endParaRPr b="1" sz="1900">
              <a:latin typeface="Times New Roman"/>
              <a:ea typeface="Times New Roman"/>
              <a:cs typeface="Times New Roman"/>
              <a:sym typeface="Times New Roman"/>
            </a:endParaRPr>
          </a:p>
          <a:p>
            <a:pPr indent="0" lvl="0" marL="0" rtl="0" algn="l">
              <a:lnSpc>
                <a:spcPct val="70000"/>
              </a:lnSpc>
              <a:spcBef>
                <a:spcPts val="1000"/>
              </a:spcBef>
              <a:spcAft>
                <a:spcPts val="0"/>
              </a:spcAft>
              <a:buSzPts val="688"/>
              <a:buNone/>
            </a:pPr>
            <a:r>
              <a:t/>
            </a:r>
            <a:endParaRPr b="1" sz="2250">
              <a:latin typeface="Times New Roman"/>
              <a:ea typeface="Times New Roman"/>
              <a:cs typeface="Times New Roman"/>
              <a:sym typeface="Times New Roman"/>
            </a:endParaRPr>
          </a:p>
          <a:p>
            <a:pPr indent="0" lvl="0" marL="0" rtl="0" algn="l">
              <a:lnSpc>
                <a:spcPct val="70000"/>
              </a:lnSpc>
              <a:spcBef>
                <a:spcPts val="1000"/>
              </a:spcBef>
              <a:spcAft>
                <a:spcPts val="0"/>
              </a:spcAft>
              <a:buClr>
                <a:schemeClr val="dk1"/>
              </a:buClr>
              <a:buSzPts val="688"/>
              <a:buFont typeface="Arial"/>
              <a:buNone/>
            </a:pPr>
            <a:r>
              <a:t/>
            </a:r>
            <a:endParaRPr sz="2250">
              <a:latin typeface="Times New Roman"/>
              <a:ea typeface="Times New Roman"/>
              <a:cs typeface="Times New Roman"/>
              <a:sym typeface="Times New Roman"/>
            </a:endParaRPr>
          </a:p>
          <a:p>
            <a:pPr indent="0" lvl="0" marL="0" rtl="0" algn="l">
              <a:lnSpc>
                <a:spcPct val="70000"/>
              </a:lnSpc>
              <a:spcBef>
                <a:spcPts val="1000"/>
              </a:spcBef>
              <a:spcAft>
                <a:spcPts val="0"/>
              </a:spcAft>
              <a:buClr>
                <a:schemeClr val="dk1"/>
              </a:buClr>
              <a:buSzPts val="688"/>
              <a:buFont typeface="Arial"/>
              <a:buNone/>
            </a:pPr>
            <a:r>
              <a:t/>
            </a:r>
            <a:endParaRPr sz="2250">
              <a:latin typeface="Times New Roman"/>
              <a:ea typeface="Times New Roman"/>
              <a:cs typeface="Times New Roman"/>
              <a:sym typeface="Times New Roman"/>
            </a:endParaRPr>
          </a:p>
          <a:p>
            <a:pPr indent="0" lvl="0" marL="0" rtl="0" algn="l">
              <a:lnSpc>
                <a:spcPct val="70000"/>
              </a:lnSpc>
              <a:spcBef>
                <a:spcPts val="1000"/>
              </a:spcBef>
              <a:spcAft>
                <a:spcPts val="0"/>
              </a:spcAft>
              <a:buSzPts val="688"/>
              <a:buNone/>
            </a:pPr>
            <a:r>
              <a:t/>
            </a:r>
            <a:endParaRPr sz="2250">
              <a:latin typeface="Times New Roman"/>
              <a:ea typeface="Times New Roman"/>
              <a:cs typeface="Times New Roman"/>
              <a:sym typeface="Times New Roman"/>
            </a:endParaRPr>
          </a:p>
        </p:txBody>
      </p:sp>
      <p:sp>
        <p:nvSpPr>
          <p:cNvPr id="206" name="Google Shape;206;g31b149daa03_0_20"/>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g31b149daa03_0_14"/>
          <p:cNvSpPr txBox="1"/>
          <p:nvPr>
            <p:ph idx="1" type="body"/>
          </p:nvPr>
        </p:nvSpPr>
        <p:spPr>
          <a:xfrm>
            <a:off x="442350" y="509250"/>
            <a:ext cx="10515600" cy="5839500"/>
          </a:xfrm>
          <a:prstGeom prst="rect">
            <a:avLst/>
          </a:prstGeom>
        </p:spPr>
        <p:txBody>
          <a:bodyPr anchorCtr="0" anchor="t" bIns="45700" lIns="91425" spcFirstLastPara="1" rIns="91425" wrap="square" tIns="45700">
            <a:noAutofit/>
          </a:bodyPr>
          <a:lstStyle/>
          <a:p>
            <a:pPr indent="0" lvl="0" marL="0" rtl="0" algn="l">
              <a:lnSpc>
                <a:spcPct val="70000"/>
              </a:lnSpc>
              <a:spcBef>
                <a:spcPts val="1000"/>
              </a:spcBef>
              <a:spcAft>
                <a:spcPts val="0"/>
              </a:spcAft>
              <a:buSzPts val="688"/>
              <a:buNone/>
            </a:pPr>
            <a:r>
              <a:rPr lang="en-US" sz="2250">
                <a:latin typeface="Times New Roman"/>
                <a:ea typeface="Times New Roman"/>
                <a:cs typeface="Times New Roman"/>
                <a:sym typeface="Times New Roman"/>
              </a:rPr>
              <a:t>5</a:t>
            </a:r>
            <a:r>
              <a:rPr lang="en-US" sz="2250">
                <a:latin typeface="Times New Roman"/>
                <a:ea typeface="Times New Roman"/>
                <a:cs typeface="Times New Roman"/>
                <a:sym typeface="Times New Roman"/>
              </a:rPr>
              <a:t>)</a:t>
            </a:r>
            <a:r>
              <a:rPr b="1" lang="en-US" sz="2250">
                <a:latin typeface="Times New Roman"/>
                <a:ea typeface="Times New Roman"/>
                <a:cs typeface="Times New Roman"/>
                <a:sym typeface="Times New Roman"/>
              </a:rPr>
              <a:t>Generative Ai In Innovation And Marketing Processes: A Roadmap Of Research</a:t>
            </a:r>
            <a:endParaRPr b="1" sz="2250">
              <a:latin typeface="Times New Roman"/>
              <a:ea typeface="Times New Roman"/>
              <a:cs typeface="Times New Roman"/>
              <a:sym typeface="Times New Roman"/>
            </a:endParaRPr>
          </a:p>
          <a:p>
            <a:pPr indent="0" lvl="0" marL="0" rtl="0" algn="l">
              <a:lnSpc>
                <a:spcPct val="70000"/>
              </a:lnSpc>
              <a:spcBef>
                <a:spcPts val="1000"/>
              </a:spcBef>
              <a:spcAft>
                <a:spcPts val="0"/>
              </a:spcAft>
              <a:buSzPts val="688"/>
              <a:buNone/>
            </a:pPr>
            <a:r>
              <a:rPr b="1" lang="en-US" sz="2250">
                <a:latin typeface="Times New Roman"/>
                <a:ea typeface="Times New Roman"/>
                <a:cs typeface="Times New Roman"/>
                <a:sym typeface="Times New Roman"/>
              </a:rPr>
              <a:t> Opportunities</a:t>
            </a:r>
            <a:endParaRPr b="1" sz="2250">
              <a:latin typeface="Times New Roman"/>
              <a:ea typeface="Times New Roman"/>
              <a:cs typeface="Times New Roman"/>
              <a:sym typeface="Times New Roman"/>
            </a:endParaRPr>
          </a:p>
          <a:p>
            <a:pPr indent="0" lvl="0" marL="0" rtl="0" algn="l">
              <a:lnSpc>
                <a:spcPct val="70000"/>
              </a:lnSpc>
              <a:spcBef>
                <a:spcPts val="1000"/>
              </a:spcBef>
              <a:spcAft>
                <a:spcPts val="0"/>
              </a:spcAft>
              <a:buClr>
                <a:schemeClr val="dk1"/>
              </a:buClr>
              <a:buSzPts val="688"/>
              <a:buFont typeface="Arial"/>
              <a:buNone/>
            </a:pPr>
            <a:r>
              <a:rPr lang="en-US" sz="2250">
                <a:latin typeface="Times New Roman"/>
                <a:ea typeface="Times New Roman"/>
                <a:cs typeface="Times New Roman"/>
                <a:sym typeface="Times New Roman"/>
              </a:rPr>
              <a:t>Published in Springer</a:t>
            </a:r>
            <a:endParaRPr sz="2250">
              <a:latin typeface="Times New Roman"/>
              <a:ea typeface="Times New Roman"/>
              <a:cs typeface="Times New Roman"/>
              <a:sym typeface="Times New Roman"/>
            </a:endParaRPr>
          </a:p>
          <a:p>
            <a:pPr indent="0" lvl="0" marL="0" rtl="0" algn="l">
              <a:lnSpc>
                <a:spcPct val="70000"/>
              </a:lnSpc>
              <a:spcBef>
                <a:spcPts val="1000"/>
              </a:spcBef>
              <a:spcAft>
                <a:spcPts val="0"/>
              </a:spcAft>
              <a:buClr>
                <a:schemeClr val="dk1"/>
              </a:buClr>
              <a:buSzPts val="688"/>
              <a:buFont typeface="Arial"/>
              <a:buNone/>
            </a:pPr>
            <a:r>
              <a:rPr b="1" lang="en-US" sz="2250">
                <a:latin typeface="Times New Roman"/>
                <a:ea typeface="Times New Roman"/>
                <a:cs typeface="Times New Roman"/>
                <a:sym typeface="Times New Roman"/>
              </a:rPr>
              <a:t>Authors:</a:t>
            </a:r>
            <a:r>
              <a:rPr lang="en-US" sz="2250">
                <a:latin typeface="Times New Roman"/>
                <a:ea typeface="Times New Roman"/>
                <a:cs typeface="Times New Roman"/>
                <a:sym typeface="Times New Roman"/>
              </a:rPr>
              <a:t> Paola Cillo and Gaia Rubera</a:t>
            </a:r>
            <a:endParaRPr sz="2250">
              <a:latin typeface="Times New Roman"/>
              <a:ea typeface="Times New Roman"/>
              <a:cs typeface="Times New Roman"/>
              <a:sym typeface="Times New Roman"/>
            </a:endParaRPr>
          </a:p>
          <a:p>
            <a:pPr indent="0" lvl="0" marL="0" rtl="0" algn="l">
              <a:lnSpc>
                <a:spcPct val="70000"/>
              </a:lnSpc>
              <a:spcBef>
                <a:spcPts val="1000"/>
              </a:spcBef>
              <a:spcAft>
                <a:spcPts val="0"/>
              </a:spcAft>
              <a:buSzPts val="688"/>
              <a:buNone/>
            </a:pPr>
            <a:r>
              <a:rPr b="1" lang="en-US" sz="2250">
                <a:latin typeface="Times New Roman"/>
                <a:ea typeface="Times New Roman"/>
                <a:cs typeface="Times New Roman"/>
                <a:sym typeface="Times New Roman"/>
              </a:rPr>
              <a:t>Date:</a:t>
            </a:r>
            <a:r>
              <a:rPr lang="en-US" sz="2250">
                <a:latin typeface="Times New Roman"/>
                <a:ea typeface="Times New Roman"/>
                <a:cs typeface="Times New Roman"/>
                <a:sym typeface="Times New Roman"/>
              </a:rPr>
              <a:t>2024</a:t>
            </a:r>
            <a:endParaRPr sz="2250">
              <a:latin typeface="Times New Roman"/>
              <a:ea typeface="Times New Roman"/>
              <a:cs typeface="Times New Roman"/>
              <a:sym typeface="Times New Roman"/>
            </a:endParaRPr>
          </a:p>
          <a:p>
            <a:pPr indent="0" lvl="0" marL="0" rtl="0" algn="l">
              <a:lnSpc>
                <a:spcPct val="70000"/>
              </a:lnSpc>
              <a:spcBef>
                <a:spcPts val="1000"/>
              </a:spcBef>
              <a:spcAft>
                <a:spcPts val="0"/>
              </a:spcAft>
              <a:buSzPts val="688"/>
              <a:buNone/>
            </a:pPr>
            <a:r>
              <a:t/>
            </a:r>
            <a:endParaRPr sz="2250">
              <a:latin typeface="Times New Roman"/>
              <a:ea typeface="Times New Roman"/>
              <a:cs typeface="Times New Roman"/>
              <a:sym typeface="Times New Roman"/>
            </a:endParaRPr>
          </a:p>
          <a:p>
            <a:pPr indent="0" lvl="0" marL="0" rtl="0" algn="l">
              <a:lnSpc>
                <a:spcPct val="70000"/>
              </a:lnSpc>
              <a:spcBef>
                <a:spcPts val="1000"/>
              </a:spcBef>
              <a:spcAft>
                <a:spcPts val="0"/>
              </a:spcAft>
              <a:buSzPts val="688"/>
              <a:buNone/>
            </a:pPr>
            <a:r>
              <a:rPr b="1" lang="en-US" sz="2250">
                <a:latin typeface="Times New Roman"/>
                <a:ea typeface="Times New Roman"/>
                <a:cs typeface="Times New Roman"/>
                <a:sym typeface="Times New Roman"/>
              </a:rPr>
              <a:t>Problem identified:</a:t>
            </a:r>
            <a:endParaRPr b="1" sz="2250">
              <a:latin typeface="Times New Roman"/>
              <a:ea typeface="Times New Roman"/>
              <a:cs typeface="Times New Roman"/>
              <a:sym typeface="Times New Roman"/>
            </a:endParaRPr>
          </a:p>
          <a:p>
            <a:pPr indent="0" lvl="0" marL="0" rtl="0" algn="l">
              <a:lnSpc>
                <a:spcPct val="70000"/>
              </a:lnSpc>
              <a:spcBef>
                <a:spcPts val="1000"/>
              </a:spcBef>
              <a:spcAft>
                <a:spcPts val="0"/>
              </a:spcAft>
              <a:buSzPts val="688"/>
              <a:buNone/>
            </a:pPr>
            <a:r>
              <a:rPr lang="en-US" sz="2250">
                <a:latin typeface="Times New Roman"/>
                <a:ea typeface="Times New Roman"/>
                <a:cs typeface="Times New Roman"/>
                <a:sym typeface="Times New Roman"/>
              </a:rPr>
              <a:t>What are the research possibilities that come generative AI in the marketing domain.</a:t>
            </a:r>
            <a:endParaRPr sz="2250">
              <a:latin typeface="Times New Roman"/>
              <a:ea typeface="Times New Roman"/>
              <a:cs typeface="Times New Roman"/>
              <a:sym typeface="Times New Roman"/>
            </a:endParaRPr>
          </a:p>
          <a:p>
            <a:pPr indent="0" lvl="0" marL="0" rtl="0" algn="l">
              <a:lnSpc>
                <a:spcPct val="70000"/>
              </a:lnSpc>
              <a:spcBef>
                <a:spcPts val="1000"/>
              </a:spcBef>
              <a:spcAft>
                <a:spcPts val="0"/>
              </a:spcAft>
              <a:buSzPts val="688"/>
              <a:buNone/>
            </a:pPr>
            <a:r>
              <a:t/>
            </a:r>
            <a:endParaRPr sz="2250">
              <a:latin typeface="Times New Roman"/>
              <a:ea typeface="Times New Roman"/>
              <a:cs typeface="Times New Roman"/>
              <a:sym typeface="Times New Roman"/>
            </a:endParaRPr>
          </a:p>
          <a:p>
            <a:pPr indent="0" lvl="0" marL="0" rtl="0" algn="l">
              <a:lnSpc>
                <a:spcPct val="70000"/>
              </a:lnSpc>
              <a:spcBef>
                <a:spcPts val="1000"/>
              </a:spcBef>
              <a:spcAft>
                <a:spcPts val="0"/>
              </a:spcAft>
              <a:buSzPts val="688"/>
              <a:buNone/>
            </a:pPr>
            <a:r>
              <a:rPr b="1" lang="en-US" sz="2250">
                <a:latin typeface="Times New Roman"/>
                <a:ea typeface="Times New Roman"/>
                <a:cs typeface="Times New Roman"/>
                <a:sym typeface="Times New Roman"/>
              </a:rPr>
              <a:t>Dataset:</a:t>
            </a:r>
            <a:endParaRPr b="1" sz="2250">
              <a:latin typeface="Times New Roman"/>
              <a:ea typeface="Times New Roman"/>
              <a:cs typeface="Times New Roman"/>
              <a:sym typeface="Times New Roman"/>
            </a:endParaRPr>
          </a:p>
          <a:p>
            <a:pPr indent="0" lvl="0" marL="0" rtl="0" algn="l">
              <a:lnSpc>
                <a:spcPct val="70000"/>
              </a:lnSpc>
              <a:spcBef>
                <a:spcPts val="1000"/>
              </a:spcBef>
              <a:spcAft>
                <a:spcPts val="0"/>
              </a:spcAft>
              <a:buSzPts val="688"/>
              <a:buNone/>
            </a:pPr>
            <a:r>
              <a:rPr lang="en-US" sz="2250">
                <a:latin typeface="Times New Roman"/>
                <a:ea typeface="Times New Roman"/>
                <a:cs typeface="Times New Roman"/>
                <a:sym typeface="Times New Roman"/>
              </a:rPr>
              <a:t>Feedback and inputs got from the people gen-ai in marketing will affect gathered and analysed.</a:t>
            </a:r>
            <a:endParaRPr sz="2250">
              <a:latin typeface="Times New Roman"/>
              <a:ea typeface="Times New Roman"/>
              <a:cs typeface="Times New Roman"/>
              <a:sym typeface="Times New Roman"/>
            </a:endParaRPr>
          </a:p>
          <a:p>
            <a:pPr indent="0" lvl="0" marL="0" rtl="0" algn="l">
              <a:lnSpc>
                <a:spcPct val="70000"/>
              </a:lnSpc>
              <a:spcBef>
                <a:spcPts val="1000"/>
              </a:spcBef>
              <a:spcAft>
                <a:spcPts val="0"/>
              </a:spcAft>
              <a:buSzPts val="688"/>
              <a:buNone/>
            </a:pPr>
            <a:r>
              <a:t/>
            </a:r>
            <a:endParaRPr sz="2250">
              <a:latin typeface="Times New Roman"/>
              <a:ea typeface="Times New Roman"/>
              <a:cs typeface="Times New Roman"/>
              <a:sym typeface="Times New Roman"/>
            </a:endParaRPr>
          </a:p>
          <a:p>
            <a:pPr indent="0" lvl="0" marL="0" rtl="0" algn="l">
              <a:lnSpc>
                <a:spcPct val="70000"/>
              </a:lnSpc>
              <a:spcBef>
                <a:spcPts val="1000"/>
              </a:spcBef>
              <a:spcAft>
                <a:spcPts val="0"/>
              </a:spcAft>
              <a:buSzPts val="688"/>
              <a:buNone/>
            </a:pPr>
            <a:r>
              <a:rPr b="1" lang="en-US" sz="2250">
                <a:latin typeface="Times New Roman"/>
                <a:ea typeface="Times New Roman"/>
                <a:cs typeface="Times New Roman"/>
                <a:sym typeface="Times New Roman"/>
              </a:rPr>
              <a:t>Methodology:</a:t>
            </a:r>
            <a:endParaRPr b="1" sz="2250">
              <a:latin typeface="Times New Roman"/>
              <a:ea typeface="Times New Roman"/>
              <a:cs typeface="Times New Roman"/>
              <a:sym typeface="Times New Roman"/>
            </a:endParaRPr>
          </a:p>
          <a:p>
            <a:pPr indent="0" lvl="0" marL="0" rtl="0" algn="l">
              <a:lnSpc>
                <a:spcPct val="70000"/>
              </a:lnSpc>
              <a:spcBef>
                <a:spcPts val="1000"/>
              </a:spcBef>
              <a:spcAft>
                <a:spcPts val="0"/>
              </a:spcAft>
              <a:buSzPts val="688"/>
              <a:buNone/>
            </a:pPr>
            <a:r>
              <a:rPr lang="en-US" sz="2250">
                <a:latin typeface="Times New Roman"/>
                <a:ea typeface="Times New Roman"/>
                <a:cs typeface="Times New Roman"/>
                <a:sym typeface="Times New Roman"/>
              </a:rPr>
              <a:t>Surveys conducted with people belonging to the field.Thus a proactive approach leading</a:t>
            </a:r>
            <a:endParaRPr sz="2250">
              <a:latin typeface="Times New Roman"/>
              <a:ea typeface="Times New Roman"/>
              <a:cs typeface="Times New Roman"/>
              <a:sym typeface="Times New Roman"/>
            </a:endParaRPr>
          </a:p>
          <a:p>
            <a:pPr indent="0" lvl="0" marL="0" rtl="0" algn="l">
              <a:lnSpc>
                <a:spcPct val="70000"/>
              </a:lnSpc>
              <a:spcBef>
                <a:spcPts val="1000"/>
              </a:spcBef>
              <a:spcAft>
                <a:spcPts val="0"/>
              </a:spcAft>
              <a:buSzPts val="688"/>
              <a:buNone/>
            </a:pPr>
            <a:r>
              <a:rPr lang="en-US" sz="2250">
                <a:latin typeface="Times New Roman"/>
                <a:ea typeface="Times New Roman"/>
                <a:cs typeface="Times New Roman"/>
                <a:sym typeface="Times New Roman"/>
              </a:rPr>
              <a:t> to an accurate collection of data ,obtained directly from experts in marketing is obtained.</a:t>
            </a:r>
            <a:endParaRPr sz="2250">
              <a:latin typeface="Times New Roman"/>
              <a:ea typeface="Times New Roman"/>
              <a:cs typeface="Times New Roman"/>
              <a:sym typeface="Times New Roman"/>
            </a:endParaRPr>
          </a:p>
          <a:p>
            <a:pPr indent="0" lvl="0" marL="0" rtl="0" algn="l">
              <a:lnSpc>
                <a:spcPct val="70000"/>
              </a:lnSpc>
              <a:spcBef>
                <a:spcPts val="1000"/>
              </a:spcBef>
              <a:spcAft>
                <a:spcPts val="0"/>
              </a:spcAft>
              <a:buSzPts val="688"/>
              <a:buNone/>
            </a:pPr>
            <a:r>
              <a:t/>
            </a:r>
            <a:endParaRPr b="1" sz="2250">
              <a:latin typeface="Times New Roman"/>
              <a:ea typeface="Times New Roman"/>
              <a:cs typeface="Times New Roman"/>
              <a:sym typeface="Times New Roman"/>
            </a:endParaRPr>
          </a:p>
          <a:p>
            <a:pPr indent="0" lvl="0" marL="0" rtl="0" algn="l">
              <a:lnSpc>
                <a:spcPct val="70000"/>
              </a:lnSpc>
              <a:spcBef>
                <a:spcPts val="1000"/>
              </a:spcBef>
              <a:spcAft>
                <a:spcPts val="0"/>
              </a:spcAft>
              <a:buSzPts val="688"/>
              <a:buNone/>
            </a:pPr>
            <a:r>
              <a:t/>
            </a:r>
            <a:endParaRPr b="1" sz="2250">
              <a:latin typeface="Times New Roman"/>
              <a:ea typeface="Times New Roman"/>
              <a:cs typeface="Times New Roman"/>
              <a:sym typeface="Times New Roman"/>
            </a:endParaRPr>
          </a:p>
          <a:p>
            <a:pPr indent="0" lvl="0" marL="0" rtl="0" algn="l">
              <a:lnSpc>
                <a:spcPct val="70000"/>
              </a:lnSpc>
              <a:spcBef>
                <a:spcPts val="1000"/>
              </a:spcBef>
              <a:spcAft>
                <a:spcPts val="0"/>
              </a:spcAft>
              <a:buSzPts val="688"/>
              <a:buNone/>
            </a:pPr>
            <a:r>
              <a:t/>
            </a:r>
            <a:endParaRPr b="1" sz="2250">
              <a:latin typeface="Times New Roman"/>
              <a:ea typeface="Times New Roman"/>
              <a:cs typeface="Times New Roman"/>
              <a:sym typeface="Times New Roman"/>
            </a:endParaRPr>
          </a:p>
          <a:p>
            <a:pPr indent="0" lvl="0" marL="0" rtl="0" algn="l">
              <a:lnSpc>
                <a:spcPct val="70000"/>
              </a:lnSpc>
              <a:spcBef>
                <a:spcPts val="1000"/>
              </a:spcBef>
              <a:spcAft>
                <a:spcPts val="0"/>
              </a:spcAft>
              <a:buSzPts val="688"/>
              <a:buNone/>
            </a:pPr>
            <a:r>
              <a:t/>
            </a:r>
            <a:endParaRPr b="1" sz="2250">
              <a:latin typeface="Times New Roman"/>
              <a:ea typeface="Times New Roman"/>
              <a:cs typeface="Times New Roman"/>
              <a:sym typeface="Times New Roman"/>
            </a:endParaRPr>
          </a:p>
          <a:p>
            <a:pPr indent="0" lvl="0" marL="0" rtl="0" algn="l">
              <a:lnSpc>
                <a:spcPct val="70000"/>
              </a:lnSpc>
              <a:spcBef>
                <a:spcPts val="1000"/>
              </a:spcBef>
              <a:spcAft>
                <a:spcPts val="0"/>
              </a:spcAft>
              <a:buSzPts val="688"/>
              <a:buNone/>
            </a:pPr>
            <a:r>
              <a:t/>
            </a:r>
            <a:endParaRPr b="1" sz="2250">
              <a:latin typeface="Times New Roman"/>
              <a:ea typeface="Times New Roman"/>
              <a:cs typeface="Times New Roman"/>
              <a:sym typeface="Times New Roman"/>
            </a:endParaRPr>
          </a:p>
          <a:p>
            <a:pPr indent="0" lvl="0" marL="0" rtl="0" algn="l">
              <a:lnSpc>
                <a:spcPct val="70000"/>
              </a:lnSpc>
              <a:spcBef>
                <a:spcPts val="1000"/>
              </a:spcBef>
              <a:spcAft>
                <a:spcPts val="0"/>
              </a:spcAft>
              <a:buClr>
                <a:schemeClr val="dk1"/>
              </a:buClr>
              <a:buSzPts val="688"/>
              <a:buFont typeface="Arial"/>
              <a:buNone/>
            </a:pPr>
            <a:r>
              <a:t/>
            </a:r>
            <a:endParaRPr sz="2250">
              <a:latin typeface="Times New Roman"/>
              <a:ea typeface="Times New Roman"/>
              <a:cs typeface="Times New Roman"/>
              <a:sym typeface="Times New Roman"/>
            </a:endParaRPr>
          </a:p>
          <a:p>
            <a:pPr indent="0" lvl="0" marL="0" rtl="0" algn="l">
              <a:lnSpc>
                <a:spcPct val="70000"/>
              </a:lnSpc>
              <a:spcBef>
                <a:spcPts val="1000"/>
              </a:spcBef>
              <a:spcAft>
                <a:spcPts val="0"/>
              </a:spcAft>
              <a:buClr>
                <a:schemeClr val="dk1"/>
              </a:buClr>
              <a:buSzPts val="688"/>
              <a:buFont typeface="Arial"/>
              <a:buNone/>
            </a:pPr>
            <a:r>
              <a:t/>
            </a:r>
            <a:endParaRPr sz="2250">
              <a:latin typeface="Times New Roman"/>
              <a:ea typeface="Times New Roman"/>
              <a:cs typeface="Times New Roman"/>
              <a:sym typeface="Times New Roman"/>
            </a:endParaRPr>
          </a:p>
          <a:p>
            <a:pPr indent="0" lvl="0" marL="0" rtl="0" algn="l">
              <a:lnSpc>
                <a:spcPct val="70000"/>
              </a:lnSpc>
              <a:spcBef>
                <a:spcPts val="1000"/>
              </a:spcBef>
              <a:spcAft>
                <a:spcPts val="0"/>
              </a:spcAft>
              <a:buSzPts val="688"/>
              <a:buNone/>
            </a:pPr>
            <a:r>
              <a:t/>
            </a:r>
            <a:endParaRPr sz="2250">
              <a:latin typeface="Times New Roman"/>
              <a:ea typeface="Times New Roman"/>
              <a:cs typeface="Times New Roman"/>
              <a:sym typeface="Times New Roman"/>
            </a:endParaRPr>
          </a:p>
        </p:txBody>
      </p:sp>
      <p:sp>
        <p:nvSpPr>
          <p:cNvPr id="213" name="Google Shape;213;g31b149daa03_0_14"/>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g31a9d1a8de3_0_37"/>
          <p:cNvSpPr txBox="1"/>
          <p:nvPr>
            <p:ph idx="1" type="body"/>
          </p:nvPr>
        </p:nvSpPr>
        <p:spPr>
          <a:xfrm>
            <a:off x="838200" y="881950"/>
            <a:ext cx="10515600" cy="5839500"/>
          </a:xfrm>
          <a:prstGeom prst="rect">
            <a:avLst/>
          </a:prstGeom>
        </p:spPr>
        <p:txBody>
          <a:bodyPr anchorCtr="0" anchor="t" bIns="45700" lIns="91425" spcFirstLastPara="1" rIns="91425" wrap="square" tIns="45700">
            <a:normAutofit/>
          </a:bodyPr>
          <a:lstStyle/>
          <a:p>
            <a:pPr indent="0" lvl="0" marL="0" rtl="0" algn="l">
              <a:lnSpc>
                <a:spcPct val="70000"/>
              </a:lnSpc>
              <a:spcBef>
                <a:spcPts val="1000"/>
              </a:spcBef>
              <a:spcAft>
                <a:spcPts val="0"/>
              </a:spcAft>
              <a:buSzPts val="935"/>
              <a:buNone/>
            </a:pPr>
            <a:r>
              <a:rPr b="1" lang="en-US" sz="2280">
                <a:latin typeface="Times New Roman"/>
                <a:ea typeface="Times New Roman"/>
                <a:cs typeface="Times New Roman"/>
                <a:sym typeface="Times New Roman"/>
              </a:rPr>
              <a:t>Results:</a:t>
            </a:r>
            <a:endParaRPr b="1" sz="2280">
              <a:latin typeface="Times New Roman"/>
              <a:ea typeface="Times New Roman"/>
              <a:cs typeface="Times New Roman"/>
              <a:sym typeface="Times New Roman"/>
            </a:endParaRPr>
          </a:p>
          <a:p>
            <a:pPr indent="-319405" lvl="0" marL="457200" rtl="0" algn="l">
              <a:lnSpc>
                <a:spcPct val="70000"/>
              </a:lnSpc>
              <a:spcBef>
                <a:spcPts val="1000"/>
              </a:spcBef>
              <a:spcAft>
                <a:spcPts val="0"/>
              </a:spcAft>
              <a:buSzPts val="1430"/>
              <a:buFont typeface="Times New Roman"/>
              <a:buChar char="•"/>
            </a:pPr>
            <a:r>
              <a:rPr lang="en-US" sz="2280">
                <a:latin typeface="Times New Roman"/>
                <a:ea typeface="Times New Roman"/>
                <a:cs typeface="Times New Roman"/>
                <a:sym typeface="Times New Roman"/>
              </a:rPr>
              <a:t>Narrows down to few areas of growth and research in the domain like:</a:t>
            </a:r>
            <a:endParaRPr sz="2280">
              <a:latin typeface="Times New Roman"/>
              <a:ea typeface="Times New Roman"/>
              <a:cs typeface="Times New Roman"/>
              <a:sym typeface="Times New Roman"/>
            </a:endParaRPr>
          </a:p>
          <a:p>
            <a:pPr indent="-319405" lvl="0" marL="457200" rtl="0" algn="l">
              <a:lnSpc>
                <a:spcPct val="70000"/>
              </a:lnSpc>
              <a:spcBef>
                <a:spcPts val="0"/>
              </a:spcBef>
              <a:spcAft>
                <a:spcPts val="0"/>
              </a:spcAft>
              <a:buSzPts val="1430"/>
              <a:buFont typeface="Times New Roman"/>
              <a:buChar char="•"/>
            </a:pPr>
            <a:r>
              <a:rPr lang="en-US" sz="2280">
                <a:latin typeface="Times New Roman"/>
                <a:ea typeface="Times New Roman"/>
                <a:cs typeface="Times New Roman"/>
                <a:sym typeface="Times New Roman"/>
              </a:rPr>
              <a:t>What market research can be </a:t>
            </a:r>
            <a:r>
              <a:rPr lang="en-US" sz="2280">
                <a:latin typeface="Times New Roman"/>
                <a:ea typeface="Times New Roman"/>
                <a:cs typeface="Times New Roman"/>
                <a:sym typeface="Times New Roman"/>
              </a:rPr>
              <a:t>conducted </a:t>
            </a:r>
            <a:r>
              <a:rPr lang="en-US" sz="2280">
                <a:latin typeface="Times New Roman"/>
                <a:ea typeface="Times New Roman"/>
                <a:cs typeface="Times New Roman"/>
                <a:sym typeface="Times New Roman"/>
              </a:rPr>
              <a:t>with GenAI rather than human participants or experts?</a:t>
            </a:r>
            <a:endParaRPr sz="2280">
              <a:latin typeface="Times New Roman"/>
              <a:ea typeface="Times New Roman"/>
              <a:cs typeface="Times New Roman"/>
              <a:sym typeface="Times New Roman"/>
            </a:endParaRPr>
          </a:p>
          <a:p>
            <a:pPr indent="-319405" lvl="0" marL="457200" rtl="0" algn="l">
              <a:lnSpc>
                <a:spcPct val="70000"/>
              </a:lnSpc>
              <a:spcBef>
                <a:spcPts val="0"/>
              </a:spcBef>
              <a:spcAft>
                <a:spcPts val="0"/>
              </a:spcAft>
              <a:buSzPts val="1430"/>
              <a:buFont typeface="Times New Roman"/>
              <a:buChar char="•"/>
            </a:pPr>
            <a:r>
              <a:rPr lang="en-US" sz="2280">
                <a:latin typeface="Times New Roman"/>
                <a:ea typeface="Times New Roman"/>
                <a:cs typeface="Times New Roman"/>
                <a:sym typeface="Times New Roman"/>
              </a:rPr>
              <a:t> How can firms vary LLM parameters to create more persuasive messages? Which LLM parameter is most conducive to different marketing goals?</a:t>
            </a:r>
            <a:endParaRPr sz="2280">
              <a:latin typeface="Times New Roman"/>
              <a:ea typeface="Times New Roman"/>
              <a:cs typeface="Times New Roman"/>
              <a:sym typeface="Times New Roman"/>
            </a:endParaRPr>
          </a:p>
          <a:p>
            <a:pPr indent="0" lvl="0" marL="0" rtl="0" algn="l">
              <a:lnSpc>
                <a:spcPct val="70000"/>
              </a:lnSpc>
              <a:spcBef>
                <a:spcPts val="1000"/>
              </a:spcBef>
              <a:spcAft>
                <a:spcPts val="0"/>
              </a:spcAft>
              <a:buSzPts val="935"/>
              <a:buNone/>
            </a:pPr>
            <a:r>
              <a:t/>
            </a:r>
            <a:endParaRPr sz="2280">
              <a:latin typeface="Times New Roman"/>
              <a:ea typeface="Times New Roman"/>
              <a:cs typeface="Times New Roman"/>
              <a:sym typeface="Times New Roman"/>
            </a:endParaRPr>
          </a:p>
          <a:p>
            <a:pPr indent="0" lvl="0" marL="0" rtl="0" algn="l">
              <a:lnSpc>
                <a:spcPct val="70000"/>
              </a:lnSpc>
              <a:spcBef>
                <a:spcPts val="1000"/>
              </a:spcBef>
              <a:spcAft>
                <a:spcPts val="0"/>
              </a:spcAft>
              <a:buSzPts val="935"/>
              <a:buNone/>
            </a:pPr>
            <a:r>
              <a:rPr b="1" lang="en-US" sz="2280">
                <a:latin typeface="Times New Roman"/>
                <a:ea typeface="Times New Roman"/>
                <a:cs typeface="Times New Roman"/>
                <a:sym typeface="Times New Roman"/>
              </a:rPr>
              <a:t>Future works:</a:t>
            </a:r>
            <a:endParaRPr b="1" sz="2280">
              <a:latin typeface="Times New Roman"/>
              <a:ea typeface="Times New Roman"/>
              <a:cs typeface="Times New Roman"/>
              <a:sym typeface="Times New Roman"/>
            </a:endParaRPr>
          </a:p>
          <a:p>
            <a:pPr indent="-319405" lvl="0" marL="457200" rtl="0" algn="l">
              <a:lnSpc>
                <a:spcPct val="70000"/>
              </a:lnSpc>
              <a:spcBef>
                <a:spcPts val="1000"/>
              </a:spcBef>
              <a:spcAft>
                <a:spcPts val="0"/>
              </a:spcAft>
              <a:buSzPts val="1430"/>
              <a:buFont typeface="Times New Roman"/>
              <a:buChar char="•"/>
            </a:pPr>
            <a:r>
              <a:rPr lang="en-US" sz="2280">
                <a:latin typeface="Times New Roman"/>
                <a:ea typeface="Times New Roman"/>
                <a:cs typeface="Times New Roman"/>
                <a:sym typeface="Times New Roman"/>
              </a:rPr>
              <a:t>Effective prompt strategy</a:t>
            </a:r>
            <a:endParaRPr sz="2280">
              <a:latin typeface="Times New Roman"/>
              <a:ea typeface="Times New Roman"/>
              <a:cs typeface="Times New Roman"/>
              <a:sym typeface="Times New Roman"/>
            </a:endParaRPr>
          </a:p>
          <a:p>
            <a:pPr indent="-319405" lvl="0" marL="457200" rtl="0" algn="l">
              <a:lnSpc>
                <a:spcPct val="70000"/>
              </a:lnSpc>
              <a:spcBef>
                <a:spcPts val="0"/>
              </a:spcBef>
              <a:spcAft>
                <a:spcPts val="0"/>
              </a:spcAft>
              <a:buSzPts val="1430"/>
              <a:buFont typeface="Times New Roman"/>
              <a:buChar char="•"/>
            </a:pPr>
            <a:r>
              <a:rPr lang="en-US" sz="2280">
                <a:latin typeface="Times New Roman"/>
                <a:ea typeface="Times New Roman"/>
                <a:cs typeface="Times New Roman"/>
                <a:sym typeface="Times New Roman"/>
              </a:rPr>
              <a:t> how firms can balance the advantage of supplementing their proprietary data to fully harness GenAI potential </a:t>
            </a:r>
            <a:endParaRPr sz="2280">
              <a:latin typeface="Times New Roman"/>
              <a:ea typeface="Times New Roman"/>
              <a:cs typeface="Times New Roman"/>
              <a:sym typeface="Times New Roman"/>
            </a:endParaRPr>
          </a:p>
          <a:p>
            <a:pPr indent="-319405" lvl="0" marL="457200" rtl="0" algn="l">
              <a:lnSpc>
                <a:spcPct val="70000"/>
              </a:lnSpc>
              <a:spcBef>
                <a:spcPts val="0"/>
              </a:spcBef>
              <a:spcAft>
                <a:spcPts val="0"/>
              </a:spcAft>
              <a:buSzPts val="1430"/>
              <a:buFont typeface="Times New Roman"/>
              <a:buChar char="•"/>
            </a:pPr>
            <a:r>
              <a:rPr lang="en-US" sz="2280">
                <a:latin typeface="Times New Roman"/>
                <a:ea typeface="Times New Roman"/>
                <a:cs typeface="Times New Roman"/>
                <a:sym typeface="Times New Roman"/>
              </a:rPr>
              <a:t> which firms can benefit the most from fine-tuning as well as which firms should instead exercise caution in doing so.</a:t>
            </a:r>
            <a:endParaRPr sz="2280">
              <a:latin typeface="Times New Roman"/>
              <a:ea typeface="Times New Roman"/>
              <a:cs typeface="Times New Roman"/>
              <a:sym typeface="Times New Roman"/>
            </a:endParaRPr>
          </a:p>
          <a:p>
            <a:pPr indent="0" lvl="0" marL="0" rtl="0" algn="l">
              <a:lnSpc>
                <a:spcPct val="70000"/>
              </a:lnSpc>
              <a:spcBef>
                <a:spcPts val="1000"/>
              </a:spcBef>
              <a:spcAft>
                <a:spcPts val="0"/>
              </a:spcAft>
              <a:buSzPts val="935"/>
              <a:buNone/>
            </a:pPr>
            <a:r>
              <a:t/>
            </a:r>
            <a:endParaRPr b="1" sz="2280">
              <a:latin typeface="Times New Roman"/>
              <a:ea typeface="Times New Roman"/>
              <a:cs typeface="Times New Roman"/>
              <a:sym typeface="Times New Roman"/>
            </a:endParaRPr>
          </a:p>
          <a:p>
            <a:pPr indent="0" lvl="0" marL="0" rtl="0" algn="l">
              <a:lnSpc>
                <a:spcPct val="70000"/>
              </a:lnSpc>
              <a:spcBef>
                <a:spcPts val="1000"/>
              </a:spcBef>
              <a:spcAft>
                <a:spcPts val="0"/>
              </a:spcAft>
              <a:buSzPts val="935"/>
              <a:buNone/>
            </a:pPr>
            <a:r>
              <a:t/>
            </a:r>
            <a:endParaRPr b="1" sz="2280">
              <a:latin typeface="Times New Roman"/>
              <a:ea typeface="Times New Roman"/>
              <a:cs typeface="Times New Roman"/>
              <a:sym typeface="Times New Roman"/>
            </a:endParaRPr>
          </a:p>
          <a:p>
            <a:pPr indent="0" lvl="0" marL="0" rtl="0" algn="l">
              <a:lnSpc>
                <a:spcPct val="70000"/>
              </a:lnSpc>
              <a:spcBef>
                <a:spcPts val="1000"/>
              </a:spcBef>
              <a:spcAft>
                <a:spcPts val="0"/>
              </a:spcAft>
              <a:buClr>
                <a:schemeClr val="dk1"/>
              </a:buClr>
              <a:buSzPts val="935"/>
              <a:buFont typeface="Arial"/>
              <a:buNone/>
            </a:pPr>
            <a:r>
              <a:t/>
            </a:r>
            <a:endParaRPr sz="2280">
              <a:latin typeface="Times New Roman"/>
              <a:ea typeface="Times New Roman"/>
              <a:cs typeface="Times New Roman"/>
              <a:sym typeface="Times New Roman"/>
            </a:endParaRPr>
          </a:p>
          <a:p>
            <a:pPr indent="0" lvl="0" marL="0" rtl="0" algn="l">
              <a:lnSpc>
                <a:spcPct val="70000"/>
              </a:lnSpc>
              <a:spcBef>
                <a:spcPts val="1000"/>
              </a:spcBef>
              <a:spcAft>
                <a:spcPts val="0"/>
              </a:spcAft>
              <a:buClr>
                <a:schemeClr val="dk1"/>
              </a:buClr>
              <a:buSzPts val="935"/>
              <a:buFont typeface="Arial"/>
              <a:buNone/>
            </a:pPr>
            <a:r>
              <a:t/>
            </a:r>
            <a:endParaRPr sz="2280">
              <a:latin typeface="Times New Roman"/>
              <a:ea typeface="Times New Roman"/>
              <a:cs typeface="Times New Roman"/>
              <a:sym typeface="Times New Roman"/>
            </a:endParaRPr>
          </a:p>
          <a:p>
            <a:pPr indent="0" lvl="0" marL="0" rtl="0" algn="l">
              <a:lnSpc>
                <a:spcPct val="70000"/>
              </a:lnSpc>
              <a:spcBef>
                <a:spcPts val="1000"/>
              </a:spcBef>
              <a:spcAft>
                <a:spcPts val="0"/>
              </a:spcAft>
              <a:buSzPts val="935"/>
              <a:buNone/>
            </a:pPr>
            <a:r>
              <a:t/>
            </a:r>
            <a:endParaRPr b="1" sz="2280">
              <a:latin typeface="Times New Roman"/>
              <a:ea typeface="Times New Roman"/>
              <a:cs typeface="Times New Roman"/>
              <a:sym typeface="Times New Roman"/>
            </a:endParaRPr>
          </a:p>
        </p:txBody>
      </p:sp>
      <p:sp>
        <p:nvSpPr>
          <p:cNvPr id="220" name="Google Shape;220;g31a9d1a8de3_0_37"/>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g31b1d412933_3_0"/>
          <p:cNvSpPr txBox="1"/>
          <p:nvPr>
            <p:ph idx="1" type="body"/>
          </p:nvPr>
        </p:nvSpPr>
        <p:spPr>
          <a:xfrm>
            <a:off x="838200" y="662850"/>
            <a:ext cx="7288800" cy="5514000"/>
          </a:xfrm>
          <a:prstGeom prst="rect">
            <a:avLst/>
          </a:prstGeom>
        </p:spPr>
        <p:txBody>
          <a:bodyPr anchorCtr="0" anchor="t" bIns="45700" lIns="91425" spcFirstLastPara="1" rIns="91425" wrap="square" tIns="45700">
            <a:noAutofit/>
          </a:bodyPr>
          <a:lstStyle/>
          <a:p>
            <a:pPr indent="0" lvl="0" marL="0" rtl="0" algn="l">
              <a:lnSpc>
                <a:spcPct val="110000"/>
              </a:lnSpc>
              <a:spcBef>
                <a:spcPts val="0"/>
              </a:spcBef>
              <a:spcAft>
                <a:spcPts val="0"/>
              </a:spcAft>
              <a:buClr>
                <a:schemeClr val="dk1"/>
              </a:buClr>
              <a:buSzPts val="852"/>
              <a:buFont typeface="Arial"/>
              <a:buNone/>
            </a:pPr>
            <a:r>
              <a:rPr b="1" lang="en-US" sz="2370">
                <a:latin typeface="Times New Roman"/>
                <a:ea typeface="Times New Roman"/>
                <a:cs typeface="Times New Roman"/>
                <a:sym typeface="Times New Roman"/>
              </a:rPr>
              <a:t>6</a:t>
            </a:r>
            <a:r>
              <a:rPr b="1" lang="en-US" sz="2370">
                <a:latin typeface="Times New Roman"/>
                <a:ea typeface="Times New Roman"/>
                <a:cs typeface="Times New Roman"/>
                <a:sym typeface="Times New Roman"/>
              </a:rPr>
              <a:t>)</a:t>
            </a:r>
            <a:r>
              <a:rPr lang="en-US" sz="2370">
                <a:latin typeface="Times New Roman"/>
                <a:ea typeface="Times New Roman"/>
                <a:cs typeface="Times New Roman"/>
                <a:sym typeface="Times New Roman"/>
              </a:rPr>
              <a:t> </a:t>
            </a:r>
            <a:r>
              <a:rPr b="1" lang="en-US" sz="2370">
                <a:highlight>
                  <a:schemeClr val="lt1"/>
                </a:highlight>
                <a:latin typeface="Times New Roman"/>
                <a:ea typeface="Times New Roman"/>
                <a:cs typeface="Times New Roman"/>
                <a:sym typeface="Times New Roman"/>
              </a:rPr>
              <a:t>Artiﬁcial Intelligence Applied to Digital Marketing </a:t>
            </a:r>
            <a:endParaRPr b="1" sz="2370">
              <a:highlight>
                <a:schemeClr val="lt1"/>
              </a:highlight>
              <a:latin typeface="Times New Roman"/>
              <a:ea typeface="Times New Roman"/>
              <a:cs typeface="Times New Roman"/>
              <a:sym typeface="Times New Roman"/>
            </a:endParaRPr>
          </a:p>
          <a:p>
            <a:pPr indent="0" lvl="0" marL="0" rtl="0" algn="just">
              <a:lnSpc>
                <a:spcPct val="110000"/>
              </a:lnSpc>
              <a:spcBef>
                <a:spcPts val="0"/>
              </a:spcBef>
              <a:spcAft>
                <a:spcPts val="0"/>
              </a:spcAft>
              <a:buClr>
                <a:schemeClr val="dk1"/>
              </a:buClr>
              <a:buSzPts val="852"/>
              <a:buFont typeface="Arial"/>
              <a:buNone/>
            </a:pPr>
            <a:r>
              <a:rPr lang="en-US" sz="2261">
                <a:highlight>
                  <a:schemeClr val="lt1"/>
                </a:highlight>
                <a:latin typeface="Times New Roman"/>
                <a:ea typeface="Times New Roman"/>
                <a:cs typeface="Times New Roman"/>
                <a:sym typeface="Times New Roman"/>
              </a:rPr>
              <a:t>Authors:Tiago Ribeiro and José Luís Reis</a:t>
            </a:r>
            <a:endParaRPr sz="2261">
              <a:highlight>
                <a:schemeClr val="lt1"/>
              </a:highlight>
              <a:latin typeface="Times New Roman"/>
              <a:ea typeface="Times New Roman"/>
              <a:cs typeface="Times New Roman"/>
              <a:sym typeface="Times New Roman"/>
            </a:endParaRPr>
          </a:p>
          <a:p>
            <a:pPr indent="0" lvl="0" marL="0" rtl="0" algn="just">
              <a:lnSpc>
                <a:spcPct val="110000"/>
              </a:lnSpc>
              <a:spcBef>
                <a:spcPts val="0"/>
              </a:spcBef>
              <a:spcAft>
                <a:spcPts val="0"/>
              </a:spcAft>
              <a:buClr>
                <a:schemeClr val="dk1"/>
              </a:buClr>
              <a:buSzPts val="852"/>
              <a:buFont typeface="Arial"/>
              <a:buNone/>
            </a:pPr>
            <a:r>
              <a:rPr lang="en-US" sz="2261">
                <a:highlight>
                  <a:schemeClr val="lt1"/>
                </a:highlight>
                <a:latin typeface="Times New Roman"/>
                <a:ea typeface="Times New Roman"/>
                <a:cs typeface="Times New Roman"/>
                <a:sym typeface="Times New Roman"/>
              </a:rPr>
              <a:t>Published:June 2020</a:t>
            </a:r>
            <a:endParaRPr sz="2261">
              <a:highlight>
                <a:schemeClr val="lt1"/>
              </a:highlight>
              <a:latin typeface="Times New Roman"/>
              <a:ea typeface="Times New Roman"/>
              <a:cs typeface="Times New Roman"/>
              <a:sym typeface="Times New Roman"/>
            </a:endParaRPr>
          </a:p>
          <a:p>
            <a:pPr indent="0" lvl="0" marL="0" rtl="0" algn="just">
              <a:lnSpc>
                <a:spcPct val="110000"/>
              </a:lnSpc>
              <a:spcBef>
                <a:spcPts val="0"/>
              </a:spcBef>
              <a:spcAft>
                <a:spcPts val="0"/>
              </a:spcAft>
              <a:buClr>
                <a:schemeClr val="dk1"/>
              </a:buClr>
              <a:buSzPts val="852"/>
              <a:buFont typeface="Arial"/>
              <a:buNone/>
            </a:pPr>
            <a:r>
              <a:rPr b="1" lang="en-US" sz="2184">
                <a:highlight>
                  <a:schemeClr val="lt1"/>
                </a:highlight>
                <a:latin typeface="Times New Roman"/>
                <a:ea typeface="Times New Roman"/>
                <a:cs typeface="Times New Roman"/>
                <a:sym typeface="Times New Roman"/>
              </a:rPr>
              <a:t>Problem Addressed</a:t>
            </a:r>
            <a:endParaRPr b="1" sz="2184">
              <a:highlight>
                <a:schemeClr val="lt1"/>
              </a:highlight>
              <a:latin typeface="Times New Roman"/>
              <a:ea typeface="Times New Roman"/>
              <a:cs typeface="Times New Roman"/>
              <a:sym typeface="Times New Roman"/>
            </a:endParaRPr>
          </a:p>
          <a:p>
            <a:pPr indent="0" lvl="0" marL="0" rtl="0" algn="just">
              <a:lnSpc>
                <a:spcPct val="110000"/>
              </a:lnSpc>
              <a:spcBef>
                <a:spcPts val="0"/>
              </a:spcBef>
              <a:spcAft>
                <a:spcPts val="0"/>
              </a:spcAft>
              <a:buClr>
                <a:schemeClr val="dk1"/>
              </a:buClr>
              <a:buSzPts val="852"/>
              <a:buFont typeface="Arial"/>
              <a:buNone/>
            </a:pPr>
            <a:r>
              <a:rPr lang="en-US" sz="2075">
                <a:highlight>
                  <a:schemeClr val="lt1"/>
                </a:highlight>
                <a:latin typeface="Times New Roman"/>
                <a:ea typeface="Times New Roman"/>
                <a:cs typeface="Times New Roman"/>
                <a:sym typeface="Times New Roman"/>
              </a:rPr>
              <a:t>How AI is affecting  digital marketing and what are the best ways for companies to use it to improve their marketing strategies</a:t>
            </a:r>
            <a:endParaRPr sz="2075">
              <a:highlight>
                <a:schemeClr val="lt1"/>
              </a:highlight>
              <a:latin typeface="Times New Roman"/>
              <a:ea typeface="Times New Roman"/>
              <a:cs typeface="Times New Roman"/>
              <a:sym typeface="Times New Roman"/>
            </a:endParaRPr>
          </a:p>
          <a:p>
            <a:pPr indent="0" lvl="0" marL="0" rtl="0" algn="l">
              <a:lnSpc>
                <a:spcPct val="110000"/>
              </a:lnSpc>
              <a:spcBef>
                <a:spcPts val="0"/>
              </a:spcBef>
              <a:spcAft>
                <a:spcPts val="0"/>
              </a:spcAft>
              <a:buClr>
                <a:schemeClr val="dk1"/>
              </a:buClr>
              <a:buSzPts val="852"/>
              <a:buFont typeface="Arial"/>
              <a:buNone/>
            </a:pPr>
            <a:r>
              <a:rPr b="1" lang="en-US" sz="2184">
                <a:highlight>
                  <a:schemeClr val="lt1"/>
                </a:highlight>
                <a:latin typeface="Times New Roman"/>
                <a:ea typeface="Times New Roman"/>
                <a:cs typeface="Times New Roman"/>
                <a:sym typeface="Times New Roman"/>
              </a:rPr>
              <a:t>Dataset </a:t>
            </a:r>
            <a:endParaRPr b="1" sz="2184">
              <a:highlight>
                <a:schemeClr val="lt1"/>
              </a:highlight>
              <a:latin typeface="Times New Roman"/>
              <a:ea typeface="Times New Roman"/>
              <a:cs typeface="Times New Roman"/>
              <a:sym typeface="Times New Roman"/>
            </a:endParaRPr>
          </a:p>
          <a:p>
            <a:pPr indent="0" lvl="0" marL="0" rtl="0" algn="just">
              <a:lnSpc>
                <a:spcPct val="110000"/>
              </a:lnSpc>
              <a:spcBef>
                <a:spcPts val="0"/>
              </a:spcBef>
              <a:spcAft>
                <a:spcPts val="0"/>
              </a:spcAft>
              <a:buClr>
                <a:schemeClr val="dk1"/>
              </a:buClr>
              <a:buSzPts val="852"/>
              <a:buFont typeface="Arial"/>
              <a:buNone/>
            </a:pPr>
            <a:r>
              <a:rPr lang="en-US" sz="2075">
                <a:highlight>
                  <a:schemeClr val="lt1"/>
                </a:highlight>
                <a:latin typeface="Times New Roman"/>
                <a:ea typeface="Times New Roman"/>
                <a:cs typeface="Times New Roman"/>
                <a:sym typeface="Times New Roman"/>
              </a:rPr>
              <a:t>As a method of qualitative study, interviews were conducted to collect the primary data necessary to meet the objectives.Table given on the side shows the specialists profile.</a:t>
            </a:r>
            <a:endParaRPr sz="2075">
              <a:highlight>
                <a:schemeClr val="lt1"/>
              </a:highlight>
              <a:latin typeface="Times New Roman"/>
              <a:ea typeface="Times New Roman"/>
              <a:cs typeface="Times New Roman"/>
              <a:sym typeface="Times New Roman"/>
            </a:endParaRPr>
          </a:p>
          <a:p>
            <a:pPr indent="0" lvl="0" marL="0" rtl="0" algn="l">
              <a:lnSpc>
                <a:spcPct val="110000"/>
              </a:lnSpc>
              <a:spcBef>
                <a:spcPts val="0"/>
              </a:spcBef>
              <a:spcAft>
                <a:spcPts val="0"/>
              </a:spcAft>
              <a:buClr>
                <a:schemeClr val="dk1"/>
              </a:buClr>
              <a:buSzPts val="852"/>
              <a:buFont typeface="Arial"/>
              <a:buNone/>
            </a:pPr>
            <a:r>
              <a:rPr b="1" lang="en-US" sz="2184">
                <a:highlight>
                  <a:schemeClr val="lt1"/>
                </a:highlight>
                <a:latin typeface="Times New Roman"/>
                <a:ea typeface="Times New Roman"/>
                <a:cs typeface="Times New Roman"/>
                <a:sym typeface="Times New Roman"/>
              </a:rPr>
              <a:t>Methodology</a:t>
            </a:r>
            <a:endParaRPr b="1" sz="2184">
              <a:highlight>
                <a:schemeClr val="lt1"/>
              </a:highlight>
              <a:latin typeface="Times New Roman"/>
              <a:ea typeface="Times New Roman"/>
              <a:cs typeface="Times New Roman"/>
              <a:sym typeface="Times New Roman"/>
            </a:endParaRPr>
          </a:p>
          <a:p>
            <a:pPr indent="0" lvl="0" marL="0" rtl="0" algn="l">
              <a:lnSpc>
                <a:spcPct val="110000"/>
              </a:lnSpc>
              <a:spcBef>
                <a:spcPts val="0"/>
              </a:spcBef>
              <a:spcAft>
                <a:spcPts val="0"/>
              </a:spcAft>
              <a:buClr>
                <a:schemeClr val="dk1"/>
              </a:buClr>
              <a:buSzPts val="852"/>
              <a:buFont typeface="Arial"/>
              <a:buNone/>
            </a:pPr>
            <a:r>
              <a:rPr lang="en-US" sz="2075">
                <a:highlight>
                  <a:schemeClr val="lt1"/>
                </a:highlight>
                <a:latin typeface="Times New Roman"/>
                <a:ea typeface="Times New Roman"/>
                <a:cs typeface="Times New Roman"/>
                <a:sym typeface="Times New Roman"/>
              </a:rPr>
              <a:t>By analyzing sources and interviewing experts, the study employs a qualitative approach to investigate the advantages of using AI in marketing.</a:t>
            </a:r>
            <a:endParaRPr sz="2075">
              <a:highlight>
                <a:schemeClr val="lt1"/>
              </a:highlight>
              <a:latin typeface="Times New Roman"/>
              <a:ea typeface="Times New Roman"/>
              <a:cs typeface="Times New Roman"/>
              <a:sym typeface="Times New Roman"/>
            </a:endParaRPr>
          </a:p>
          <a:p>
            <a:pPr indent="0" lvl="0" marL="0" rtl="0" algn="l">
              <a:lnSpc>
                <a:spcPct val="110000"/>
              </a:lnSpc>
              <a:spcBef>
                <a:spcPts val="0"/>
              </a:spcBef>
              <a:spcAft>
                <a:spcPts val="0"/>
              </a:spcAft>
              <a:buClr>
                <a:schemeClr val="dk1"/>
              </a:buClr>
              <a:buSzPts val="852"/>
              <a:buFont typeface="Arial"/>
              <a:buNone/>
            </a:pPr>
            <a:r>
              <a:t/>
            </a:r>
            <a:endParaRPr sz="1393">
              <a:highlight>
                <a:schemeClr val="lt1"/>
              </a:highlight>
              <a:latin typeface="Times New Roman"/>
              <a:ea typeface="Times New Roman"/>
              <a:cs typeface="Times New Roman"/>
              <a:sym typeface="Times New Roman"/>
            </a:endParaRPr>
          </a:p>
          <a:p>
            <a:pPr indent="0" lvl="0" marL="0" rtl="0" algn="l">
              <a:lnSpc>
                <a:spcPct val="110000"/>
              </a:lnSpc>
              <a:spcBef>
                <a:spcPts val="0"/>
              </a:spcBef>
              <a:spcAft>
                <a:spcPts val="0"/>
              </a:spcAft>
              <a:buClr>
                <a:schemeClr val="dk1"/>
              </a:buClr>
              <a:buSzPts val="852"/>
              <a:buFont typeface="Arial"/>
              <a:buNone/>
            </a:pPr>
            <a:r>
              <a:rPr b="1" lang="en-US" sz="1502">
                <a:latin typeface="Times New Roman"/>
                <a:ea typeface="Times New Roman"/>
                <a:cs typeface="Times New Roman"/>
                <a:sym typeface="Times New Roman"/>
              </a:rPr>
              <a:t> </a:t>
            </a:r>
            <a:endParaRPr sz="2261"/>
          </a:p>
          <a:p>
            <a:pPr indent="0" lvl="0" marL="0" rtl="0" algn="l">
              <a:lnSpc>
                <a:spcPct val="70000"/>
              </a:lnSpc>
              <a:spcBef>
                <a:spcPts val="1000"/>
              </a:spcBef>
              <a:spcAft>
                <a:spcPts val="0"/>
              </a:spcAft>
              <a:buSzPts val="852"/>
              <a:buNone/>
            </a:pPr>
            <a:r>
              <a:t/>
            </a:r>
            <a:endParaRPr sz="2370"/>
          </a:p>
        </p:txBody>
      </p:sp>
      <p:sp>
        <p:nvSpPr>
          <p:cNvPr id="227" name="Google Shape;227;g31b1d412933_3_0"/>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pic>
        <p:nvPicPr>
          <p:cNvPr id="228" name="Google Shape;228;g31b1d412933_3_0"/>
          <p:cNvPicPr preferRelativeResize="0"/>
          <p:nvPr/>
        </p:nvPicPr>
        <p:blipFill>
          <a:blip r:embed="rId3">
            <a:alphaModFix/>
          </a:blip>
          <a:stretch>
            <a:fillRect/>
          </a:stretch>
        </p:blipFill>
        <p:spPr>
          <a:xfrm>
            <a:off x="8232275" y="1144575"/>
            <a:ext cx="3800575" cy="47434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g31b1d412933_3_8"/>
          <p:cNvSpPr txBox="1"/>
          <p:nvPr>
            <p:ph idx="1" type="body"/>
          </p:nvPr>
        </p:nvSpPr>
        <p:spPr>
          <a:xfrm>
            <a:off x="838200" y="712975"/>
            <a:ext cx="8625600" cy="5463900"/>
          </a:xfrm>
          <a:prstGeom prst="rect">
            <a:avLst/>
          </a:prstGeom>
        </p:spPr>
        <p:txBody>
          <a:bodyPr anchorCtr="0" anchor="t" bIns="45700" lIns="91425" spcFirstLastPara="1" rIns="91425" wrap="square" tIns="45700">
            <a:normAutofit/>
          </a:bodyPr>
          <a:lstStyle/>
          <a:p>
            <a:pPr indent="0" lvl="0" marL="0" rtl="0" algn="l">
              <a:lnSpc>
                <a:spcPct val="150000"/>
              </a:lnSpc>
              <a:spcBef>
                <a:spcPts val="0"/>
              </a:spcBef>
              <a:spcAft>
                <a:spcPts val="0"/>
              </a:spcAft>
              <a:buClr>
                <a:schemeClr val="dk1"/>
              </a:buClr>
              <a:buSzPts val="1100"/>
              <a:buFont typeface="Arial"/>
              <a:buNone/>
            </a:pPr>
            <a:r>
              <a:rPr b="1" lang="en-US" sz="2050">
                <a:latin typeface="Times New Roman"/>
                <a:ea typeface="Times New Roman"/>
                <a:cs typeface="Times New Roman"/>
                <a:sym typeface="Times New Roman"/>
              </a:rPr>
              <a:t> Results</a:t>
            </a:r>
            <a:endParaRPr b="1" sz="2050">
              <a:latin typeface="Times New Roman"/>
              <a:ea typeface="Times New Roman"/>
              <a:cs typeface="Times New Roman"/>
              <a:sym typeface="Times New Roman"/>
            </a:endParaRPr>
          </a:p>
          <a:p>
            <a:pPr indent="0" lvl="0" marL="0" rtl="0" algn="just">
              <a:lnSpc>
                <a:spcPct val="150000"/>
              </a:lnSpc>
              <a:spcBef>
                <a:spcPts val="0"/>
              </a:spcBef>
              <a:spcAft>
                <a:spcPts val="0"/>
              </a:spcAft>
              <a:buClr>
                <a:schemeClr val="dk1"/>
              </a:buClr>
              <a:buSzPts val="1100"/>
              <a:buFont typeface="Arial"/>
              <a:buNone/>
            </a:pPr>
            <a:r>
              <a:rPr lang="en-US" sz="1900">
                <a:latin typeface="Times New Roman"/>
                <a:ea typeface="Times New Roman"/>
                <a:cs typeface="Times New Roman"/>
                <a:sym typeface="Times New Roman"/>
              </a:rPr>
              <a:t>AI in marketing automates tasks,and </a:t>
            </a:r>
            <a:r>
              <a:rPr lang="en-US" sz="1900">
                <a:highlight>
                  <a:schemeClr val="lt1"/>
                </a:highlight>
                <a:latin typeface="Times New Roman"/>
                <a:ea typeface="Times New Roman"/>
                <a:cs typeface="Times New Roman"/>
                <a:sym typeface="Times New Roman"/>
              </a:rPr>
              <a:t>increases personalization</a:t>
            </a:r>
            <a:r>
              <a:rPr lang="en-US" sz="1900">
                <a:latin typeface="Times New Roman"/>
                <a:ea typeface="Times New Roman"/>
                <a:cs typeface="Times New Roman"/>
                <a:sym typeface="Times New Roman"/>
              </a:rPr>
              <a:t>, and improves both speed and accuracy. </a:t>
            </a:r>
            <a:r>
              <a:rPr lang="en-US" sz="1900">
                <a:highlight>
                  <a:schemeClr val="lt1"/>
                </a:highlight>
                <a:latin typeface="Times New Roman"/>
                <a:ea typeface="Times New Roman"/>
                <a:cs typeface="Times New Roman"/>
                <a:sym typeface="Times New Roman"/>
              </a:rPr>
              <a:t>However, adoption of AI faces major hurdles in terms of data privacy and trust as well as issues with data quality. While the initial setup can be expensive, in the long run AI reduces these operating costs and generates more revenue through better targeting of campaigns.</a:t>
            </a:r>
            <a:endParaRPr sz="1900">
              <a:highlight>
                <a:schemeClr val="lt1"/>
              </a:highlight>
              <a:latin typeface="Times New Roman"/>
              <a:ea typeface="Times New Roman"/>
              <a:cs typeface="Times New Roman"/>
              <a:sym typeface="Times New Roman"/>
            </a:endParaRPr>
          </a:p>
          <a:p>
            <a:pPr indent="0" lvl="0" marL="0" rtl="0" algn="l">
              <a:lnSpc>
                <a:spcPct val="150000"/>
              </a:lnSpc>
              <a:spcBef>
                <a:spcPts val="0"/>
              </a:spcBef>
              <a:spcAft>
                <a:spcPts val="0"/>
              </a:spcAft>
              <a:buClr>
                <a:schemeClr val="dk1"/>
              </a:buClr>
              <a:buSzPts val="1100"/>
              <a:buFont typeface="Arial"/>
              <a:buNone/>
            </a:pPr>
            <a:r>
              <a:t/>
            </a:r>
            <a:endParaRPr b="1" sz="1900">
              <a:latin typeface="Times New Roman"/>
              <a:ea typeface="Times New Roman"/>
              <a:cs typeface="Times New Roman"/>
              <a:sym typeface="Times New Roman"/>
            </a:endParaRPr>
          </a:p>
          <a:p>
            <a:pPr indent="0" lvl="0" marL="0" rtl="0" algn="l">
              <a:lnSpc>
                <a:spcPct val="150000"/>
              </a:lnSpc>
              <a:spcBef>
                <a:spcPts val="0"/>
              </a:spcBef>
              <a:spcAft>
                <a:spcPts val="0"/>
              </a:spcAft>
              <a:buClr>
                <a:schemeClr val="dk1"/>
              </a:buClr>
              <a:buSzPts val="1100"/>
              <a:buFont typeface="Arial"/>
              <a:buNone/>
            </a:pPr>
            <a:r>
              <a:rPr b="1" lang="en-US" sz="2000">
                <a:latin typeface="Times New Roman"/>
                <a:ea typeface="Times New Roman"/>
                <a:cs typeface="Times New Roman"/>
                <a:sym typeface="Times New Roman"/>
              </a:rPr>
              <a:t>Future scope</a:t>
            </a:r>
            <a:endParaRPr b="1" sz="2000">
              <a:latin typeface="Times New Roman"/>
              <a:ea typeface="Times New Roman"/>
              <a:cs typeface="Times New Roman"/>
              <a:sym typeface="Times New Roman"/>
            </a:endParaRPr>
          </a:p>
          <a:p>
            <a:pPr indent="0" lvl="0" marL="0" rtl="0" algn="just">
              <a:lnSpc>
                <a:spcPct val="150000"/>
              </a:lnSpc>
              <a:spcBef>
                <a:spcPts val="0"/>
              </a:spcBef>
              <a:spcAft>
                <a:spcPts val="0"/>
              </a:spcAft>
              <a:buClr>
                <a:schemeClr val="dk1"/>
              </a:buClr>
              <a:buSzPts val="1100"/>
              <a:buFont typeface="Arial"/>
              <a:buNone/>
            </a:pPr>
            <a:r>
              <a:rPr lang="en-US" sz="1900">
                <a:latin typeface="Times New Roman"/>
                <a:ea typeface="Times New Roman"/>
                <a:cs typeface="Times New Roman"/>
                <a:sym typeface="Times New Roman"/>
              </a:rPr>
              <a:t>Future work </a:t>
            </a:r>
            <a:r>
              <a:rPr lang="en-US" sz="1900">
                <a:highlight>
                  <a:schemeClr val="lt1"/>
                </a:highlight>
                <a:latin typeface="Times New Roman"/>
                <a:ea typeface="Times New Roman"/>
                <a:cs typeface="Times New Roman"/>
                <a:sym typeface="Times New Roman"/>
              </a:rPr>
              <a:t>will gather feedback from business managers to better understand AI's impact on marketing and its influence on the lives of target client</a:t>
            </a:r>
            <a:r>
              <a:rPr lang="en-US" sz="1900">
                <a:solidFill>
                  <a:srgbClr val="60657B"/>
                </a:solidFill>
                <a:highlight>
                  <a:schemeClr val="lt1"/>
                </a:highlight>
                <a:latin typeface="Times New Roman"/>
                <a:ea typeface="Times New Roman"/>
                <a:cs typeface="Times New Roman"/>
                <a:sym typeface="Times New Roman"/>
              </a:rPr>
              <a:t>s.</a:t>
            </a:r>
            <a:endParaRPr sz="1900"/>
          </a:p>
          <a:p>
            <a:pPr indent="0" lvl="0" marL="0" rtl="0" algn="l">
              <a:spcBef>
                <a:spcPts val="1000"/>
              </a:spcBef>
              <a:spcAft>
                <a:spcPts val="0"/>
              </a:spcAft>
              <a:buNone/>
            </a:pPr>
            <a:r>
              <a:t/>
            </a:r>
            <a:endParaRPr/>
          </a:p>
        </p:txBody>
      </p:sp>
      <p:sp>
        <p:nvSpPr>
          <p:cNvPr id="235" name="Google Shape;235;g31b1d412933_3_8"/>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g31b1d412933_0_7"/>
          <p:cNvSpPr txBox="1"/>
          <p:nvPr>
            <p:ph type="title"/>
          </p:nvPr>
        </p:nvSpPr>
        <p:spPr>
          <a:xfrm>
            <a:off x="597150" y="386650"/>
            <a:ext cx="9861300" cy="365100"/>
          </a:xfrm>
          <a:prstGeom prst="rect">
            <a:avLst/>
          </a:prstGeom>
        </p:spPr>
        <p:txBody>
          <a:bodyPr anchorCtr="0" anchor="ctr" bIns="45700" lIns="91425" spcFirstLastPara="1" rIns="91425" wrap="square" tIns="45700">
            <a:normAutofit fontScale="90000"/>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42" name="Google Shape;242;g31b1d412933_0_7"/>
          <p:cNvSpPr txBox="1"/>
          <p:nvPr>
            <p:ph idx="1" type="body"/>
          </p:nvPr>
        </p:nvSpPr>
        <p:spPr>
          <a:xfrm>
            <a:off x="649700" y="734625"/>
            <a:ext cx="10515600" cy="5210100"/>
          </a:xfrm>
          <a:prstGeom prst="rect">
            <a:avLst/>
          </a:prstGeom>
        </p:spPr>
        <p:txBody>
          <a:bodyPr anchorCtr="0" anchor="t" bIns="45700" lIns="91425" spcFirstLastPara="1" rIns="91425" wrap="square" tIns="45700">
            <a:normAutofit lnSpcReduction="20000"/>
          </a:bodyPr>
          <a:lstStyle/>
          <a:p>
            <a:pPr indent="0" lvl="0" marL="0" rtl="0" algn="l">
              <a:spcBef>
                <a:spcPts val="1000"/>
              </a:spcBef>
              <a:spcAft>
                <a:spcPts val="0"/>
              </a:spcAft>
              <a:buNone/>
            </a:pPr>
            <a:r>
              <a:rPr b="1" lang="en-US" sz="2475">
                <a:latin typeface="Times New Roman"/>
                <a:ea typeface="Times New Roman"/>
                <a:cs typeface="Times New Roman"/>
                <a:sym typeface="Times New Roman"/>
              </a:rPr>
              <a:t>7</a:t>
            </a:r>
            <a:r>
              <a:rPr b="1" lang="en-US" sz="2475">
                <a:latin typeface="Times New Roman"/>
                <a:ea typeface="Times New Roman"/>
                <a:cs typeface="Times New Roman"/>
                <a:sym typeface="Times New Roman"/>
              </a:rPr>
              <a:t>) The Role Of Artificial Intelligence In Modern Marketing: A Review Of Current Technologies, Applications, And Challenges</a:t>
            </a:r>
            <a:br>
              <a:rPr b="1" lang="en-US" sz="2475">
                <a:latin typeface="Times New Roman"/>
                <a:ea typeface="Times New Roman"/>
                <a:cs typeface="Times New Roman"/>
                <a:sym typeface="Times New Roman"/>
              </a:rPr>
            </a:br>
            <a:br>
              <a:rPr lang="en-US" sz="2475">
                <a:latin typeface="Times New Roman"/>
                <a:ea typeface="Times New Roman"/>
                <a:cs typeface="Times New Roman"/>
                <a:sym typeface="Times New Roman"/>
              </a:rPr>
            </a:br>
            <a:r>
              <a:rPr b="1" lang="en-US" sz="2291">
                <a:latin typeface="Times New Roman"/>
                <a:ea typeface="Times New Roman"/>
                <a:cs typeface="Times New Roman"/>
                <a:sym typeface="Times New Roman"/>
              </a:rPr>
              <a:t>Year of Publication :</a:t>
            </a:r>
            <a:r>
              <a:rPr lang="en-US" sz="2291">
                <a:latin typeface="Times New Roman"/>
                <a:ea typeface="Times New Roman"/>
                <a:cs typeface="Times New Roman"/>
                <a:sym typeface="Times New Roman"/>
              </a:rPr>
              <a:t> August 2024</a:t>
            </a:r>
            <a:endParaRPr sz="2291">
              <a:latin typeface="Times New Roman"/>
              <a:ea typeface="Times New Roman"/>
              <a:cs typeface="Times New Roman"/>
              <a:sym typeface="Times New Roman"/>
            </a:endParaRPr>
          </a:p>
          <a:p>
            <a:pPr indent="0" lvl="0" marL="0" rtl="0" algn="l">
              <a:spcBef>
                <a:spcPts val="1000"/>
              </a:spcBef>
              <a:spcAft>
                <a:spcPts val="0"/>
              </a:spcAft>
              <a:buNone/>
            </a:pPr>
            <a:r>
              <a:rPr b="1" lang="en-US" sz="2291">
                <a:latin typeface="Times New Roman"/>
                <a:ea typeface="Times New Roman"/>
                <a:cs typeface="Times New Roman"/>
                <a:sym typeface="Times New Roman"/>
              </a:rPr>
              <a:t>Authors : </a:t>
            </a:r>
            <a:r>
              <a:rPr lang="en-US" sz="2291">
                <a:latin typeface="Times New Roman"/>
                <a:ea typeface="Times New Roman"/>
                <a:cs typeface="Times New Roman"/>
                <a:sym typeface="Times New Roman"/>
              </a:rPr>
              <a:t>Shardul Marathe</a:t>
            </a:r>
            <a:endParaRPr sz="2291">
              <a:latin typeface="Times New Roman"/>
              <a:ea typeface="Times New Roman"/>
              <a:cs typeface="Times New Roman"/>
              <a:sym typeface="Times New Roman"/>
            </a:endParaRPr>
          </a:p>
          <a:p>
            <a:pPr indent="0" lvl="0" marL="0" rtl="0" algn="l">
              <a:spcBef>
                <a:spcPts val="1000"/>
              </a:spcBef>
              <a:spcAft>
                <a:spcPts val="0"/>
              </a:spcAft>
              <a:buNone/>
            </a:pPr>
            <a:r>
              <a:rPr b="1" lang="en-US" sz="2291">
                <a:latin typeface="Times New Roman"/>
                <a:ea typeface="Times New Roman"/>
                <a:cs typeface="Times New Roman"/>
                <a:sym typeface="Times New Roman"/>
              </a:rPr>
              <a:t>Problem Addressed </a:t>
            </a:r>
            <a:endParaRPr b="1" sz="2291">
              <a:latin typeface="Times New Roman"/>
              <a:ea typeface="Times New Roman"/>
              <a:cs typeface="Times New Roman"/>
              <a:sym typeface="Times New Roman"/>
            </a:endParaRPr>
          </a:p>
          <a:p>
            <a:pPr indent="0" lvl="0" marL="0" rtl="0" algn="l">
              <a:spcBef>
                <a:spcPts val="1000"/>
              </a:spcBef>
              <a:spcAft>
                <a:spcPts val="0"/>
              </a:spcAft>
              <a:buNone/>
            </a:pPr>
            <a:r>
              <a:rPr lang="en-US" sz="2291">
                <a:latin typeface="Times New Roman"/>
                <a:ea typeface="Times New Roman"/>
                <a:cs typeface="Times New Roman"/>
                <a:sym typeface="Times New Roman"/>
              </a:rPr>
              <a:t>Impact of AI in modern marketing, with focus on current technologies, applications and challenges. </a:t>
            </a:r>
            <a:endParaRPr sz="2291">
              <a:latin typeface="Times New Roman"/>
              <a:ea typeface="Times New Roman"/>
              <a:cs typeface="Times New Roman"/>
              <a:sym typeface="Times New Roman"/>
            </a:endParaRPr>
          </a:p>
          <a:p>
            <a:pPr indent="0" lvl="0" marL="0" rtl="0" algn="l">
              <a:spcBef>
                <a:spcPts val="1000"/>
              </a:spcBef>
              <a:spcAft>
                <a:spcPts val="0"/>
              </a:spcAft>
              <a:buNone/>
            </a:pPr>
            <a:r>
              <a:rPr b="1" lang="en-US" sz="2291">
                <a:latin typeface="Times New Roman"/>
                <a:ea typeface="Times New Roman"/>
                <a:cs typeface="Times New Roman"/>
                <a:sym typeface="Times New Roman"/>
              </a:rPr>
              <a:t>Dataset </a:t>
            </a:r>
            <a:endParaRPr b="1" sz="2291">
              <a:latin typeface="Times New Roman"/>
              <a:ea typeface="Times New Roman"/>
              <a:cs typeface="Times New Roman"/>
              <a:sym typeface="Times New Roman"/>
            </a:endParaRPr>
          </a:p>
          <a:p>
            <a:pPr indent="0" lvl="0" marL="0" rtl="0" algn="l">
              <a:spcBef>
                <a:spcPts val="1000"/>
              </a:spcBef>
              <a:spcAft>
                <a:spcPts val="0"/>
              </a:spcAft>
              <a:buNone/>
            </a:pPr>
            <a:r>
              <a:rPr lang="en-US" sz="2291">
                <a:latin typeface="Times New Roman"/>
                <a:ea typeface="Times New Roman"/>
                <a:cs typeface="Times New Roman"/>
                <a:sym typeface="Times New Roman"/>
              </a:rPr>
              <a:t>Articles from 2013 to 2024 were examined using the electronic database Google Scholar, using specific keywords in the searches. </a:t>
            </a:r>
            <a:endParaRPr sz="2291">
              <a:latin typeface="Times New Roman"/>
              <a:ea typeface="Times New Roman"/>
              <a:cs typeface="Times New Roman"/>
              <a:sym typeface="Times New Roman"/>
            </a:endParaRPr>
          </a:p>
          <a:p>
            <a:pPr indent="0" lvl="0" marL="0" rtl="0" algn="l">
              <a:spcBef>
                <a:spcPts val="1000"/>
              </a:spcBef>
              <a:spcAft>
                <a:spcPts val="0"/>
              </a:spcAft>
              <a:buNone/>
            </a:pPr>
            <a:r>
              <a:rPr b="1" lang="en-US" sz="2291">
                <a:latin typeface="Times New Roman"/>
                <a:ea typeface="Times New Roman"/>
                <a:cs typeface="Times New Roman"/>
                <a:sym typeface="Times New Roman"/>
              </a:rPr>
              <a:t>Methodology </a:t>
            </a:r>
            <a:endParaRPr b="1" sz="2291">
              <a:latin typeface="Times New Roman"/>
              <a:ea typeface="Times New Roman"/>
              <a:cs typeface="Times New Roman"/>
              <a:sym typeface="Times New Roman"/>
            </a:endParaRPr>
          </a:p>
          <a:p>
            <a:pPr indent="0" lvl="0" marL="0" rtl="0" algn="l">
              <a:spcBef>
                <a:spcPts val="1000"/>
              </a:spcBef>
              <a:spcAft>
                <a:spcPts val="0"/>
              </a:spcAft>
              <a:buNone/>
            </a:pPr>
            <a:r>
              <a:rPr lang="en-US" sz="2291">
                <a:latin typeface="Times New Roman"/>
                <a:ea typeface="Times New Roman"/>
                <a:cs typeface="Times New Roman"/>
                <a:sym typeface="Times New Roman"/>
              </a:rPr>
              <a:t>Explored only long articles and journals on Google Scholar, filtered only the articles with involvement with the paper's title and abstracts, and narrowed the papers down using some criterion.</a:t>
            </a:r>
            <a:endParaRPr sz="2291">
              <a:latin typeface="Times New Roman"/>
              <a:ea typeface="Times New Roman"/>
              <a:cs typeface="Times New Roman"/>
              <a:sym typeface="Times New Roman"/>
            </a:endParaRPr>
          </a:p>
        </p:txBody>
      </p:sp>
      <p:sp>
        <p:nvSpPr>
          <p:cNvPr id="243" name="Google Shape;243;g31b1d412933_0_7"/>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g31b1d412933_0_17"/>
          <p:cNvSpPr txBox="1"/>
          <p:nvPr>
            <p:ph idx="1" type="body"/>
          </p:nvPr>
        </p:nvSpPr>
        <p:spPr>
          <a:xfrm>
            <a:off x="838200" y="1119450"/>
            <a:ext cx="10515600" cy="4351200"/>
          </a:xfrm>
          <a:prstGeom prst="rect">
            <a:avLst/>
          </a:prstGeom>
        </p:spPr>
        <p:txBody>
          <a:bodyPr anchorCtr="0" anchor="t" bIns="45700" lIns="91425" spcFirstLastPara="1" rIns="91425" wrap="square" tIns="45700">
            <a:noAutofit/>
          </a:bodyPr>
          <a:lstStyle/>
          <a:p>
            <a:pPr indent="0" lvl="0" marL="0" rtl="0" algn="l">
              <a:lnSpc>
                <a:spcPct val="70000"/>
              </a:lnSpc>
              <a:spcBef>
                <a:spcPts val="1000"/>
              </a:spcBef>
              <a:spcAft>
                <a:spcPts val="0"/>
              </a:spcAft>
              <a:buClr>
                <a:schemeClr val="dk1"/>
              </a:buClr>
              <a:buSzPts val="852"/>
              <a:buFont typeface="Arial"/>
              <a:buNone/>
            </a:pPr>
            <a:r>
              <a:rPr b="1" lang="en-US" sz="2270">
                <a:latin typeface="Times New Roman"/>
                <a:ea typeface="Times New Roman"/>
                <a:cs typeface="Times New Roman"/>
                <a:sym typeface="Times New Roman"/>
              </a:rPr>
              <a:t>Result</a:t>
            </a:r>
            <a:endParaRPr b="1" sz="2270">
              <a:latin typeface="Times New Roman"/>
              <a:ea typeface="Times New Roman"/>
              <a:cs typeface="Times New Roman"/>
              <a:sym typeface="Times New Roman"/>
            </a:endParaRPr>
          </a:p>
          <a:p>
            <a:pPr indent="-372745" lvl="0" marL="457200" rtl="0" algn="l">
              <a:lnSpc>
                <a:spcPct val="70000"/>
              </a:lnSpc>
              <a:spcBef>
                <a:spcPts val="1000"/>
              </a:spcBef>
              <a:spcAft>
                <a:spcPts val="0"/>
              </a:spcAft>
              <a:buSzPts val="2270"/>
              <a:buFont typeface="Times New Roman"/>
              <a:buChar char="●"/>
            </a:pPr>
            <a:r>
              <a:rPr lang="en-US" sz="2270">
                <a:latin typeface="Times New Roman"/>
                <a:ea typeface="Times New Roman"/>
                <a:cs typeface="Times New Roman"/>
                <a:sym typeface="Times New Roman"/>
              </a:rPr>
              <a:t>It narrows down how AI is transforming modern marketing strategies like:-</a:t>
            </a:r>
            <a:br>
              <a:rPr lang="en-US" sz="2270">
                <a:latin typeface="Times New Roman"/>
                <a:ea typeface="Times New Roman"/>
                <a:cs typeface="Times New Roman"/>
                <a:sym typeface="Times New Roman"/>
              </a:rPr>
            </a:br>
            <a:r>
              <a:rPr lang="en-US" sz="2270">
                <a:latin typeface="Times New Roman"/>
                <a:ea typeface="Times New Roman"/>
                <a:cs typeface="Times New Roman"/>
                <a:sym typeface="Times New Roman"/>
              </a:rPr>
              <a:t>How AI-driven technologies revolutionize content creation, targeting customers, and pricing strategies? </a:t>
            </a:r>
            <a:endParaRPr sz="2270">
              <a:latin typeface="Times New Roman"/>
              <a:ea typeface="Times New Roman"/>
              <a:cs typeface="Times New Roman"/>
              <a:sym typeface="Times New Roman"/>
            </a:endParaRPr>
          </a:p>
          <a:p>
            <a:pPr indent="-372745" lvl="0" marL="457200" rtl="0" algn="l">
              <a:lnSpc>
                <a:spcPct val="70000"/>
              </a:lnSpc>
              <a:spcBef>
                <a:spcPts val="0"/>
              </a:spcBef>
              <a:spcAft>
                <a:spcPts val="0"/>
              </a:spcAft>
              <a:buSzPts val="2270"/>
              <a:buFont typeface="Times New Roman"/>
              <a:buChar char="●"/>
            </a:pPr>
            <a:r>
              <a:rPr lang="en-US" sz="2270">
                <a:latin typeface="Times New Roman"/>
                <a:ea typeface="Times New Roman"/>
                <a:cs typeface="Times New Roman"/>
                <a:sym typeface="Times New Roman"/>
              </a:rPr>
              <a:t>Considering the advantages, what are the challenges that underscore the necessity of businesses to adopt AI with caution, practicing ethics and robust data management?</a:t>
            </a:r>
            <a:endParaRPr sz="2270">
              <a:latin typeface="Times New Roman"/>
              <a:ea typeface="Times New Roman"/>
              <a:cs typeface="Times New Roman"/>
              <a:sym typeface="Times New Roman"/>
            </a:endParaRPr>
          </a:p>
          <a:p>
            <a:pPr indent="0" lvl="0" marL="457200" rtl="0" algn="l">
              <a:lnSpc>
                <a:spcPct val="70000"/>
              </a:lnSpc>
              <a:spcBef>
                <a:spcPts val="1000"/>
              </a:spcBef>
              <a:spcAft>
                <a:spcPts val="0"/>
              </a:spcAft>
              <a:buNone/>
            </a:pPr>
            <a:r>
              <a:t/>
            </a:r>
            <a:endParaRPr sz="2270">
              <a:latin typeface="Times New Roman"/>
              <a:ea typeface="Times New Roman"/>
              <a:cs typeface="Times New Roman"/>
              <a:sym typeface="Times New Roman"/>
            </a:endParaRPr>
          </a:p>
          <a:p>
            <a:pPr indent="0" lvl="0" marL="0" rtl="0" algn="l">
              <a:lnSpc>
                <a:spcPct val="70000"/>
              </a:lnSpc>
              <a:spcBef>
                <a:spcPts val="1000"/>
              </a:spcBef>
              <a:spcAft>
                <a:spcPts val="0"/>
              </a:spcAft>
              <a:buSzPts val="852"/>
              <a:buNone/>
            </a:pPr>
            <a:r>
              <a:rPr b="1" lang="en-US" sz="2270">
                <a:latin typeface="Times New Roman"/>
                <a:ea typeface="Times New Roman"/>
                <a:cs typeface="Times New Roman"/>
                <a:sym typeface="Times New Roman"/>
              </a:rPr>
              <a:t>Future works </a:t>
            </a:r>
            <a:endParaRPr b="1" sz="2270">
              <a:latin typeface="Times New Roman"/>
              <a:ea typeface="Times New Roman"/>
              <a:cs typeface="Times New Roman"/>
              <a:sym typeface="Times New Roman"/>
            </a:endParaRPr>
          </a:p>
          <a:p>
            <a:pPr indent="-372745" lvl="0" marL="457200" rtl="0" algn="l">
              <a:lnSpc>
                <a:spcPct val="70000"/>
              </a:lnSpc>
              <a:spcBef>
                <a:spcPts val="1000"/>
              </a:spcBef>
              <a:spcAft>
                <a:spcPts val="0"/>
              </a:spcAft>
              <a:buSzPts val="2270"/>
              <a:buFont typeface="Times New Roman"/>
              <a:buChar char="●"/>
            </a:pPr>
            <a:r>
              <a:rPr lang="en-US" sz="2270">
                <a:latin typeface="Times New Roman"/>
                <a:ea typeface="Times New Roman"/>
                <a:cs typeface="Times New Roman"/>
                <a:sym typeface="Times New Roman"/>
              </a:rPr>
              <a:t>How the transition from traditional marketing to AI-based marketing will happen from an economic, societal, and political point of view. </a:t>
            </a:r>
            <a:endParaRPr sz="2270">
              <a:latin typeface="Times New Roman"/>
              <a:ea typeface="Times New Roman"/>
              <a:cs typeface="Times New Roman"/>
              <a:sym typeface="Times New Roman"/>
            </a:endParaRPr>
          </a:p>
          <a:p>
            <a:pPr indent="-372745" lvl="0" marL="457200" rtl="0" algn="l">
              <a:lnSpc>
                <a:spcPct val="70000"/>
              </a:lnSpc>
              <a:spcBef>
                <a:spcPts val="0"/>
              </a:spcBef>
              <a:spcAft>
                <a:spcPts val="0"/>
              </a:spcAft>
              <a:buSzPts val="2270"/>
              <a:buFont typeface="Times New Roman"/>
              <a:buChar char="●"/>
            </a:pPr>
            <a:r>
              <a:rPr lang="en-US" sz="2270">
                <a:latin typeface="Times New Roman"/>
                <a:ea typeface="Times New Roman"/>
                <a:cs typeface="Times New Roman"/>
                <a:sym typeface="Times New Roman"/>
              </a:rPr>
              <a:t>Analyzing fully AI-based companies versus traditional companies and seeing every metric from click rates to customer retention. </a:t>
            </a:r>
            <a:endParaRPr sz="2270">
              <a:latin typeface="Times New Roman"/>
              <a:ea typeface="Times New Roman"/>
              <a:cs typeface="Times New Roman"/>
              <a:sym typeface="Times New Roman"/>
            </a:endParaRPr>
          </a:p>
          <a:p>
            <a:pPr indent="-372745" lvl="0" marL="457200" rtl="0" algn="l">
              <a:lnSpc>
                <a:spcPct val="70000"/>
              </a:lnSpc>
              <a:spcBef>
                <a:spcPts val="0"/>
              </a:spcBef>
              <a:spcAft>
                <a:spcPts val="0"/>
              </a:spcAft>
              <a:buSzPts val="2270"/>
              <a:buFont typeface="Times New Roman"/>
              <a:buChar char="●"/>
            </a:pPr>
            <a:r>
              <a:rPr lang="en-US" sz="2270">
                <a:latin typeface="Times New Roman"/>
                <a:ea typeface="Times New Roman"/>
                <a:cs typeface="Times New Roman"/>
                <a:sym typeface="Times New Roman"/>
              </a:rPr>
              <a:t>Internal Biases and how AI will deal with it; what policies can manifest in response to copyright and ethical concerns. </a:t>
            </a:r>
            <a:endParaRPr sz="2270">
              <a:latin typeface="Times New Roman"/>
              <a:ea typeface="Times New Roman"/>
              <a:cs typeface="Times New Roman"/>
              <a:sym typeface="Times New Roman"/>
            </a:endParaRPr>
          </a:p>
        </p:txBody>
      </p:sp>
      <p:sp>
        <p:nvSpPr>
          <p:cNvPr id="250" name="Google Shape;250;g31b1d412933_0_17"/>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g31aa606e22d_0_28"/>
          <p:cNvSpPr txBox="1"/>
          <p:nvPr>
            <p:ph type="title"/>
          </p:nvPr>
        </p:nvSpPr>
        <p:spPr>
          <a:xfrm>
            <a:off x="570775" y="613450"/>
            <a:ext cx="10515600" cy="1325700"/>
          </a:xfrm>
          <a:prstGeom prst="rect">
            <a:avLst/>
          </a:prstGeom>
        </p:spPr>
        <p:txBody>
          <a:bodyPr anchorCtr="0" anchor="ctr" bIns="45700" lIns="91425" spcFirstLastPara="1" rIns="91425" wrap="square" tIns="45700">
            <a:noAutofit/>
          </a:bodyPr>
          <a:lstStyle/>
          <a:p>
            <a:pPr indent="0" lvl="0" marL="0" rtl="0" algn="just">
              <a:lnSpc>
                <a:spcPct val="95000"/>
              </a:lnSpc>
              <a:spcBef>
                <a:spcPts val="0"/>
              </a:spcBef>
              <a:spcAft>
                <a:spcPts val="0"/>
              </a:spcAft>
              <a:buNone/>
            </a:pPr>
            <a:r>
              <a:rPr lang="en-US" sz="3300">
                <a:latin typeface="Trebuchet MS"/>
                <a:ea typeface="Trebuchet MS"/>
                <a:cs typeface="Trebuchet MS"/>
                <a:sym typeface="Trebuchet MS"/>
              </a:rPr>
              <a:t>Suggestions from Review – 1 and changes incorporated</a:t>
            </a:r>
            <a:endParaRPr sz="3300"/>
          </a:p>
        </p:txBody>
      </p:sp>
      <p:sp>
        <p:nvSpPr>
          <p:cNvPr id="257" name="Google Shape;257;g31aa606e22d_0_28"/>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lnSpc>
                <a:spcPct val="115000"/>
              </a:lnSpc>
              <a:spcBef>
                <a:spcPts val="1400"/>
              </a:spcBef>
              <a:spcAft>
                <a:spcPts val="0"/>
              </a:spcAft>
              <a:buClr>
                <a:schemeClr val="dk1"/>
              </a:buClr>
              <a:buSzPts val="1100"/>
              <a:buFont typeface="Arial"/>
              <a:buNone/>
            </a:pPr>
            <a:r>
              <a:t/>
            </a:r>
            <a:endParaRPr b="1" sz="1300">
              <a:latin typeface="Arial"/>
              <a:ea typeface="Arial"/>
              <a:cs typeface="Arial"/>
              <a:sym typeface="Arial"/>
            </a:endParaRPr>
          </a:p>
          <a:p>
            <a:pPr indent="-361950" lvl="0" marL="457200" rtl="0" algn="l">
              <a:lnSpc>
                <a:spcPct val="115000"/>
              </a:lnSpc>
              <a:spcBef>
                <a:spcPts val="1200"/>
              </a:spcBef>
              <a:spcAft>
                <a:spcPts val="0"/>
              </a:spcAft>
              <a:buSzPts val="2100"/>
              <a:buFont typeface="Times New Roman"/>
              <a:buChar char="●"/>
            </a:pPr>
            <a:r>
              <a:rPr lang="en-US" sz="2100">
                <a:latin typeface="Times New Roman"/>
                <a:ea typeface="Times New Roman"/>
                <a:cs typeface="Times New Roman"/>
                <a:sym typeface="Times New Roman"/>
              </a:rPr>
              <a:t>We were advised to conduct additional research on the technical aspects of Generative AI and sales anomaly detection.</a:t>
            </a:r>
            <a:endParaRPr sz="2100">
              <a:latin typeface="Times New Roman"/>
              <a:ea typeface="Times New Roman"/>
              <a:cs typeface="Times New Roman"/>
              <a:sym typeface="Times New Roman"/>
            </a:endParaRPr>
          </a:p>
          <a:p>
            <a:pPr indent="-361950" lvl="0" marL="457200" rtl="0" algn="l">
              <a:lnSpc>
                <a:spcPct val="115000"/>
              </a:lnSpc>
              <a:spcBef>
                <a:spcPts val="0"/>
              </a:spcBef>
              <a:spcAft>
                <a:spcPts val="0"/>
              </a:spcAft>
              <a:buSzPts val="2100"/>
              <a:buFont typeface="Times New Roman"/>
              <a:buChar char="●"/>
            </a:pPr>
            <a:r>
              <a:rPr lang="en-US" sz="2100">
                <a:latin typeface="Times New Roman"/>
                <a:ea typeface="Times New Roman"/>
                <a:cs typeface="Times New Roman"/>
                <a:sym typeface="Times New Roman"/>
              </a:rPr>
              <a:t>In response, we reviewed key papers, including “Generative Artificial Intelligence: A Systematic Review and Applications” and “Automated Model Selection for Time Series Anomaly Detection.”</a:t>
            </a:r>
            <a:endParaRPr sz="2100">
              <a:latin typeface="Times New Roman"/>
              <a:ea typeface="Times New Roman"/>
              <a:cs typeface="Times New Roman"/>
              <a:sym typeface="Times New Roman"/>
            </a:endParaRPr>
          </a:p>
          <a:p>
            <a:pPr indent="-361950" lvl="0" marL="457200" rtl="0" algn="l">
              <a:lnSpc>
                <a:spcPct val="115000"/>
              </a:lnSpc>
              <a:spcBef>
                <a:spcPts val="0"/>
              </a:spcBef>
              <a:spcAft>
                <a:spcPts val="0"/>
              </a:spcAft>
              <a:buSzPts val="2100"/>
              <a:buFont typeface="Times New Roman"/>
              <a:buChar char="●"/>
            </a:pPr>
            <a:r>
              <a:rPr lang="en-US" sz="2100">
                <a:latin typeface="Times New Roman"/>
                <a:ea typeface="Times New Roman"/>
                <a:cs typeface="Times New Roman"/>
                <a:sym typeface="Times New Roman"/>
              </a:rPr>
              <a:t>These papers provided insights into leveraging LLMs for ad content creation, using advanced anomaly detection techniques, and integrating GenAI for targeted marketing.</a:t>
            </a:r>
            <a:endParaRPr sz="2100">
              <a:latin typeface="Times New Roman"/>
              <a:ea typeface="Times New Roman"/>
              <a:cs typeface="Times New Roman"/>
              <a:sym typeface="Times New Roman"/>
            </a:endParaRPr>
          </a:p>
          <a:p>
            <a:pPr indent="-361950" lvl="0" marL="457200" rtl="0" algn="l">
              <a:lnSpc>
                <a:spcPct val="115000"/>
              </a:lnSpc>
              <a:spcBef>
                <a:spcPts val="0"/>
              </a:spcBef>
              <a:spcAft>
                <a:spcPts val="0"/>
              </a:spcAft>
              <a:buSzPts val="2100"/>
              <a:buFont typeface="Times New Roman"/>
              <a:buChar char="●"/>
            </a:pPr>
            <a:r>
              <a:rPr lang="en-US" sz="2100">
                <a:latin typeface="Times New Roman"/>
                <a:ea typeface="Times New Roman"/>
                <a:cs typeface="Times New Roman"/>
                <a:sym typeface="Times New Roman"/>
              </a:rPr>
              <a:t>The findings were incorporated into our project, enhancing its technical foundation and preparing for a more effective implementation in the next phases.</a:t>
            </a:r>
            <a:endParaRPr sz="2100">
              <a:latin typeface="Times New Roman"/>
              <a:ea typeface="Times New Roman"/>
              <a:cs typeface="Times New Roman"/>
              <a:sym typeface="Times New Roman"/>
            </a:endParaRPr>
          </a:p>
          <a:p>
            <a:pPr indent="0" lvl="0" marL="0" rtl="0" algn="l">
              <a:spcBef>
                <a:spcPts val="1200"/>
              </a:spcBef>
              <a:spcAft>
                <a:spcPts val="0"/>
              </a:spcAft>
              <a:buNone/>
            </a:pPr>
            <a:r>
              <a:t/>
            </a:r>
            <a:endParaRPr/>
          </a:p>
        </p:txBody>
      </p:sp>
      <p:sp>
        <p:nvSpPr>
          <p:cNvPr id="258" name="Google Shape;258;g31aa606e22d_0_28"/>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g31aa606e22d_0_35"/>
          <p:cNvSpPr txBox="1"/>
          <p:nvPr>
            <p:ph type="title"/>
          </p:nvPr>
        </p:nvSpPr>
        <p:spPr>
          <a:xfrm>
            <a:off x="417925" y="651675"/>
            <a:ext cx="10515600" cy="1325700"/>
          </a:xfrm>
          <a:prstGeom prst="rect">
            <a:avLst/>
          </a:prstGeom>
        </p:spPr>
        <p:txBody>
          <a:bodyPr anchorCtr="0" anchor="ctr" bIns="45700" lIns="91425" spcFirstLastPara="1" rIns="91425" wrap="square" tIns="45700">
            <a:normAutofit fontScale="90000"/>
          </a:bodyPr>
          <a:lstStyle/>
          <a:p>
            <a:pPr indent="0" lvl="0" marL="0" rtl="0" algn="just">
              <a:lnSpc>
                <a:spcPct val="95000"/>
              </a:lnSpc>
              <a:spcBef>
                <a:spcPts val="0"/>
              </a:spcBef>
              <a:spcAft>
                <a:spcPts val="0"/>
              </a:spcAft>
              <a:buClr>
                <a:schemeClr val="dk1"/>
              </a:buClr>
              <a:buSzPct val="33333"/>
              <a:buFont typeface="Arial"/>
              <a:buNone/>
            </a:pPr>
            <a:r>
              <a:rPr lang="en-US" sz="3300">
                <a:latin typeface="Trebuchet MS"/>
                <a:ea typeface="Trebuchet MS"/>
                <a:cs typeface="Trebuchet MS"/>
                <a:sym typeface="Trebuchet MS"/>
              </a:rPr>
              <a:t>Suggestions from Review – 	2 and changes incorporated</a:t>
            </a:r>
            <a:endParaRPr sz="3300"/>
          </a:p>
          <a:p>
            <a:pPr indent="0" lvl="0" marL="0" rtl="0" algn="l">
              <a:spcBef>
                <a:spcPts val="0"/>
              </a:spcBef>
              <a:spcAft>
                <a:spcPts val="0"/>
              </a:spcAft>
              <a:buNone/>
            </a:pPr>
            <a:r>
              <a:t/>
            </a:r>
            <a:endParaRPr/>
          </a:p>
        </p:txBody>
      </p:sp>
      <p:sp>
        <p:nvSpPr>
          <p:cNvPr id="265" name="Google Shape;265;g31aa606e22d_0_35"/>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368300" lvl="0" marL="457200" rtl="0" algn="l">
              <a:lnSpc>
                <a:spcPct val="115000"/>
              </a:lnSpc>
              <a:spcBef>
                <a:spcPts val="1200"/>
              </a:spcBef>
              <a:spcAft>
                <a:spcPts val="0"/>
              </a:spcAft>
              <a:buSzPts val="2200"/>
              <a:buFont typeface="Times New Roman"/>
              <a:buChar char="●"/>
            </a:pPr>
            <a:r>
              <a:rPr lang="en-US" sz="2200">
                <a:latin typeface="Times New Roman"/>
                <a:ea typeface="Times New Roman"/>
                <a:cs typeface="Times New Roman"/>
                <a:sym typeface="Times New Roman"/>
              </a:rPr>
              <a:t>We were advised to review the availability of datasets for the project to ensure suitability and relevance.</a:t>
            </a:r>
            <a:endParaRPr sz="2200">
              <a:latin typeface="Times New Roman"/>
              <a:ea typeface="Times New Roman"/>
              <a:cs typeface="Times New Roman"/>
              <a:sym typeface="Times New Roman"/>
            </a:endParaRPr>
          </a:p>
          <a:p>
            <a:pPr indent="-368300" lvl="0" marL="457200" rtl="0" algn="l">
              <a:lnSpc>
                <a:spcPct val="115000"/>
              </a:lnSpc>
              <a:spcBef>
                <a:spcPts val="0"/>
              </a:spcBef>
              <a:spcAft>
                <a:spcPts val="0"/>
              </a:spcAft>
              <a:buSzPts val="2200"/>
              <a:buFont typeface="Times New Roman"/>
              <a:buChar char="●"/>
            </a:pPr>
            <a:r>
              <a:rPr lang="en-US" sz="2200">
                <a:latin typeface="Times New Roman"/>
                <a:ea typeface="Times New Roman"/>
                <a:cs typeface="Times New Roman"/>
                <a:sym typeface="Times New Roman"/>
              </a:rPr>
              <a:t>In response, we explored various sources and identified some valuable datasets on Kaggle that align with our project objectives.</a:t>
            </a:r>
            <a:endParaRPr sz="2200">
              <a:latin typeface="Times New Roman"/>
              <a:ea typeface="Times New Roman"/>
              <a:cs typeface="Times New Roman"/>
              <a:sym typeface="Times New Roman"/>
            </a:endParaRPr>
          </a:p>
          <a:p>
            <a:pPr indent="-368300" lvl="0" marL="457200" rtl="0" algn="l">
              <a:lnSpc>
                <a:spcPct val="115000"/>
              </a:lnSpc>
              <a:spcBef>
                <a:spcPts val="0"/>
              </a:spcBef>
              <a:spcAft>
                <a:spcPts val="0"/>
              </a:spcAft>
              <a:buSzPts val="2200"/>
              <a:buFont typeface="Times New Roman"/>
              <a:buChar char="●"/>
            </a:pPr>
            <a:r>
              <a:rPr lang="en-US" sz="2200">
                <a:latin typeface="Times New Roman"/>
                <a:ea typeface="Times New Roman"/>
                <a:cs typeface="Times New Roman"/>
                <a:sym typeface="Times New Roman"/>
              </a:rPr>
              <a:t>We are continuing our efforts to find even better datasets by reaching out to companies and exploring industry-specific data sources.</a:t>
            </a:r>
            <a:endParaRPr sz="2200">
              <a:latin typeface="Times New Roman"/>
              <a:ea typeface="Times New Roman"/>
              <a:cs typeface="Times New Roman"/>
              <a:sym typeface="Times New Roman"/>
            </a:endParaRPr>
          </a:p>
          <a:p>
            <a:pPr indent="0" lvl="0" marL="0" rtl="0" algn="l">
              <a:spcBef>
                <a:spcPts val="1200"/>
              </a:spcBef>
              <a:spcAft>
                <a:spcPts val="0"/>
              </a:spcAft>
              <a:buNone/>
            </a:pPr>
            <a:r>
              <a:t/>
            </a:r>
            <a:endParaRPr sz="2200">
              <a:latin typeface="Times New Roman"/>
              <a:ea typeface="Times New Roman"/>
              <a:cs typeface="Times New Roman"/>
              <a:sym typeface="Times New Roman"/>
            </a:endParaRPr>
          </a:p>
        </p:txBody>
      </p:sp>
      <p:sp>
        <p:nvSpPr>
          <p:cNvPr id="266" name="Google Shape;266;g31aa606e22d_0_35"/>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g31a9d1a8de3_0_47"/>
          <p:cNvSpPr txBox="1"/>
          <p:nvPr>
            <p:ph type="title"/>
          </p:nvPr>
        </p:nvSpPr>
        <p:spPr>
          <a:xfrm>
            <a:off x="379725" y="365125"/>
            <a:ext cx="109740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Research/technology gaps</a:t>
            </a:r>
            <a:endParaRPr/>
          </a:p>
        </p:txBody>
      </p:sp>
      <p:sp>
        <p:nvSpPr>
          <p:cNvPr id="273" name="Google Shape;273;g31a9d1a8de3_0_47"/>
          <p:cNvSpPr txBox="1"/>
          <p:nvPr>
            <p:ph idx="1" type="body"/>
          </p:nvPr>
        </p:nvSpPr>
        <p:spPr>
          <a:xfrm>
            <a:off x="379725" y="1542338"/>
            <a:ext cx="10515600" cy="4351200"/>
          </a:xfrm>
          <a:prstGeom prst="rect">
            <a:avLst/>
          </a:prstGeom>
        </p:spPr>
        <p:txBody>
          <a:bodyPr anchorCtr="0" anchor="t" bIns="45700" lIns="91425" spcFirstLastPara="1" rIns="91425" wrap="square" tIns="45700">
            <a:noAutofit/>
          </a:bodyPr>
          <a:lstStyle/>
          <a:p>
            <a:pPr indent="-342900" lvl="0" marL="457200" rtl="0" algn="just">
              <a:lnSpc>
                <a:spcPct val="150000"/>
              </a:lnSpc>
              <a:spcBef>
                <a:spcPts val="0"/>
              </a:spcBef>
              <a:spcAft>
                <a:spcPts val="0"/>
              </a:spcAft>
              <a:buSzPts val="1800"/>
              <a:buFont typeface="Times New Roman"/>
              <a:buChar char="●"/>
            </a:pPr>
            <a:r>
              <a:rPr lang="en-US" sz="1800">
                <a:latin typeface="Times New Roman"/>
                <a:ea typeface="Times New Roman"/>
                <a:cs typeface="Times New Roman"/>
                <a:sym typeface="Times New Roman"/>
              </a:rPr>
              <a:t>A link between how to connect sales dips to enhancing product marketing through advertisement is a bridge that has not been researched on a lot.</a:t>
            </a:r>
            <a:endParaRPr sz="1800">
              <a:latin typeface="Times New Roman"/>
              <a:ea typeface="Times New Roman"/>
              <a:cs typeface="Times New Roman"/>
              <a:sym typeface="Times New Roman"/>
            </a:endParaRPr>
          </a:p>
          <a:p>
            <a:pPr indent="0" lvl="0" marL="457200" rtl="0" algn="just">
              <a:lnSpc>
                <a:spcPct val="150000"/>
              </a:lnSpc>
              <a:spcBef>
                <a:spcPts val="0"/>
              </a:spcBef>
              <a:spcAft>
                <a:spcPts val="0"/>
              </a:spcAft>
              <a:buClr>
                <a:schemeClr val="dk1"/>
              </a:buClr>
              <a:buSzPts val="1100"/>
              <a:buFont typeface="Arial"/>
              <a:buNone/>
            </a:pPr>
            <a:r>
              <a:rPr b="1" lang="en-US" sz="1800">
                <a:latin typeface="Times New Roman"/>
                <a:ea typeface="Times New Roman"/>
                <a:cs typeface="Times New Roman"/>
                <a:sym typeface="Times New Roman"/>
              </a:rPr>
              <a:t>As two separate frameworks ,anomaly detection and gen-ai have been discussed often,but a potential problem-solution approach to the same is what can undergo more research.</a:t>
            </a:r>
            <a:endParaRPr b="1" sz="1800">
              <a:latin typeface="Times New Roman"/>
              <a:ea typeface="Times New Roman"/>
              <a:cs typeface="Times New Roman"/>
              <a:sym typeface="Times New Roman"/>
            </a:endParaRPr>
          </a:p>
          <a:p>
            <a:pPr indent="-342900" lvl="0" marL="457200" rtl="0" algn="just">
              <a:lnSpc>
                <a:spcPct val="150000"/>
              </a:lnSpc>
              <a:spcBef>
                <a:spcPts val="0"/>
              </a:spcBef>
              <a:spcAft>
                <a:spcPts val="0"/>
              </a:spcAft>
              <a:buSzPts val="1800"/>
              <a:buFont typeface="Times New Roman"/>
              <a:buChar char="●"/>
            </a:pPr>
            <a:r>
              <a:rPr lang="en-US" sz="1800">
                <a:latin typeface="Times New Roman"/>
                <a:ea typeface="Times New Roman"/>
                <a:cs typeface="Times New Roman"/>
                <a:sym typeface="Times New Roman"/>
              </a:rPr>
              <a:t>Contextual based advertising using </a:t>
            </a:r>
            <a:r>
              <a:rPr b="1" lang="en-US" sz="1800">
                <a:latin typeface="Times New Roman"/>
                <a:ea typeface="Times New Roman"/>
                <a:cs typeface="Times New Roman"/>
                <a:sym typeface="Times New Roman"/>
              </a:rPr>
              <a:t>LLMs</a:t>
            </a:r>
            <a:r>
              <a:rPr lang="en-US" sz="1800">
                <a:latin typeface="Times New Roman"/>
                <a:ea typeface="Times New Roman"/>
                <a:cs typeface="Times New Roman"/>
                <a:sym typeface="Times New Roman"/>
              </a:rPr>
              <a:t> is a commonly used approach for ad text content generation .However using those to </a:t>
            </a:r>
            <a:r>
              <a:rPr b="1" lang="en-US" sz="1800">
                <a:latin typeface="Times New Roman"/>
                <a:ea typeface="Times New Roman"/>
                <a:cs typeface="Times New Roman"/>
                <a:sym typeface="Times New Roman"/>
              </a:rPr>
              <a:t>integrate with GAN models </a:t>
            </a:r>
            <a:r>
              <a:rPr lang="en-US" sz="1800">
                <a:latin typeface="Times New Roman"/>
                <a:ea typeface="Times New Roman"/>
                <a:cs typeface="Times New Roman"/>
                <a:sym typeface="Times New Roman"/>
              </a:rPr>
              <a:t>for static image based advertisements in not widely explored.</a:t>
            </a:r>
            <a:endParaRPr sz="1800">
              <a:latin typeface="Times New Roman"/>
              <a:ea typeface="Times New Roman"/>
              <a:cs typeface="Times New Roman"/>
              <a:sym typeface="Times New Roman"/>
            </a:endParaRPr>
          </a:p>
          <a:p>
            <a:pPr indent="-342900" lvl="0" marL="457200" rtl="0" algn="just">
              <a:lnSpc>
                <a:spcPct val="150000"/>
              </a:lnSpc>
              <a:spcBef>
                <a:spcPts val="0"/>
              </a:spcBef>
              <a:spcAft>
                <a:spcPts val="0"/>
              </a:spcAft>
              <a:buSzPts val="1800"/>
              <a:buFont typeface="Times New Roman"/>
              <a:buChar char="●"/>
            </a:pPr>
            <a:r>
              <a:rPr b="1" lang="en-US" sz="1800">
                <a:latin typeface="Times New Roman"/>
                <a:ea typeface="Times New Roman"/>
                <a:cs typeface="Times New Roman"/>
                <a:sym typeface="Times New Roman"/>
              </a:rPr>
              <a:t>Seamless integration</a:t>
            </a:r>
            <a:r>
              <a:rPr lang="en-US" sz="1800">
                <a:latin typeface="Times New Roman"/>
                <a:ea typeface="Times New Roman"/>
                <a:cs typeface="Times New Roman"/>
                <a:sym typeface="Times New Roman"/>
              </a:rPr>
              <a:t> into the existing marketing setup.</a:t>
            </a:r>
            <a:endParaRPr sz="1800">
              <a:latin typeface="Times New Roman"/>
              <a:ea typeface="Times New Roman"/>
              <a:cs typeface="Times New Roman"/>
              <a:sym typeface="Times New Roman"/>
            </a:endParaRPr>
          </a:p>
          <a:p>
            <a:pPr indent="-342900" lvl="0" marL="457200" rtl="0" algn="just">
              <a:lnSpc>
                <a:spcPct val="150000"/>
              </a:lnSpc>
              <a:spcBef>
                <a:spcPts val="0"/>
              </a:spcBef>
              <a:spcAft>
                <a:spcPts val="0"/>
              </a:spcAft>
              <a:buSzPts val="1800"/>
              <a:buFont typeface="Times New Roman"/>
              <a:buChar char="●"/>
            </a:pPr>
            <a:r>
              <a:rPr lang="en-US" sz="1800">
                <a:latin typeface="Times New Roman"/>
                <a:ea typeface="Times New Roman"/>
                <a:cs typeface="Times New Roman"/>
                <a:sym typeface="Times New Roman"/>
              </a:rPr>
              <a:t>Improving model interpretability for anomaly detection and model adaptation across the various product categories remains a challenge. More research is needed on how to better deal with unlabeled and unbalanced datasets and how to expand the evaluation metrics used beyond performance indicators such as the F1 score.</a:t>
            </a:r>
            <a:endParaRPr sz="1800">
              <a:latin typeface="Times New Roman"/>
              <a:ea typeface="Times New Roman"/>
              <a:cs typeface="Times New Roman"/>
              <a:sym typeface="Times New Roman"/>
            </a:endParaRPr>
          </a:p>
          <a:p>
            <a:pPr indent="0" lvl="0" marL="0" rtl="0" algn="l">
              <a:spcBef>
                <a:spcPts val="1000"/>
              </a:spcBef>
              <a:spcAft>
                <a:spcPts val="0"/>
              </a:spcAft>
              <a:buNone/>
            </a:pPr>
            <a:r>
              <a:t/>
            </a:r>
            <a:endParaRPr sz="3100"/>
          </a:p>
        </p:txBody>
      </p:sp>
      <p:sp>
        <p:nvSpPr>
          <p:cNvPr id="274" name="Google Shape;274;g31a9d1a8de3_0_47"/>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g31a9d1a8de3_0_5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OBJECTIVES</a:t>
            </a:r>
            <a:endParaRPr/>
          </a:p>
        </p:txBody>
      </p:sp>
      <p:sp>
        <p:nvSpPr>
          <p:cNvPr id="281" name="Google Shape;281;g31a9d1a8de3_0_55"/>
          <p:cNvSpPr txBox="1"/>
          <p:nvPr>
            <p:ph idx="1" type="body"/>
          </p:nvPr>
        </p:nvSpPr>
        <p:spPr>
          <a:xfrm>
            <a:off x="704475" y="1539075"/>
            <a:ext cx="10424700" cy="4351200"/>
          </a:xfrm>
          <a:prstGeom prst="rect">
            <a:avLst/>
          </a:prstGeom>
        </p:spPr>
        <p:txBody>
          <a:bodyPr anchorCtr="0" anchor="t" bIns="45700" lIns="91425" spcFirstLastPara="1" rIns="91425" wrap="square" tIns="45700">
            <a:noAutofit/>
          </a:bodyPr>
          <a:lstStyle/>
          <a:p>
            <a:pPr indent="0" lvl="0" marL="0" rtl="0" algn="l">
              <a:lnSpc>
                <a:spcPct val="150000"/>
              </a:lnSpc>
              <a:spcBef>
                <a:spcPts val="0"/>
              </a:spcBef>
              <a:spcAft>
                <a:spcPts val="0"/>
              </a:spcAft>
              <a:buClr>
                <a:schemeClr val="dk1"/>
              </a:buClr>
              <a:buSzPts val="1100"/>
              <a:buFont typeface="Arial"/>
              <a:buNone/>
            </a:pPr>
            <a:r>
              <a:rPr b="1" lang="en-US" sz="1900">
                <a:latin typeface="Times New Roman"/>
                <a:ea typeface="Times New Roman"/>
                <a:cs typeface="Times New Roman"/>
                <a:sym typeface="Times New Roman"/>
              </a:rPr>
              <a:t>The primary identified objectives of the project are as follows:</a:t>
            </a:r>
            <a:endParaRPr b="1" sz="1900">
              <a:latin typeface="Times New Roman"/>
              <a:ea typeface="Times New Roman"/>
              <a:cs typeface="Times New Roman"/>
              <a:sym typeface="Times New Roman"/>
            </a:endParaRPr>
          </a:p>
          <a:p>
            <a:pPr indent="0" lvl="0" marL="0" rtl="0" algn="l">
              <a:lnSpc>
                <a:spcPct val="150000"/>
              </a:lnSpc>
              <a:spcBef>
                <a:spcPts val="0"/>
              </a:spcBef>
              <a:spcAft>
                <a:spcPts val="0"/>
              </a:spcAft>
              <a:buClr>
                <a:schemeClr val="dk1"/>
              </a:buClr>
              <a:buSzPts val="1100"/>
              <a:buFont typeface="Arial"/>
              <a:buNone/>
            </a:pPr>
            <a:r>
              <a:t/>
            </a:r>
            <a:endParaRPr sz="1800">
              <a:latin typeface="Times New Roman"/>
              <a:ea typeface="Times New Roman"/>
              <a:cs typeface="Times New Roman"/>
              <a:sym typeface="Times New Roman"/>
            </a:endParaRPr>
          </a:p>
          <a:p>
            <a:pPr indent="-349250" lvl="0" marL="457200" rtl="0" algn="just">
              <a:lnSpc>
                <a:spcPct val="150000"/>
              </a:lnSpc>
              <a:spcBef>
                <a:spcPts val="0"/>
              </a:spcBef>
              <a:spcAft>
                <a:spcPts val="0"/>
              </a:spcAft>
              <a:buSzPts val="1900"/>
              <a:buChar char="●"/>
            </a:pPr>
            <a:r>
              <a:rPr b="1" lang="en-US" sz="1900">
                <a:latin typeface="Times New Roman"/>
                <a:ea typeface="Times New Roman"/>
                <a:cs typeface="Times New Roman"/>
                <a:sym typeface="Times New Roman"/>
              </a:rPr>
              <a:t>Analyse authentic sales data </a:t>
            </a:r>
            <a:r>
              <a:rPr lang="en-US" sz="1900">
                <a:latin typeface="Times New Roman"/>
                <a:ea typeface="Times New Roman"/>
                <a:cs typeface="Times New Roman"/>
                <a:sym typeface="Times New Roman"/>
              </a:rPr>
              <a:t>of the companies identified in the obtained dataset.</a:t>
            </a:r>
            <a:endParaRPr sz="1900">
              <a:latin typeface="Times New Roman"/>
              <a:ea typeface="Times New Roman"/>
              <a:cs typeface="Times New Roman"/>
              <a:sym typeface="Times New Roman"/>
            </a:endParaRPr>
          </a:p>
          <a:p>
            <a:pPr indent="-349250" lvl="0" marL="457200" rtl="0" algn="just">
              <a:lnSpc>
                <a:spcPct val="150000"/>
              </a:lnSpc>
              <a:spcBef>
                <a:spcPts val="0"/>
              </a:spcBef>
              <a:spcAft>
                <a:spcPts val="0"/>
              </a:spcAft>
              <a:buSzPts val="1900"/>
              <a:buChar char="●"/>
            </a:pPr>
            <a:r>
              <a:rPr lang="en-US" sz="1900">
                <a:latin typeface="Times New Roman"/>
                <a:ea typeface="Times New Roman"/>
                <a:cs typeface="Times New Roman"/>
                <a:sym typeface="Times New Roman"/>
              </a:rPr>
              <a:t>Use graphical as well as machine learning based approaches to </a:t>
            </a:r>
            <a:r>
              <a:rPr b="1" lang="en-US" sz="1900">
                <a:latin typeface="Times New Roman"/>
                <a:ea typeface="Times New Roman"/>
                <a:cs typeface="Times New Roman"/>
                <a:sym typeface="Times New Roman"/>
              </a:rPr>
              <a:t>identify anomalies</a:t>
            </a:r>
            <a:r>
              <a:rPr lang="en-US" sz="1900">
                <a:latin typeface="Times New Roman"/>
                <a:ea typeface="Times New Roman"/>
                <a:cs typeface="Times New Roman"/>
                <a:sym typeface="Times New Roman"/>
              </a:rPr>
              <a:t> in the data.</a:t>
            </a:r>
            <a:endParaRPr sz="1900">
              <a:latin typeface="Times New Roman"/>
              <a:ea typeface="Times New Roman"/>
              <a:cs typeface="Times New Roman"/>
              <a:sym typeface="Times New Roman"/>
            </a:endParaRPr>
          </a:p>
          <a:p>
            <a:pPr indent="-349250" lvl="0" marL="457200" rtl="0" algn="just">
              <a:lnSpc>
                <a:spcPct val="150000"/>
              </a:lnSpc>
              <a:spcBef>
                <a:spcPts val="0"/>
              </a:spcBef>
              <a:spcAft>
                <a:spcPts val="0"/>
              </a:spcAft>
              <a:buSzPts val="1900"/>
              <a:buChar char="●"/>
            </a:pPr>
            <a:r>
              <a:rPr lang="en-US" sz="1900">
                <a:latin typeface="Times New Roman"/>
                <a:ea typeface="Times New Roman"/>
                <a:cs typeface="Times New Roman"/>
                <a:sym typeface="Times New Roman"/>
              </a:rPr>
              <a:t>Understand the marketing requirements and building of a</a:t>
            </a:r>
            <a:r>
              <a:rPr b="1" lang="en-US" sz="1900">
                <a:latin typeface="Times New Roman"/>
                <a:ea typeface="Times New Roman"/>
                <a:cs typeface="Times New Roman"/>
                <a:sym typeface="Times New Roman"/>
              </a:rPr>
              <a:t> prompt</a:t>
            </a:r>
            <a:r>
              <a:rPr lang="en-US" sz="1900">
                <a:latin typeface="Times New Roman"/>
                <a:ea typeface="Times New Roman"/>
                <a:cs typeface="Times New Roman"/>
                <a:sym typeface="Times New Roman"/>
              </a:rPr>
              <a:t> driven</a:t>
            </a:r>
            <a:r>
              <a:rPr b="1" lang="en-US" sz="1900">
                <a:latin typeface="Times New Roman"/>
                <a:ea typeface="Times New Roman"/>
                <a:cs typeface="Times New Roman"/>
                <a:sym typeface="Times New Roman"/>
              </a:rPr>
              <a:t> gen-ai</a:t>
            </a:r>
            <a:r>
              <a:rPr lang="en-US" sz="1900">
                <a:latin typeface="Times New Roman"/>
                <a:ea typeface="Times New Roman"/>
                <a:cs typeface="Times New Roman"/>
                <a:sym typeface="Times New Roman"/>
              </a:rPr>
              <a:t> based </a:t>
            </a:r>
            <a:r>
              <a:rPr b="1" lang="en-US" sz="1900">
                <a:latin typeface="Times New Roman"/>
                <a:ea typeface="Times New Roman"/>
                <a:cs typeface="Times New Roman"/>
                <a:sym typeface="Times New Roman"/>
              </a:rPr>
              <a:t>image advertisement generator</a:t>
            </a:r>
            <a:r>
              <a:rPr lang="en-US" sz="1900">
                <a:latin typeface="Times New Roman"/>
                <a:ea typeface="Times New Roman"/>
                <a:cs typeface="Times New Roman"/>
                <a:sym typeface="Times New Roman"/>
              </a:rPr>
              <a:t> for the product suitable for increasing its reach.</a:t>
            </a:r>
            <a:endParaRPr sz="1900">
              <a:latin typeface="Times New Roman"/>
              <a:ea typeface="Times New Roman"/>
              <a:cs typeface="Times New Roman"/>
              <a:sym typeface="Times New Roman"/>
            </a:endParaRPr>
          </a:p>
          <a:p>
            <a:pPr indent="0" lvl="0" marL="457200" rtl="0" algn="just">
              <a:lnSpc>
                <a:spcPct val="150000"/>
              </a:lnSpc>
              <a:spcBef>
                <a:spcPts val="0"/>
              </a:spcBef>
              <a:spcAft>
                <a:spcPts val="0"/>
              </a:spcAft>
              <a:buClr>
                <a:schemeClr val="dk1"/>
              </a:buClr>
              <a:buSzPts val="1100"/>
              <a:buFont typeface="Arial"/>
              <a:buNone/>
            </a:pPr>
            <a:r>
              <a:rPr lang="en-US" sz="1900">
                <a:latin typeface="Times New Roman"/>
                <a:ea typeface="Times New Roman"/>
                <a:cs typeface="Times New Roman"/>
                <a:sym typeface="Times New Roman"/>
              </a:rPr>
              <a:t>This could help combat the anomaly in the sales for the product.</a:t>
            </a:r>
            <a:endParaRPr sz="2000">
              <a:latin typeface="Times New Roman"/>
              <a:ea typeface="Times New Roman"/>
              <a:cs typeface="Times New Roman"/>
              <a:sym typeface="Times New Roman"/>
            </a:endParaRPr>
          </a:p>
          <a:p>
            <a:pPr indent="-349250" lvl="0" marL="457200" rtl="0" algn="just">
              <a:lnSpc>
                <a:spcPct val="150000"/>
              </a:lnSpc>
              <a:spcBef>
                <a:spcPts val="0"/>
              </a:spcBef>
              <a:spcAft>
                <a:spcPts val="0"/>
              </a:spcAft>
              <a:buSzPts val="1900"/>
              <a:buFont typeface="Times New Roman"/>
              <a:buChar char="●"/>
            </a:pPr>
            <a:r>
              <a:rPr lang="en-US" sz="1900">
                <a:latin typeface="Times New Roman"/>
                <a:ea typeface="Times New Roman"/>
                <a:cs typeface="Times New Roman"/>
                <a:sym typeface="Times New Roman"/>
              </a:rPr>
              <a:t>Refining of the model based on obtained performance parameters to suit the model better to the needs.</a:t>
            </a:r>
            <a:endParaRPr sz="1900">
              <a:latin typeface="Times New Roman"/>
              <a:ea typeface="Times New Roman"/>
              <a:cs typeface="Times New Roman"/>
              <a:sym typeface="Times New Roman"/>
            </a:endParaRPr>
          </a:p>
          <a:p>
            <a:pPr indent="0" lvl="0" marL="0" rtl="0" algn="l">
              <a:spcBef>
                <a:spcPts val="1000"/>
              </a:spcBef>
              <a:spcAft>
                <a:spcPts val="0"/>
              </a:spcAft>
              <a:buNone/>
            </a:pPr>
            <a:r>
              <a:t/>
            </a:r>
            <a:endParaRPr sz="3500"/>
          </a:p>
        </p:txBody>
      </p:sp>
      <p:sp>
        <p:nvSpPr>
          <p:cNvPr id="282" name="Google Shape;282;g31a9d1a8de3_0_55"/>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g31a9d1a8de3_0_101"/>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pic>
        <p:nvPicPr>
          <p:cNvPr id="289" name="Google Shape;289;g31a9d1a8de3_0_101"/>
          <p:cNvPicPr preferRelativeResize="0"/>
          <p:nvPr/>
        </p:nvPicPr>
        <p:blipFill>
          <a:blip r:embed="rId3">
            <a:alphaModFix/>
          </a:blip>
          <a:stretch>
            <a:fillRect/>
          </a:stretch>
        </p:blipFill>
        <p:spPr>
          <a:xfrm>
            <a:off x="1010525" y="987000"/>
            <a:ext cx="9827276" cy="4718975"/>
          </a:xfrm>
          <a:prstGeom prst="rect">
            <a:avLst/>
          </a:prstGeom>
          <a:noFill/>
          <a:ln>
            <a:noFill/>
          </a:ln>
        </p:spPr>
      </p:pic>
      <p:sp>
        <p:nvSpPr>
          <p:cNvPr id="290" name="Google Shape;290;g31a9d1a8de3_0_101"/>
          <p:cNvSpPr txBox="1"/>
          <p:nvPr/>
        </p:nvSpPr>
        <p:spPr>
          <a:xfrm>
            <a:off x="4705725" y="5055944"/>
            <a:ext cx="6972900" cy="90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300">
                <a:solidFill>
                  <a:schemeClr val="dk1"/>
                </a:solidFill>
                <a:latin typeface="Calibri"/>
                <a:ea typeface="Calibri"/>
                <a:cs typeface="Calibri"/>
                <a:sym typeface="Calibri"/>
              </a:rPr>
              <a:t>Effective prompt input</a:t>
            </a:r>
            <a:endParaRPr sz="13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g31a9d1a8de3_0_82"/>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pic>
        <p:nvPicPr>
          <p:cNvPr id="297" name="Google Shape;297;g31a9d1a8de3_0_82"/>
          <p:cNvPicPr preferRelativeResize="0"/>
          <p:nvPr/>
        </p:nvPicPr>
        <p:blipFill>
          <a:blip r:embed="rId3">
            <a:alphaModFix/>
          </a:blip>
          <a:stretch>
            <a:fillRect/>
          </a:stretch>
        </p:blipFill>
        <p:spPr>
          <a:xfrm>
            <a:off x="1248075" y="689650"/>
            <a:ext cx="9742549" cy="5051476"/>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g31b149daa03_0_2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DATASET EXPLORATION</a:t>
            </a:r>
            <a:endParaRPr/>
          </a:p>
        </p:txBody>
      </p:sp>
      <p:sp>
        <p:nvSpPr>
          <p:cNvPr id="304" name="Google Shape;304;g31b149daa03_0_26"/>
          <p:cNvSpPr txBox="1"/>
          <p:nvPr>
            <p:ph idx="1" type="body"/>
          </p:nvPr>
        </p:nvSpPr>
        <p:spPr>
          <a:xfrm>
            <a:off x="704475" y="1539075"/>
            <a:ext cx="10515600" cy="4351200"/>
          </a:xfrm>
          <a:prstGeom prst="rect">
            <a:avLst/>
          </a:prstGeom>
        </p:spPr>
        <p:txBody>
          <a:bodyPr anchorCtr="0" anchor="t" bIns="45700" lIns="91425" spcFirstLastPara="1" rIns="91425" wrap="square" tIns="45700">
            <a:noAutofit/>
          </a:bodyPr>
          <a:lstStyle/>
          <a:p>
            <a:pPr indent="0" lvl="0" marL="0" rtl="0" algn="just">
              <a:spcBef>
                <a:spcPts val="1000"/>
              </a:spcBef>
              <a:spcAft>
                <a:spcPts val="0"/>
              </a:spcAft>
              <a:buNone/>
            </a:pPr>
            <a:r>
              <a:t/>
            </a:r>
            <a:endParaRPr sz="2050">
              <a:latin typeface="Times New Roman"/>
              <a:ea typeface="Times New Roman"/>
              <a:cs typeface="Times New Roman"/>
              <a:sym typeface="Times New Roman"/>
            </a:endParaRPr>
          </a:p>
          <a:p>
            <a:pPr indent="0" lvl="0" marL="0" rtl="0" algn="just">
              <a:spcBef>
                <a:spcPts val="1000"/>
              </a:spcBef>
              <a:spcAft>
                <a:spcPts val="0"/>
              </a:spcAft>
              <a:buNone/>
            </a:pPr>
            <a:r>
              <a:rPr lang="en-US" sz="2050">
                <a:latin typeface="Times New Roman"/>
                <a:ea typeface="Times New Roman"/>
                <a:cs typeface="Times New Roman"/>
                <a:sym typeface="Times New Roman"/>
              </a:rPr>
              <a:t>The project utilizes sales data to provide actionable insights for businesses, focusing on targeted marketing strategies and optimization. Time series analysis will detect patterns, trends, and anomalies signaling issues like performance drops or external market forces. GenAI will enhance personalized advertisements to improve sales. Data exploration, including EDA, uncovers trends and relationships, with the Amazon product dataset analyzed for consumer behavior and sales anomalies. Additional datasets will explore seasonal trends, popular products, and event impacts on sales. </a:t>
            </a:r>
            <a:endParaRPr sz="2050">
              <a:latin typeface="Times New Roman"/>
              <a:ea typeface="Times New Roman"/>
              <a:cs typeface="Times New Roman"/>
              <a:sym typeface="Times New Roman"/>
            </a:endParaRPr>
          </a:p>
          <a:p>
            <a:pPr indent="0" lvl="0" marL="0" rtl="0" algn="just">
              <a:spcBef>
                <a:spcPts val="1000"/>
              </a:spcBef>
              <a:spcAft>
                <a:spcPts val="0"/>
              </a:spcAft>
              <a:buNone/>
            </a:pPr>
            <a:r>
              <a:t/>
            </a:r>
            <a:endParaRPr sz="2050">
              <a:latin typeface="Times New Roman"/>
              <a:ea typeface="Times New Roman"/>
              <a:cs typeface="Times New Roman"/>
              <a:sym typeface="Times New Roman"/>
            </a:endParaRPr>
          </a:p>
          <a:p>
            <a:pPr indent="0" lvl="0" marL="0" rtl="0" algn="just">
              <a:spcBef>
                <a:spcPts val="1000"/>
              </a:spcBef>
              <a:spcAft>
                <a:spcPts val="0"/>
              </a:spcAft>
              <a:buNone/>
            </a:pPr>
            <a:r>
              <a:rPr lang="en-US" sz="2050">
                <a:latin typeface="Times New Roman"/>
                <a:ea typeface="Times New Roman"/>
                <a:cs typeface="Times New Roman"/>
                <a:sym typeface="Times New Roman"/>
              </a:rPr>
              <a:t>The Amazon Product Dataset contains over 1000 ratings and reviews, offering insights into product characteristics and customer responses. Key features include product details (ID, name, category, prices, discounts), customer reviews (rating, content, sentiment), and links to products. This dataset has been obtained from kaggle.</a:t>
            </a:r>
            <a:endParaRPr sz="2050">
              <a:latin typeface="Times New Roman"/>
              <a:ea typeface="Times New Roman"/>
              <a:cs typeface="Times New Roman"/>
              <a:sym typeface="Times New Roman"/>
            </a:endParaRPr>
          </a:p>
        </p:txBody>
      </p:sp>
      <p:sp>
        <p:nvSpPr>
          <p:cNvPr id="305" name="Google Shape;305;g31b149daa03_0_26"/>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g31b149daa03_0_3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DATASET EXPLORATION</a:t>
            </a:r>
            <a:endParaRPr/>
          </a:p>
        </p:txBody>
      </p:sp>
      <p:sp>
        <p:nvSpPr>
          <p:cNvPr id="312" name="Google Shape;312;g31b149daa03_0_35"/>
          <p:cNvSpPr txBox="1"/>
          <p:nvPr>
            <p:ph idx="1" type="body"/>
          </p:nvPr>
        </p:nvSpPr>
        <p:spPr>
          <a:xfrm>
            <a:off x="704475" y="1539075"/>
            <a:ext cx="10515600" cy="4351200"/>
          </a:xfrm>
          <a:prstGeom prst="rect">
            <a:avLst/>
          </a:prstGeom>
        </p:spPr>
        <p:txBody>
          <a:bodyPr anchorCtr="0" anchor="t" bIns="45700" lIns="91425" spcFirstLastPara="1" rIns="91425" wrap="square" tIns="45700">
            <a:noAutofit/>
          </a:bodyPr>
          <a:lstStyle/>
          <a:p>
            <a:pPr indent="0" lvl="0" marL="0" rtl="0" algn="just">
              <a:spcBef>
                <a:spcPts val="1000"/>
              </a:spcBef>
              <a:spcAft>
                <a:spcPts val="0"/>
              </a:spcAft>
              <a:buNone/>
            </a:pPr>
            <a:r>
              <a:t/>
            </a:r>
            <a:endParaRPr sz="2050">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US" sz="2050">
                <a:latin typeface="Times New Roman"/>
                <a:ea typeface="Times New Roman"/>
                <a:cs typeface="Times New Roman"/>
                <a:sym typeface="Times New Roman"/>
              </a:rPr>
              <a:t>The dataset helps identify anomalies such as:</a:t>
            </a:r>
            <a:endParaRPr sz="2050">
              <a:latin typeface="Times New Roman"/>
              <a:ea typeface="Times New Roman"/>
              <a:cs typeface="Times New Roman"/>
              <a:sym typeface="Times New Roman"/>
            </a:endParaRPr>
          </a:p>
          <a:p>
            <a:pPr indent="-358775" lvl="0" marL="457200" rtl="0" algn="l">
              <a:lnSpc>
                <a:spcPct val="115000"/>
              </a:lnSpc>
              <a:spcBef>
                <a:spcPts val="1200"/>
              </a:spcBef>
              <a:spcAft>
                <a:spcPts val="0"/>
              </a:spcAft>
              <a:buSzPts val="2050"/>
              <a:buChar char="●"/>
            </a:pPr>
            <a:r>
              <a:rPr b="1" lang="en-US" sz="2050">
                <a:latin typeface="Times New Roman"/>
                <a:ea typeface="Times New Roman"/>
                <a:cs typeface="Times New Roman"/>
                <a:sym typeface="Times New Roman"/>
              </a:rPr>
              <a:t>Rating Anomalies</a:t>
            </a:r>
            <a:r>
              <a:rPr lang="en-US" sz="2050">
                <a:latin typeface="Times New Roman"/>
                <a:ea typeface="Times New Roman"/>
                <a:cs typeface="Times New Roman"/>
                <a:sym typeface="Times New Roman"/>
              </a:rPr>
              <a:t>: Sudden rating spikes or drops indicating quality issues or gaming.</a:t>
            </a:r>
            <a:endParaRPr sz="2050">
              <a:latin typeface="Times New Roman"/>
              <a:ea typeface="Times New Roman"/>
              <a:cs typeface="Times New Roman"/>
              <a:sym typeface="Times New Roman"/>
            </a:endParaRPr>
          </a:p>
          <a:p>
            <a:pPr indent="-358775" lvl="0" marL="457200" rtl="0" algn="l">
              <a:lnSpc>
                <a:spcPct val="115000"/>
              </a:lnSpc>
              <a:spcBef>
                <a:spcPts val="0"/>
              </a:spcBef>
              <a:spcAft>
                <a:spcPts val="0"/>
              </a:spcAft>
              <a:buSzPts val="2050"/>
              <a:buChar char="●"/>
            </a:pPr>
            <a:r>
              <a:rPr b="1" lang="en-US" sz="2050">
                <a:latin typeface="Times New Roman"/>
                <a:ea typeface="Times New Roman"/>
                <a:cs typeface="Times New Roman"/>
                <a:sym typeface="Times New Roman"/>
              </a:rPr>
              <a:t>Review Anomalies</a:t>
            </a:r>
            <a:r>
              <a:rPr lang="en-US" sz="2050">
                <a:latin typeface="Times New Roman"/>
                <a:ea typeface="Times New Roman"/>
                <a:cs typeface="Times New Roman"/>
                <a:sym typeface="Times New Roman"/>
              </a:rPr>
              <a:t>: Surges or declines in review counts due to promotions or fake reviews.</a:t>
            </a:r>
            <a:endParaRPr sz="2050">
              <a:latin typeface="Times New Roman"/>
              <a:ea typeface="Times New Roman"/>
              <a:cs typeface="Times New Roman"/>
              <a:sym typeface="Times New Roman"/>
            </a:endParaRPr>
          </a:p>
          <a:p>
            <a:pPr indent="-358775" lvl="0" marL="457200" rtl="0" algn="l">
              <a:lnSpc>
                <a:spcPct val="115000"/>
              </a:lnSpc>
              <a:spcBef>
                <a:spcPts val="0"/>
              </a:spcBef>
              <a:spcAft>
                <a:spcPts val="0"/>
              </a:spcAft>
              <a:buSzPts val="2050"/>
              <a:buChar char="●"/>
            </a:pPr>
            <a:r>
              <a:rPr b="1" lang="en-US" sz="2050">
                <a:latin typeface="Times New Roman"/>
                <a:ea typeface="Times New Roman"/>
                <a:cs typeface="Times New Roman"/>
                <a:sym typeface="Times New Roman"/>
              </a:rPr>
              <a:t>Pricing Anomalies</a:t>
            </a:r>
            <a:r>
              <a:rPr lang="en-US" sz="2050">
                <a:latin typeface="Times New Roman"/>
                <a:ea typeface="Times New Roman"/>
                <a:cs typeface="Times New Roman"/>
                <a:sym typeface="Times New Roman"/>
              </a:rPr>
              <a:t>: Irregular price changes or unusual discounts.</a:t>
            </a:r>
            <a:endParaRPr sz="2050">
              <a:latin typeface="Times New Roman"/>
              <a:ea typeface="Times New Roman"/>
              <a:cs typeface="Times New Roman"/>
              <a:sym typeface="Times New Roman"/>
            </a:endParaRPr>
          </a:p>
          <a:p>
            <a:pPr indent="-358775" lvl="0" marL="457200" rtl="0" algn="l">
              <a:lnSpc>
                <a:spcPct val="115000"/>
              </a:lnSpc>
              <a:spcBef>
                <a:spcPts val="0"/>
              </a:spcBef>
              <a:spcAft>
                <a:spcPts val="0"/>
              </a:spcAft>
              <a:buSzPts val="2050"/>
              <a:buChar char="●"/>
            </a:pPr>
            <a:r>
              <a:rPr b="1" lang="en-US" sz="2050">
                <a:latin typeface="Times New Roman"/>
                <a:ea typeface="Times New Roman"/>
                <a:cs typeface="Times New Roman"/>
                <a:sym typeface="Times New Roman"/>
              </a:rPr>
              <a:t>Sentiment Anomalies</a:t>
            </a:r>
            <a:r>
              <a:rPr lang="en-US" sz="2050">
                <a:latin typeface="Times New Roman"/>
                <a:ea typeface="Times New Roman"/>
                <a:cs typeface="Times New Roman"/>
                <a:sym typeface="Times New Roman"/>
              </a:rPr>
              <a:t>: Unusual sentiment trends misaligned with product ratings.</a:t>
            </a:r>
            <a:endParaRPr sz="2050">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sz="1900">
              <a:latin typeface="Times New Roman"/>
              <a:ea typeface="Times New Roman"/>
              <a:cs typeface="Times New Roman"/>
              <a:sym typeface="Times New Roman"/>
            </a:endParaRPr>
          </a:p>
          <a:p>
            <a:pPr indent="0" lvl="0" marL="0" rtl="0" algn="just">
              <a:spcBef>
                <a:spcPts val="1200"/>
              </a:spcBef>
              <a:spcAft>
                <a:spcPts val="0"/>
              </a:spcAft>
              <a:buNone/>
            </a:pPr>
            <a:r>
              <a:t/>
            </a:r>
            <a:endParaRPr sz="2050">
              <a:latin typeface="Times New Roman"/>
              <a:ea typeface="Times New Roman"/>
              <a:cs typeface="Times New Roman"/>
              <a:sym typeface="Times New Roman"/>
            </a:endParaRPr>
          </a:p>
        </p:txBody>
      </p:sp>
      <p:sp>
        <p:nvSpPr>
          <p:cNvPr id="313" name="Google Shape;313;g31b149daa03_0_35"/>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g31aa606e22d_0_4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References/Bibliography</a:t>
            </a:r>
            <a:endParaRPr/>
          </a:p>
        </p:txBody>
      </p:sp>
      <p:sp>
        <p:nvSpPr>
          <p:cNvPr id="320" name="Google Shape;320;g31aa606e22d_0_42"/>
          <p:cNvSpPr txBox="1"/>
          <p:nvPr>
            <p:ph idx="1" type="body"/>
          </p:nvPr>
        </p:nvSpPr>
        <p:spPr>
          <a:xfrm>
            <a:off x="838200" y="1532550"/>
            <a:ext cx="10515600" cy="4351200"/>
          </a:xfrm>
          <a:prstGeom prst="rect">
            <a:avLst/>
          </a:prstGeom>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en-US" sz="1900">
                <a:latin typeface="Times New Roman"/>
                <a:ea typeface="Times New Roman"/>
                <a:cs typeface="Times New Roman"/>
                <a:sym typeface="Times New Roman"/>
              </a:rPr>
              <a:t>[1]</a:t>
            </a:r>
            <a:r>
              <a:rPr lang="en-US" sz="1900" u="sng">
                <a:solidFill>
                  <a:srgbClr val="0563C1"/>
                </a:solidFill>
                <a:latin typeface="Times New Roman"/>
                <a:ea typeface="Times New Roman"/>
                <a:cs typeface="Times New Roman"/>
                <a:sym typeface="Times New Roman"/>
                <a:hlinkClick r:id="rId3">
                  <a:extLst>
                    <a:ext uri="{A12FA001-AC4F-418D-AE19-62706E023703}">
                      <ahyp:hlinkClr val="tx"/>
                    </a:ext>
                  </a:extLst>
                </a:hlinkClick>
              </a:rPr>
              <a:t>https://www.researchgate.net/publication/341994540_Artificial_Intelligence_Applied_to_Digital_Marketing/</a:t>
            </a:r>
            <a:endParaRPr sz="1900">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t/>
            </a:r>
            <a:endParaRPr sz="1900">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US" sz="1900">
                <a:latin typeface="Times New Roman"/>
                <a:ea typeface="Times New Roman"/>
                <a:cs typeface="Times New Roman"/>
                <a:sym typeface="Times New Roman"/>
              </a:rPr>
              <a:t>[2]</a:t>
            </a:r>
            <a:r>
              <a:rPr lang="en-US" sz="1900" u="sng">
                <a:solidFill>
                  <a:srgbClr val="1155CC"/>
                </a:solidFill>
                <a:latin typeface="Times New Roman"/>
                <a:ea typeface="Times New Roman"/>
                <a:cs typeface="Times New Roman"/>
                <a:sym typeface="Times New Roman"/>
                <a:hlinkClick r:id="rId4">
                  <a:extLst>
                    <a:ext uri="{A12FA001-AC4F-418D-AE19-62706E023703}">
                      <ahyp:hlinkClr val="tx"/>
                    </a:ext>
                  </a:extLst>
                </a:hlinkClick>
              </a:rPr>
              <a:t>Generative artificial intelligence: a systematic review and applications | Multimedia Tools and Applications</a:t>
            </a:r>
            <a:endParaRPr sz="1900">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t/>
            </a:r>
            <a:endParaRPr sz="1900">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US" sz="1900">
                <a:latin typeface="Times New Roman"/>
                <a:ea typeface="Times New Roman"/>
                <a:cs typeface="Times New Roman"/>
                <a:sym typeface="Times New Roman"/>
              </a:rPr>
              <a:t>[3] </a:t>
            </a:r>
            <a:r>
              <a:rPr lang="en-US" sz="1900" u="sng">
                <a:solidFill>
                  <a:srgbClr val="0563C1"/>
                </a:solidFill>
                <a:latin typeface="Times New Roman"/>
                <a:ea typeface="Times New Roman"/>
                <a:cs typeface="Times New Roman"/>
                <a:sym typeface="Times New Roman"/>
                <a:hlinkClick r:id="rId5">
                  <a:extLst>
                    <a:ext uri="{A12FA001-AC4F-418D-AE19-62706E023703}">
                      <ahyp:hlinkClr val="tx"/>
                    </a:ext>
                  </a:extLst>
                </a:hlinkClick>
              </a:rPr>
              <a:t>https://link.springer.com/article/10.1007/s11747-024-01044-7</a:t>
            </a:r>
            <a:endParaRPr sz="1900">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t/>
            </a:r>
            <a:endParaRPr sz="1900">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US" sz="1900">
                <a:latin typeface="Times New Roman"/>
                <a:ea typeface="Times New Roman"/>
                <a:cs typeface="Times New Roman"/>
                <a:sym typeface="Times New Roman"/>
              </a:rPr>
              <a:t>[4] </a:t>
            </a:r>
            <a:r>
              <a:rPr lang="en-US" sz="1900" u="sng">
                <a:solidFill>
                  <a:srgbClr val="0563C1"/>
                </a:solidFill>
                <a:highlight>
                  <a:srgbClr val="FFFFFF"/>
                </a:highlight>
                <a:latin typeface="Times New Roman"/>
                <a:ea typeface="Times New Roman"/>
                <a:cs typeface="Times New Roman"/>
                <a:sym typeface="Times New Roman"/>
                <a:hlinkClick r:id="rId6">
                  <a:extLst>
                    <a:ext uri="{A12FA001-AC4F-418D-AE19-62706E023703}">
                      <ahyp:hlinkClr val="tx"/>
                    </a:ext>
                  </a:extLst>
                </a:hlinkClick>
              </a:rPr>
              <a:t>https://arxiv.org/pdf/2009.04395</a:t>
            </a:r>
            <a:endParaRPr sz="1900">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t/>
            </a:r>
            <a:endParaRPr sz="1900">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US" sz="1900">
                <a:highlight>
                  <a:srgbClr val="FFFFFF"/>
                </a:highlight>
                <a:latin typeface="Times New Roman"/>
                <a:ea typeface="Times New Roman"/>
                <a:cs typeface="Times New Roman"/>
                <a:sym typeface="Times New Roman"/>
              </a:rPr>
              <a:t>[5]</a:t>
            </a:r>
            <a:r>
              <a:rPr lang="en-US" sz="1900" u="sng">
                <a:solidFill>
                  <a:srgbClr val="0563C1"/>
                </a:solidFill>
                <a:latin typeface="Times New Roman"/>
                <a:ea typeface="Times New Roman"/>
                <a:cs typeface="Times New Roman"/>
                <a:sym typeface="Times New Roman"/>
                <a:hlinkClick r:id="rId7">
                  <a:extLst>
                    <a:ext uri="{A12FA001-AC4F-418D-AE19-62706E023703}">
                      <ahyp:hlinkClr val="tx"/>
                    </a:ext>
                  </a:extLst>
                </a:hlinkClick>
              </a:rPr>
              <a:t>https://www.researchgate.net/publication/382876702_The_Role_of_Artificial_Intelligence_in_Modern_Marketing_A_Review_of_Current_Technologies_Applications_and_Challenges</a:t>
            </a:r>
            <a:endParaRPr sz="1900">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t/>
            </a:r>
            <a:endParaRPr sz="1900">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US" sz="1900">
                <a:latin typeface="Times New Roman"/>
                <a:ea typeface="Times New Roman"/>
                <a:cs typeface="Times New Roman"/>
                <a:sym typeface="Times New Roman"/>
              </a:rPr>
              <a:t>[5] </a:t>
            </a:r>
            <a:r>
              <a:rPr lang="en-US" sz="1900" u="sng">
                <a:solidFill>
                  <a:srgbClr val="0563C1"/>
                </a:solidFill>
                <a:latin typeface="Times New Roman"/>
                <a:ea typeface="Times New Roman"/>
                <a:cs typeface="Times New Roman"/>
                <a:sym typeface="Times New Roman"/>
                <a:hlinkClick r:id="rId8">
                  <a:extLst>
                    <a:ext uri="{A12FA001-AC4F-418D-AE19-62706E023703}">
                      <ahyp:hlinkClr val="tx"/>
                    </a:ext>
                  </a:extLst>
                </a:hlinkClick>
              </a:rPr>
              <a:t>https://www.sciencedirect.com/science/article/abs/pii/S0148296323004836</a:t>
            </a:r>
            <a:endParaRPr sz="1900">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t/>
            </a:r>
            <a:endParaRPr sz="1900">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US" sz="1900">
                <a:latin typeface="Times New Roman"/>
                <a:ea typeface="Times New Roman"/>
                <a:cs typeface="Times New Roman"/>
                <a:sym typeface="Times New Roman"/>
              </a:rPr>
              <a:t>[7] </a:t>
            </a:r>
            <a:r>
              <a:rPr lang="en-US" sz="1900" u="sng">
                <a:solidFill>
                  <a:srgbClr val="1155CC"/>
                </a:solidFill>
                <a:latin typeface="Times New Roman"/>
                <a:ea typeface="Times New Roman"/>
                <a:cs typeface="Times New Roman"/>
                <a:sym typeface="Times New Roman"/>
                <a:hlinkClick r:id="rId9">
                  <a:extLst>
                    <a:ext uri="{A12FA001-AC4F-418D-AE19-62706E023703}">
                      <ahyp:hlinkClr val="tx"/>
                    </a:ext>
                  </a:extLst>
                </a:hlinkClick>
              </a:rPr>
              <a:t>https://arxiv.org/pdf/2007.02500</a:t>
            </a:r>
            <a:endParaRPr sz="3500"/>
          </a:p>
        </p:txBody>
      </p:sp>
      <p:sp>
        <p:nvSpPr>
          <p:cNvPr id="321" name="Google Shape;321;g31aa606e22d_0_42"/>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g31b1d412933_0_27"/>
          <p:cNvSpPr txBox="1"/>
          <p:nvPr>
            <p:ph type="ctrTitle"/>
          </p:nvPr>
        </p:nvSpPr>
        <p:spPr>
          <a:xfrm>
            <a:off x="1524000" y="1122363"/>
            <a:ext cx="9144000" cy="2387700"/>
          </a:xfrm>
          <a:prstGeom prst="rect">
            <a:avLst/>
          </a:prstGeom>
          <a:ln cap="flat" cmpd="sng" w="9525">
            <a:solidFill>
              <a:srgbClr val="F4CCCC"/>
            </a:solidFill>
            <a:prstDash val="solid"/>
            <a:round/>
            <a:headEnd len="sm" w="sm" type="none"/>
            <a:tailEnd len="sm" w="sm" type="none"/>
          </a:ln>
        </p:spPr>
        <p:txBody>
          <a:bodyPr anchorCtr="0" anchor="b" bIns="45700" lIns="91425" spcFirstLastPara="1" rIns="91425" wrap="square" tIns="45700">
            <a:normAutofit/>
          </a:bodyPr>
          <a:lstStyle/>
          <a:p>
            <a:pPr indent="0" lvl="0" marL="0" rtl="0" algn="ctr">
              <a:spcBef>
                <a:spcPts val="0"/>
              </a:spcBef>
              <a:spcAft>
                <a:spcPts val="0"/>
              </a:spcAft>
              <a:buNone/>
            </a:pPr>
            <a:r>
              <a:rPr i="1" lang="en-US" sz="6400">
                <a:latin typeface="Lobster"/>
                <a:ea typeface="Lobster"/>
                <a:cs typeface="Lobster"/>
                <a:sym typeface="Lobster"/>
              </a:rPr>
              <a:t>Thank You</a:t>
            </a:r>
            <a:endParaRPr i="1" sz="6400">
              <a:latin typeface="Lobster"/>
              <a:ea typeface="Lobster"/>
              <a:cs typeface="Lobster"/>
              <a:sym typeface="Lobste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2023-02-02T07:40:50Z</dcterms:created>
  <dc:creator>Microsoft account</dc:creator>
</cp:coreProperties>
</file>